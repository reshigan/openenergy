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828800"/>
            <a:ext cx="2377440" cy="5486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CEC · OPEN ENERGY PLATFORM — DUE DILIGENCE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93392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rchivo"/>
              </a:rPr>
              <a:t>Process &amp; Functionality</a:t>
            </a:r>
          </a:p>
          <a:p>
            <a:r>
              <a:rPr sz="3000" b="1" i="0">
                <a:solidFill>
                  <a:srgbClr val="D18E35"/>
                </a:solidFill>
                <a:latin typeface="Archivo"/>
              </a:rPr>
              <a:t>per role — for NTT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605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DFE8E6"/>
                </a:solidFill>
                <a:latin typeface="Archivo"/>
              </a:rPr>
              <a:t>Eleven roles, 204 governed lifecycle chains, single Cloudflare-Worker exchange aligned to ERA 2006, the NERSA Grid Code, POPIA, the Carbon Tax Act, REIPPPP and JSE-SRL. For each role: the major process flow as a state machine, the detailed functionality surface, depth grade and the regulatory basis.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99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Platform scope · cross-cutting controls · depth rubric · 11 role dossiers · DD assertions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One worker, eleven roles, 204 governed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Every role surface is a server-enforced state machine — not a CRUD form. This is the unit of due diligence.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2613583" cy="14173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64008" cy="14173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23026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005358"/>
                </a:solidFill>
                <a:latin typeface="Archivo"/>
              </a:rPr>
              <a:t>204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1B1812"/>
                </a:solidFill>
                <a:latin typeface="Archivo"/>
              </a:rPr>
              <a:t>governed lifecycle chains</a:t>
            </a:r>
          </a:p>
          <a:p>
            <a:pPr>
              <a:lnSpc>
                <a:spcPct val="102000"/>
              </a:lnSpc>
            </a:pPr>
            <a:r>
              <a:rPr sz="830" b="0" i="0">
                <a:solidFill>
                  <a:srgbClr val="504D46"/>
                </a:solidFill>
                <a:latin typeface="Archivo"/>
              </a:rPr>
              <a:t>static registry MERIDIAN_CHAINS — table/columns/lanes/actions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1679" y="1700784"/>
            <a:ext cx="2613583" cy="14173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1679" y="1700784"/>
            <a:ext cx="64008" cy="14173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4559" y="1847088"/>
            <a:ext cx="23026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005358"/>
                </a:solidFill>
                <a:latin typeface="Archivo"/>
              </a:rPr>
              <a:t>11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1B1812"/>
                </a:solidFill>
                <a:latin typeface="Archivo"/>
              </a:rPr>
              <a:t>operating roles</a:t>
            </a:r>
          </a:p>
          <a:p>
            <a:pPr>
              <a:lnSpc>
                <a:spcPct val="102000"/>
              </a:lnSpc>
            </a:pPr>
            <a:r>
              <a:rPr sz="830" b="0" i="0">
                <a:solidFill>
                  <a:srgbClr val="504D46"/>
                </a:solidFill>
                <a:latin typeface="Archivo"/>
              </a:rPr>
              <a:t>each with a computed Horizon workspace + Atlas function library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00784"/>
            <a:ext cx="2613583" cy="14173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700784"/>
            <a:ext cx="64008" cy="14173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1" y="1847088"/>
            <a:ext cx="23026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005358"/>
                </a:solidFill>
                <a:latin typeface="Archivo"/>
              </a:rPr>
              <a:t>L3–L5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1B1812"/>
                </a:solidFill>
                <a:latin typeface="Archivo"/>
              </a:rPr>
              <a:t>feature-depth floor</a:t>
            </a:r>
          </a:p>
          <a:p>
            <a:pPr>
              <a:lnSpc>
                <a:spcPct val="102000"/>
              </a:lnSpc>
            </a:pPr>
            <a:r>
              <a:rPr sz="830" b="0" i="0">
                <a:solidFill>
                  <a:srgbClr val="504D46"/>
                </a:solidFill>
                <a:latin typeface="Archivo"/>
              </a:rPr>
              <a:t>no L2 CRUD ships; L4 default, L5 for regulator-grade surfaces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1183" y="1700784"/>
            <a:ext cx="2613583" cy="14173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1183" y="1700784"/>
            <a:ext cx="64008" cy="14173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063" y="1847088"/>
            <a:ext cx="23026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005358"/>
                </a:solidFill>
                <a:latin typeface="Archivo"/>
              </a:rPr>
              <a:t>7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1B1812"/>
                </a:solidFill>
                <a:latin typeface="Archivo"/>
              </a:rPr>
              <a:t>platform-wide controls</a:t>
            </a:r>
          </a:p>
          <a:p>
            <a:pPr>
              <a:lnSpc>
                <a:spcPct val="102000"/>
              </a:lnSpc>
            </a:pPr>
            <a:r>
              <a:rPr sz="830" b="0" i="0">
                <a:solidFill>
                  <a:srgbClr val="504D46"/>
                </a:solidFill>
                <a:latin typeface="Archivo"/>
              </a:rPr>
              <a:t>cascade, hash-chain audit, tenant isolation, guards, locks, AI, cron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46704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46704"/>
            <a:ext cx="64008" cy="27889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74720"/>
            <a:ext cx="4983479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Architecture under evaluation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Runtime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Single Cloudflare Worker — Hono API on /api/*, React SPA (Meridian) on the [assets] binding.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Persistence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Sharded D1 (SQLite) · 508 numbered migrations · R2 evidence vault · KV token/rate state.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Concurrency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Durable Object OrderBook per shard (energy_type × delivery_day); D1 advisory locks serialise settlement.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Compute cadence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scheduled() worker dispatches 7 cron triggers — surveillance, VWAP marks, settlement, invoicing.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Test posture  </a:t>
            </a:r>
            <a:r>
              <a:rPr sz="950" b="0" i="0">
                <a:solidFill>
                  <a:srgbClr val="1B1812"/>
                </a:solidFill>
                <a:latin typeface="Archivo"/>
              </a:rPr>
              <a:t>8,441 unit tests green · per-role smoke (crud/roles/cron) · k6 load · Playwright browser.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7336" y="3346704"/>
            <a:ext cx="5507431" cy="2788920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7336" y="3346704"/>
            <a:ext cx="64008" cy="278892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474720"/>
            <a:ext cx="5141671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D18E35"/>
                </a:solidFill>
                <a:latin typeface="Archivo"/>
              </a:rPr>
              <a:t>How to read each role dossier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Process flow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The role's flagship lifecycle rendered state→state — the governed path, with terminal states.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Functionality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Domain → representative features → depth grade, drawn from the live role configuration.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Scope rail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Chain count surfaced to the role, depth band, and notable terminal/cross-role outcomes.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Regulatory basis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The statutes and codes each surface is built to satisfy — the compliance spine.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50" b="1" i="0">
                <a:solidFill>
                  <a:srgbClr val="D18E35"/>
                </a:solidFill>
                <a:latin typeface="Archivo"/>
              </a:rPr>
              <a:t>Read it as  </a:t>
            </a:r>
            <a:r>
              <a:rPr sz="950" b="0" i="0">
                <a:solidFill>
                  <a:srgbClr val="FFFFFF"/>
                </a:solidFill>
                <a:latin typeface="Archivo"/>
              </a:rPr>
              <a:t>Capability evidence, not marketing — every claim maps to a registry chain or route.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PLATFORM-WIDE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Seven controls every role inherits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These are not per-feature add-ons. They are wired through god-nodes every mutation passes — the platform's spine.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Cascade engine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fireCascade() fans every material mutation to action queues, audit chains, briefings, notifications and webhooks — DLQ + retry per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1679" y="1700784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1679" y="1700784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4559" y="1847088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Hash-chain audit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Tamper-evident append-only ledger (Wave 118). Each block hash-links its predecessor; certified regulator export packs (W119) emit from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00784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700784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1" y="1847088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Tenant isolation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Every resource fetch resolves tenant from the JWT and enforces isolation before a row is returned — no cross-tenant leakage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1183" y="1700784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1183" y="1700784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063" y="1847088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Pre-trade guards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Composed rejection rules — credit, exposure, mark-age, halt, KYC — gate orders before they reach the book, with structured reason codes.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85032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85032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31336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Advisory locks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D1-backed locks serialise matching and settlement so netting/clearing cannot race under concurrency.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1679" y="3685032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1679" y="3685032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4559" y="3831336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AI inline assists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No AI tabs. Inline cards carry a 'why' + 1-click accept; every acceptance is audited to ai_decisions. Workers-AI binding, no external keys.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3685032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6431" y="3685032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9311" y="3831336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Cron SLA sweeps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Seven schedules drive surveillance, VWAP marks, metering rollups, PPA settlement, margin-call cycles, anomaly scans and monthly invoicing.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1183" y="3685032"/>
            <a:ext cx="2613583" cy="1783080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1183" y="3685032"/>
            <a:ext cx="64008" cy="17830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4063" y="3831336"/>
            <a:ext cx="23026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Reconciliation</a:t>
            </a:r>
          </a:p>
          <a:p>
            <a:pPr>
              <a:lnSpc>
                <a:spcPct val="105000"/>
              </a:lnSpc>
            </a:pPr>
            <a:r>
              <a:rPr sz="840" b="0" i="0">
                <a:solidFill>
                  <a:srgbClr val="1B1812"/>
                </a:solidFill>
                <a:latin typeface="Archivo"/>
              </a:rPr>
              <a:t>Attestation + reconciliation against external systems (W120) closes the L5 loop — platform state proven against source-of-truth feeds.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FEATURE-DEPTH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Every surface graded L1→L5 — and what that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The team's agreed scorecard. New surfaces target L4 by default; regulator-facing surfaces target L5. No L2 CRUD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914400" cy="768096"/>
          </a:xfrm>
          <a:prstGeom prst="roundRect">
            <a:avLst>
              <a:gd name="adj" fmla="val 6000"/>
            </a:avLst>
          </a:prstGeom>
          <a:solidFill>
            <a:srgbClr val="50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10512"/>
            <a:ext cx="9144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chivo"/>
              </a:rPr>
              <a:t>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700784"/>
            <a:ext cx="10006279" cy="76809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1819656"/>
            <a:ext cx="8268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Mock UI only</a:t>
            </a:r>
          </a:p>
          <a:p>
            <a:pPr>
              <a:lnSpc>
                <a:spcPct val="100000"/>
              </a:lnSpc>
            </a:pPr>
            <a:r>
              <a:rPr sz="930" b="0" i="0">
                <a:solidFill>
                  <a:srgbClr val="1B1812"/>
                </a:solidFill>
                <a:latin typeface="Archivo"/>
              </a:rPr>
              <a:t>Visual prototype, no server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07447" y="19659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0599" y="1979676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504D46"/>
                </a:solidFill>
                <a:latin typeface="Archivo"/>
              </a:rPr>
              <a:t>NOT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60320"/>
            <a:ext cx="914400" cy="768096"/>
          </a:xfrm>
          <a:prstGeom prst="roundRect">
            <a:avLst>
              <a:gd name="adj" fmla="val 6000"/>
            </a:avLst>
          </a:prstGeom>
          <a:solidFill>
            <a:srgbClr val="C2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70048"/>
            <a:ext cx="9144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chivo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8488" y="2560320"/>
            <a:ext cx="10006279" cy="76809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2679191"/>
            <a:ext cx="8268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CRUD + list/form</a:t>
            </a:r>
          </a:p>
          <a:p>
            <a:pPr>
              <a:lnSpc>
                <a:spcPct val="100000"/>
              </a:lnSpc>
            </a:pPr>
            <a:r>
              <a:rPr sz="930" b="0" i="0">
                <a:solidFill>
                  <a:srgbClr val="1B1812"/>
                </a:solidFill>
                <a:latin typeface="Archivo"/>
              </a:rPr>
              <a:t>Endpoints + screens, no state machine.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07447" y="2825496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0599" y="2839212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C25B45"/>
                </a:solidFill>
                <a:latin typeface="Archivo"/>
              </a:rPr>
              <a:t>REJECTED FOR NEW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19856"/>
            <a:ext cx="914400" cy="76809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29584"/>
            <a:ext cx="9144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chivo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18488" y="3419856"/>
            <a:ext cx="10006279" cy="76809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47088" y="3538728"/>
            <a:ext cx="8268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State machine</a:t>
            </a:r>
          </a:p>
          <a:p>
            <a:pPr>
              <a:lnSpc>
                <a:spcPct val="100000"/>
              </a:lnSpc>
            </a:pPr>
            <a:r>
              <a:rPr sz="930" b="0" i="0">
                <a:solidFill>
                  <a:srgbClr val="1B1812"/>
                </a:solidFill>
                <a:latin typeface="Archivo"/>
              </a:rPr>
              <a:t>Server-side transition validation + audit on every move.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7447" y="368503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0599" y="3698748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05358"/>
                </a:solidFill>
                <a:latin typeface="Archivo"/>
              </a:rPr>
              <a:t>FLOOR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279392"/>
            <a:ext cx="914400" cy="768096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89120"/>
            <a:ext cx="9144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chivo"/>
              </a:rPr>
              <a:t>L4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18488" y="4279392"/>
            <a:ext cx="10006279" cy="76809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47088" y="4398264"/>
            <a:ext cx="8268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Full workflow</a:t>
            </a:r>
          </a:p>
          <a:p>
            <a:pPr>
              <a:lnSpc>
                <a:spcPct val="100000"/>
              </a:lnSpc>
            </a:pPr>
            <a:r>
              <a:rPr sz="930" b="0" i="0">
                <a:solidFill>
                  <a:srgbClr val="1B1812"/>
                </a:solidFill>
                <a:latin typeface="Archivo"/>
              </a:rPr>
              <a:t>Pre-trade gating, downstream cascades, timer-driven SLAs, reason codes, dunning/escalation, evidence chain.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07447" y="454456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0599" y="4558283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005358"/>
                </a:solidFill>
                <a:latin typeface="Archivo"/>
              </a:rPr>
              <a:t>DEFAULT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38928"/>
            <a:ext cx="914400" cy="768096"/>
          </a:xfrm>
          <a:prstGeom prst="roundRect">
            <a:avLst>
              <a:gd name="adj" fmla="val 6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248656"/>
            <a:ext cx="914400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chivo"/>
              </a:rPr>
              <a:t>L5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18488" y="5138928"/>
            <a:ext cx="10006279" cy="768096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47088" y="5257800"/>
            <a:ext cx="8268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50" b="1" i="0">
                <a:solidFill>
                  <a:srgbClr val="005358"/>
                </a:solidFill>
                <a:latin typeface="Archivo"/>
              </a:rPr>
              <a:t>Regulator-grade</a:t>
            </a:r>
          </a:p>
          <a:p>
            <a:pPr>
              <a:lnSpc>
                <a:spcPct val="100000"/>
              </a:lnSpc>
            </a:pPr>
            <a:r>
              <a:rPr sz="930" b="0" i="0">
                <a:solidFill>
                  <a:srgbClr val="1B1812"/>
                </a:solidFill>
                <a:latin typeface="Archivo"/>
              </a:rPr>
              <a:t>Tamper-evident audit, certified exports (NERSA/EMIR), reconciliation against external systems.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07447" y="5404104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0599" y="5417820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IPP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Originate, finance, build and energise generation assets across the REIPPPP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Procurement / RFP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Financial close · drawdown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Construction / COD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Grid connection (GCA)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Energisation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Operate &amp;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Project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WBS/Gantt, EVM cost mgmt, change orders, risk register (Monte-Carlo)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832860"/>
            <a:ext cx="1731981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851147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Construction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3832860"/>
            <a:ext cx="467634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3851147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Daily field reports, submittals, RFIs, punch list, ITP, handover dossier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3832860"/>
            <a:ext cx="95258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3851147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337304"/>
            <a:ext cx="1731981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355591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Documents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337304"/>
            <a:ext cx="467634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355591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Document control, transmittals, method statements, diaries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337304"/>
            <a:ext cx="95258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355591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841748"/>
            <a:ext cx="1731981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4860036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Finance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4841748"/>
            <a:ext cx="467634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4860036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Drawdown, change-order EVM, insurance claims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4841748"/>
            <a:ext cx="95258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4860036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346192"/>
            <a:ext cx="1731981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5364480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Regulatory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98909" y="5346192"/>
            <a:ext cx="467634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62917" y="5364480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Licence application, COD certification, ED commitments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75258" y="5346192"/>
            <a:ext cx="952589" cy="5044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39266" y="5364480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850636"/>
            <a:ext cx="1731981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" y="5868924"/>
            <a:ext cx="1603965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Predictive ML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98909" y="5850636"/>
            <a:ext cx="467634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62917" y="5868924"/>
            <a:ext cx="454833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Asset prognostics / RUL hand-off to O&amp;M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5258" y="5850636"/>
            <a:ext cx="952589" cy="504444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39266" y="5868924"/>
            <a:ext cx="824573" cy="4678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117 chains surfaced — the deepest role on the platform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Construction/COD → cod_certified (NERSA §C-5, IE gate)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Cross-role: drawdown↔Lender, GCA↔Grid, licence↔Regulator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11896" y="5157216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75904" y="5175503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ERA 2006 ss8–11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44584" y="5157216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08592" y="5175503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NERSA Grid Code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77272" y="5157216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0" y="5175503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REIPPPP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29569" y="5157216"/>
            <a:ext cx="621792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93577" y="5175503"/>
            <a:ext cx="4937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NEMA / EIA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11896" y="5468112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75904" y="5486399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61724/62446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4584" y="5468112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8592" y="548639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FIDIC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2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Trader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Run the power exchange front-to-back under market-conduct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Pre-trade credit check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Order entry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Match (OrderBook DO)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Settlement (DvP)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Trade reporting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Active Trading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Order entry, RFQ best-execution, allocation / give-up, algo/DEA certification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Risk &amp; Margin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Pre-trade credit, position limits, counterparty margin call (PFMI waterfall), VaR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Post-trade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DvP settlement, settlement-fail / CSDR buy-in, P&amp;L attribution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OTC trade reporting (SA-EMIR), market-abuse / STOR cases, benchmark transition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17 chains · forced-liquidation + kill-switch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pre-trade credit → cleared | held_for_review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Surveillance scan every 15 min; VWAP marks hourly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76443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63642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FSCA CS1/2020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9486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3494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FAIS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9137" y="5157216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23145" y="5175503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FMA s41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11435" y="5157216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75443" y="5175503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SA-EMIR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63732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7740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PFMI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11896" y="5468112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75904" y="5486399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JSE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3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Lender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Originate, fund, monitor and work out project debt.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Credit origination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CP clearance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Drawdown (UoP)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Covenant / DSCR monitoring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Default / step-in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Cure | restructure | write-off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Origination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Credit facility application, credit origination (NCA/Basel scoring)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Disbursement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Drawdown UoP, disbursement clawback, reserve accounts (DSRA/MRA)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Covenant certificate, DSCR monitoring, SLL KPI / margin ratchet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Workout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Loan default / step-in, restructure (A&amp;E), security perfection, loan transfer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17 chains · write-off + acceleration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covenant breach → cured | restructured | written_off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Cross-role: drawdown↔IPP, dunning→Regulator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Basel III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59291" y="5157216"/>
            <a:ext cx="71688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3299" y="5175503"/>
            <a:ext cx="58887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SARB / ExCon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49332" y="5157216"/>
            <a:ext cx="1002182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3340" y="5175503"/>
            <a:ext cx="87416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Equator Principles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824667" y="5157216"/>
            <a:ext cx="288950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88675" y="5175503"/>
            <a:ext cx="16093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LMA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11896" y="5468112"/>
            <a:ext cx="43159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5486399"/>
            <a:ext cx="3035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IFRS 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16644" y="5468112"/>
            <a:ext cx="43159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80652" y="5486399"/>
            <a:ext cx="3035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STRATE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4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Offtaker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Contract, nominate, reconcile and enforce power purchase.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PPA contract exec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Nomination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Delivery / metering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Annual true-up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Take-or-pay / curtailment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Payment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Contracting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PPA contract execution (NERSA s34), termination / 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PPA nomination, deviation settlement, REC / GoO lifecycle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Reconciliation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Annual true-up, delivered-vs-contracted, tariff indexation (CPI)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Claims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Take-or-pay (IFRS16), curtailment claim, change-in-law relief, payment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19 chains · forfeit + involuntary-termination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PPA take-or-pay (INVERTED SLA) — under-nomination accrues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Cross-role: take-or-pay claim → generator IPP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NERSA s34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59291" y="5157216"/>
            <a:ext cx="526694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23299" y="5175503"/>
            <a:ext cx="39867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ERA 2006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9137" y="5157216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23145" y="5175503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IFRS 16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11435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75443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61724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11896" y="5468112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5486399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I-REC / Scope-2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5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Carbon 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Register, verify, issue, retire and adjust carbon credits.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Registration / PDD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MRV submission (14-state)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Verification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Issuance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Retirement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Article-6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Origination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Project registration / PDD, PoA-CPA inclusion, crediting-period renewal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MRV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14-state MRV chain, ESG disclosure, credit-quality / ICVCM CCP rating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Lifecycle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Credit issuance, retirement (per-scope SLAs), reversal / buffer-pool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Markets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Article-6 ITMO adjustment, ERPA forward delivery, carbon-tax offset claim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20 chains · clawback + retirement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MRV 14-state → issued; ITMO double-count guards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Mostly L5 — tamper-evident issuance/retirement ledger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76443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63642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Paris Art 6.4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9486" y="5157216"/>
            <a:ext cx="76443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3494" y="5175503"/>
            <a:ext cx="63642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Gold Standard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87076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1084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Verra VCS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34472" y="5157216"/>
            <a:ext cx="811987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5175503"/>
            <a:ext cx="6839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Carbon Tax Act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11896" y="5468112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5486399"/>
            <a:ext cx="2560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ICVCM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69096" y="5468112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33104" y="5486399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6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Grid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Connect, allocate, energise, dispatch and balance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Connection (GCA)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Capacity allocation / queue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Energisation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Dispatch nomination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Reserve / curtailment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Imbalance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Connection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Grid Connection Agreement (Code C-1, 3-terminal), capacity allocation / queue, energisation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Dispatch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Dispatch nominations (BRP→SO), reserve activation, black-start capability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System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Load curtailment (CSC-1), transmission outage (N-1), planned outage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Settlement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Imbalance settlement (MTU pricing), grid-code compliance monitoring (NRS097)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23 chains · curtailment + dispute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tighter load-shed stage → tighter SLA (escalating)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Cross-role: GCA &amp; energisation ↔ IPP; dispatch ↔ BRP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NERSA Grid Code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44584" y="5157216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8592" y="5175503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NRS 097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96881" y="5157216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60889" y="5175503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60870/61850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29569" y="5157216"/>
            <a:ext cx="621792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3577" y="5175503"/>
            <a:ext cx="4937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NTCSA 2024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11896" y="5468112"/>
            <a:ext cx="47914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5904" y="5486399"/>
            <a:ext cx="35112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ERA s24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7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Support / OEM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Resolve incidents, dispatch field work and run asset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Ticket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Work-order dispatch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RMA / warranty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Problem (root-cause)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Change enablement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Security 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Service desk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Support tickets (priority-tiered SLA), service request (ITIL4)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Field &amp; parts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Work-order dispatch, spare-parts provisioning (VED), FCO/ECN campaign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Reliability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Problem mgmt (ITIL root-cause), warranty claim / recovery, service contract (AMC)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Predictive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Asset prognostics — RUL (the NTT-beating surface), security remediation (CVSS)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25 chains · safety-only cross-role crossings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ticket → resolved; critical WO crosses to Grid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Asset prognostics (W71) — predictive RUL, NTT comparator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43159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3035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ITIL 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16644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80652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OHSA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26296" y="5157216"/>
            <a:ext cx="859536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0304" y="5175503"/>
            <a:ext cx="73151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61724/62446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58984" y="5157216"/>
            <a:ext cx="621792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22992" y="5175503"/>
            <a:ext cx="4937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NRCS / CPA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8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Regulator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License, inspect, enforce and determine tariffs.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Licence application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784896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Compliance inspection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5002865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Enforcement (s35)</a:t>
            </a:r>
          </a:p>
        </p:txBody>
      </p:sp>
      <p:sp>
        <p:nvSpPr>
          <p:cNvPr id="12" name="Chevron 11"/>
          <p:cNvSpPr/>
          <p:nvPr/>
        </p:nvSpPr>
        <p:spPr>
          <a:xfrm>
            <a:off x="7220833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Disposition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9438802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Certified export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Licensing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NERSA licence application (ERA ss8–11), renewal, SSEG / Schedule-2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Oversight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Compliance inspection (§10/§34/§35), grid-code compliance, complaints (ERA s30)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Enforcement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Enforcement action (s35), disposition, NERSA levy assessment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Tariff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MYPD determination (§15–16, INVERTED), tariff indexation, consultation notice (PAJA)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29 chains · all cross-role crossings feed disposition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licence application → granted | refused (refuse = ALL)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Regulator-grade L5 — certified export packs (XBRL)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11896" y="5157216"/>
            <a:ext cx="76443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5175503"/>
            <a:ext cx="63642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ERA s10/24/35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9486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3494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PAJA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59137" y="5157216"/>
            <a:ext cx="1097280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3145" y="5175503"/>
            <a:ext cx="96926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NERSA Penalties 2018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29569" y="5157216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93577" y="51755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POPIA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11896" y="5468112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75904" y="5486399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FSCA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9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Platform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Onboard tenants, prove integrity and run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KYC verification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784896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Tenant lifecycle</a:t>
            </a:r>
          </a:p>
        </p:txBody>
      </p:sp>
      <p:sp>
        <p:nvSpPr>
          <p:cNvPr id="11" name="Chevron 10"/>
          <p:cNvSpPr/>
          <p:nvPr/>
        </p:nvSpPr>
        <p:spPr>
          <a:xfrm>
            <a:off x="5002865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Hash-chain audit block</a:t>
            </a:r>
          </a:p>
        </p:txBody>
      </p:sp>
      <p:sp>
        <p:nvSpPr>
          <p:cNvPr id="12" name="Chevron 11"/>
          <p:cNvSpPr/>
          <p:nvPr/>
        </p:nvSpPr>
        <p:spPr>
          <a:xfrm>
            <a:off x="7220833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Control-environment audit</a:t>
            </a:r>
          </a:p>
        </p:txBody>
      </p:sp>
      <p:sp>
        <p:nvSpPr>
          <p:cNvPr id="13" name="Chevron 12"/>
          <p:cNvSpPr/>
          <p:nvPr/>
        </p:nvSpPr>
        <p:spPr>
          <a:xfrm>
            <a:off x="9438802" y="1993392"/>
            <a:ext cx="2185964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Certified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Identity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KYC verification, tenant onboarding &amp; isolation enforcement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Integrity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Hash-chain audit block (W118), reconciliation attestation (W120)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Governance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Control-environment audit (SOC2 / ISO 27001), certified regulator export (W119)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Operations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Cron orchestration, rate-limiter, platform invoice run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4 platform chains — the integrity &amp; governance spine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hash-chain block append → sealed (tamper-evident)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Underwrites every other role's L5 evidence claims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11896" y="5157216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51755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POPIA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69096" y="5157216"/>
            <a:ext cx="76443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33104" y="5175503"/>
            <a:ext cx="63642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Companies Act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6686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70694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FSCA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16337" y="5157216"/>
            <a:ext cx="1287475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80345" y="5175503"/>
            <a:ext cx="1159459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Information Regulator SA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11896" y="5468112"/>
            <a:ext cx="907084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75904" y="5486399"/>
            <a:ext cx="7790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SOC2 / ISO 27001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10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ESCO / O&amp;M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Commission, operate, predict and assure generation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Commissioning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Work orders / PM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Permit-to-work (LOTO)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Asset prognostics (RUL)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Availability / LD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Revenue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Site portfolio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Commissioning (planned→in_om), service contracts, sites portfolio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O&amp;M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Work orders, PM compliance (IEC 62446), permit-to-work / LOTO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Asset health &amp;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Asset prognostics / RUL (NTT-beating), availability guarantee / LD, BESS SOH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L4–L5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Assurance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Generation revenue assurance (meter recon), soiling / recovery audit, PR underperformance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17 chains · LD + augmentation terminals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predictive RUL drives spare-parts provisioning (W72)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Esums predictive layer benchmarked to beat NTT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811987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683971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61724 (PR)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97035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61043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IEC 62446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44430" y="5157216"/>
            <a:ext cx="669340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08438" y="5175503"/>
            <a:ext cx="54132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OHSA / LOTO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86923" y="5157216"/>
            <a:ext cx="907084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50931" y="5175503"/>
            <a:ext cx="7790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SA metering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D18E35"/>
                </a:solidFill>
                <a:latin typeface="Archivo"/>
              </a:rPr>
              <a:t>ROLE DOSSIER 11 OF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005358"/>
                </a:solidFill>
                <a:latin typeface="Archivo"/>
              </a:rPr>
              <a:t>EPC Contractor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504D46"/>
                </a:solidFill>
                <a:latin typeface="Archivo"/>
              </a:rPr>
              <a:t>Control quality, documents and handover on the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504D46"/>
                </a:solidFill>
                <a:latin typeface="Archivo"/>
              </a:rPr>
              <a:t>CEC · NTT Due Diligence · Per-Role Process &amp;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64556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D18E35"/>
                </a:solidFill>
                <a:latin typeface="Archivo"/>
              </a:rPr>
              <a:t>cec.vantax.co.za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10972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MAJOR PROCESS 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66928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Submittals</a:t>
            </a:r>
          </a:p>
        </p:txBody>
      </p:sp>
      <p:sp>
        <p:nvSpPr>
          <p:cNvPr id="10" name="Chevron 9"/>
          <p:cNvSpPr/>
          <p:nvPr/>
        </p:nvSpPr>
        <p:spPr>
          <a:xfrm>
            <a:off x="2415235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ITP inspection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3542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NCR</a:t>
            </a:r>
          </a:p>
        </p:txBody>
      </p:sp>
      <p:sp>
        <p:nvSpPr>
          <p:cNvPr id="12" name="Chevron 11"/>
          <p:cNvSpPr/>
          <p:nvPr/>
        </p:nvSpPr>
        <p:spPr>
          <a:xfrm>
            <a:off x="6111849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Punch list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0156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Method statement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9808463" y="1993392"/>
            <a:ext cx="1816303" cy="566928"/>
          </a:xfrm>
          <a:prstGeom prst="chevron">
            <a:avLst>
              <a:gd name="adj" fmla="val 55000"/>
            </a:avLst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76200" tIns="12700" bIns="12700"/>
          <a:lstStyle/>
          <a:p>
            <a:pPr algn="ctr">
              <a:lnSpc>
                <a:spcPct val="95000"/>
              </a:lnSpc>
            </a:pPr>
            <a:r>
              <a:rPr sz="830" b="1" i="0">
                <a:solidFill>
                  <a:srgbClr val="FFFFFF"/>
                </a:solidFill>
                <a:latin typeface="Archivo"/>
              </a:rPr>
              <a:t>Handover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7360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D18E35"/>
                </a:solidFill>
                <a:latin typeface="Archivo"/>
              </a:rPr>
              <a:t>DETAILED FUNCTIONALITY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35808"/>
            <a:ext cx="1731981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72384"/>
            <a:ext cx="16039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Domain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8909" y="3035808"/>
            <a:ext cx="467634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2917" y="3072384"/>
            <a:ext cx="454833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Representative features (live surfaces)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5258" y="3035808"/>
            <a:ext cx="952589" cy="292608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39266" y="3072384"/>
            <a:ext cx="8245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60" b="1" i="0">
                <a:solidFill>
                  <a:srgbClr val="FFFFFF"/>
                </a:solidFill>
                <a:latin typeface="Archivo"/>
              </a:rPr>
              <a:t>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28415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346703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Document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8909" y="3328415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917" y="3346703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Submittals / transmittals, RFIs, technical queries, change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5258" y="3328415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266" y="3346703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L3–L4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78224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096511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Quality mgmt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8909" y="4078224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2917" y="4096511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ITP (inspection &amp; test plan), NCR (non-conformance), punch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5258" y="4078224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9266" y="4096511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28032"/>
            <a:ext cx="1731981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846320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Site 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8909" y="4828032"/>
            <a:ext cx="467634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917" y="4846320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Method statements, construction diary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5258" y="4828032"/>
            <a:ext cx="95258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266" y="4846320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L3–L4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577840"/>
            <a:ext cx="1731981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596128"/>
            <a:ext cx="160396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1" i="0">
                <a:solidFill>
                  <a:srgbClr val="005358"/>
                </a:solidFill>
                <a:latin typeface="Archivo"/>
              </a:rPr>
              <a:t>Safety &amp; handover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8909" y="5577840"/>
            <a:ext cx="467634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2917" y="5596128"/>
            <a:ext cx="454833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HSE incident (safety-only crossing), handover dossier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5258" y="5577840"/>
            <a:ext cx="952589" cy="749808"/>
          </a:xfrm>
          <a:prstGeom prst="rect">
            <a:avLst/>
          </a:prstGeom>
          <a:solidFill>
            <a:srgbClr val="F5F2EA"/>
          </a:solidFill>
          <a:ln w="635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9266" y="5596128"/>
            <a:ext cx="824573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6000"/>
              </a:lnSpc>
            </a:pPr>
            <a:r>
              <a:rPr sz="830" b="0" i="0">
                <a:solidFill>
                  <a:srgbClr val="1B1812"/>
                </a:solidFill>
                <a:latin typeface="Archivo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9016" y="3035808"/>
            <a:ext cx="3495751" cy="1517904"/>
          </a:xfrm>
          <a:prstGeom prst="roundRect">
            <a:avLst>
              <a:gd name="adj" fmla="val 6000"/>
            </a:avLst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9016" y="3035808"/>
            <a:ext cx="64008" cy="1517904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3163824"/>
            <a:ext cx="312999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005358"/>
                </a:solidFill>
                <a:latin typeface="Archivo"/>
              </a:rPr>
              <a:t>Scope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6 chains · feeds IPP COD + handover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Headline: NCR raised → closed; HSE incident crosses on safety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60" b="1" i="0">
                <a:solidFill>
                  <a:srgbClr val="D18E35"/>
                </a:solidFill>
                <a:latin typeface="Archivo"/>
              </a:rPr>
              <a:t>•  </a:t>
            </a:r>
            <a:r>
              <a:rPr sz="860" b="0" i="0">
                <a:solidFill>
                  <a:srgbClr val="1B1812"/>
                </a:solidFill>
                <a:latin typeface="Archivo"/>
              </a:rPr>
              <a:t>Procore / Aconex-class quality + document control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9016" y="4700016"/>
            <a:ext cx="3495751" cy="1481328"/>
          </a:xfrm>
          <a:prstGeom prst="roundRect">
            <a:avLst>
              <a:gd name="adj" fmla="val 6000"/>
            </a:avLst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9016" y="4700016"/>
            <a:ext cx="64008" cy="148132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4818888"/>
            <a:ext cx="3184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D18E35"/>
                </a:solidFill>
                <a:latin typeface="Archivo"/>
              </a:rPr>
              <a:t>Regulatory basis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157216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75503"/>
            <a:ext cx="2560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FIDIC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9096" y="5157216"/>
            <a:ext cx="1002182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33104" y="5175503"/>
            <a:ext cx="87416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ISO 9001 (ITP/NCR)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44430" y="5157216"/>
            <a:ext cx="336499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08438" y="5175503"/>
            <a:ext cx="208483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OHSA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54081" y="5157216"/>
            <a:ext cx="574243" cy="246888"/>
          </a:xfrm>
          <a:prstGeom prst="roundRect">
            <a:avLst>
              <a:gd name="adj" fmla="val 50000"/>
            </a:avLst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18089" y="5175503"/>
            <a:ext cx="446227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FFFFFF"/>
                </a:solidFill>
                <a:latin typeface="Archivo"/>
              </a:rPr>
              <a:t>ISO 14001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18E35"/>
                </a:solidFill>
                <a:latin typeface="Archivo"/>
              </a:rPr>
              <a:t>DUE DILIGENCE — WHAT THE EVIDENCE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Archivo"/>
              </a:rPr>
              <a:t>Five assertions a reviewer can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64008" cy="74980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92807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D18E35"/>
                </a:solidFill>
                <a:latin typeface="Archivo"/>
              </a:rPr>
              <a:t>Depth is real, not a demo</a:t>
            </a:r>
          </a:p>
          <a:p>
            <a:pPr>
              <a:lnSpc>
                <a:spcPct val="104000"/>
              </a:lnSpc>
            </a:pPr>
            <a:r>
              <a:rPr sz="1030" b="0" i="0">
                <a:solidFill>
                  <a:srgbClr val="DFE8E6"/>
                </a:solidFill>
                <a:latin typeface="Archivo"/>
              </a:rPr>
              <a:t>Every role surface is a server-enforced state machine (L3 floor / L4 default / L5 regulator-grade). No L2 CRUD ships. 8,441 unit tests green.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715768"/>
            <a:ext cx="64008" cy="74980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734056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D18E35"/>
                </a:solidFill>
                <a:latin typeface="Archivo"/>
              </a:rPr>
              <a:t>Controls are platform-wide</a:t>
            </a:r>
          </a:p>
          <a:p>
            <a:pPr>
              <a:lnSpc>
                <a:spcPct val="104000"/>
              </a:lnSpc>
            </a:pPr>
            <a:r>
              <a:rPr sz="1030" b="0" i="0">
                <a:solidFill>
                  <a:srgbClr val="DFE8E6"/>
                </a:solidFill>
                <a:latin typeface="Archivo"/>
              </a:rPr>
              <a:t>Cascade, hash-chain audit, tenant isolation, pre-trade guards, locks, AI audit and cron SLAs run through god-nodes every mutation passes — not per-feature bolt-ons.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7015"/>
            <a:ext cx="64008" cy="74980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575303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D18E35"/>
                </a:solidFill>
                <a:latin typeface="Archivo"/>
              </a:rPr>
              <a:t>Regulatory spine is explicit</a:t>
            </a:r>
          </a:p>
          <a:p>
            <a:pPr>
              <a:lnSpc>
                <a:spcPct val="104000"/>
              </a:lnSpc>
            </a:pPr>
            <a:r>
              <a:rPr sz="1030" b="0" i="0">
                <a:solidFill>
                  <a:srgbClr val="DFE8E6"/>
                </a:solidFill>
                <a:latin typeface="Archivo"/>
              </a:rPr>
              <a:t>Each surface maps to named statute/code — ERA 2006, NERSA Grid Code, SA-EMIR, PFMI, Basel III, IFRS 16, Carbon Tax Act, Paris Article 6, POPIA.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98264"/>
            <a:ext cx="64008" cy="74980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416551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D18E35"/>
                </a:solidFill>
                <a:latin typeface="Archivo"/>
              </a:rPr>
              <a:t>Integrity is provable</a:t>
            </a:r>
          </a:p>
          <a:p>
            <a:pPr>
              <a:lnSpc>
                <a:spcPct val="104000"/>
              </a:lnSpc>
            </a:pPr>
            <a:r>
              <a:rPr sz="1030" b="0" i="0">
                <a:solidFill>
                  <a:srgbClr val="DFE8E6"/>
                </a:solidFill>
                <a:latin typeface="Archivo"/>
              </a:rPr>
              <a:t>Tamper-evident hash-chain ledger (W118) + certified regulator export packs (W119) + reconciliation attestation (W120) close the L5 evidence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239512"/>
            <a:ext cx="64008" cy="749808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57799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50" b="1" i="0">
                <a:solidFill>
                  <a:srgbClr val="D18E35"/>
                </a:solidFill>
                <a:latin typeface="Archivo"/>
              </a:rPr>
              <a:t>Predictive layer targets NTT</a:t>
            </a:r>
          </a:p>
          <a:p>
            <a:pPr>
              <a:lnSpc>
                <a:spcPct val="104000"/>
              </a:lnSpc>
            </a:pPr>
            <a:r>
              <a:rPr sz="1030" b="0" i="0">
                <a:solidFill>
                  <a:srgbClr val="DFE8E6"/>
                </a:solidFill>
                <a:latin typeface="Archivo"/>
              </a:rPr>
              <a:t>ESCO/Support asset-prognostics (W71) computes RUL and drives spare-parts provisioning — built to beat NTT-grade asset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2544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D18E35"/>
                </a:solidFill>
                <a:latin typeface="Archivo"/>
              </a:rPr>
              <a:t>CEC · Open Energy Platform · cec.vantax.co.za — companion: per-role functionality catalogue (markdown DD doc)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