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868680" cy="86868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7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8229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chivo"/>
              </a:rPr>
              <a:t>CONSOLIDATED ENERGY COCKPIT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chivo"/>
              </a:rPr>
              <a:t>Every User Journey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D18E35"/>
                </a:solidFill>
                <a:latin typeface="Archivo"/>
              </a:rPr>
              <a:t>Everything the platform can do, by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rchivo"/>
              </a:rPr>
              <a:t>11 roles  ·  60 journey groups  ·  360 journeys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Archivo"/>
              </a:rPr>
              <a:t>Companion to the Process-Flow deck   ·   oe.vantax.co.za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HOW TO READ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Contents: every role, every journey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812"/>
                </a:solidFill>
                <a:latin typeface="Archivo"/>
              </a:rPr>
              <a:t>Each role section opens with its workspace, then one slide per journey group listing every journey it can run — its depth tier (L3 audited · L4 full-workflow · L5 regulator-grade), its lifecycle pipeline, and the chain or surface that backs it. ◆ marks a cross-role journey.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2860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554480"/>
                <a:gridCol w="4754880"/>
              </a:tblGrid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Role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Groups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Journeys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Metered on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IPP Developer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9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76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active project · per stage-gate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Trader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4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28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bps on notional · per settlement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Lender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5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29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flat per drawdown · bps on facility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Offtaker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5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42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MWh settled · per PPA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Carbon Fund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6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26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credit issued / retired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Grid Operator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3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30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connection · per MW dispatched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Support / OEM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4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24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ticket · per work order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Regulator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5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24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certified export · per case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Platform Admin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6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33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platform seat · per tenant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ESCO / O&amp;M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8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37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active facility · per work order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309489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EPC Contractor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5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11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005358"/>
                          </a:solidFill>
                          <a:latin typeface="Archivo"/>
                        </a:rPr>
                        <a:t>per submittal · per package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309492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TOTAL</a:t>
                      </a:r>
                    </a:p>
                  </a:txBody>
                  <a:tcPr anchor="ctr" marT="25400" marB="25400" marL="50800" marR="50800">
                    <a:solidFill>
                      <a:srgbClr val="D18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60</a:t>
                      </a:r>
                    </a:p>
                  </a:txBody>
                  <a:tcPr anchor="ctr" marT="25400" marB="25400" marL="50800" marR="50800">
                    <a:solidFill>
                      <a:srgbClr val="D18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360</a:t>
                      </a:r>
                    </a:p>
                  </a:txBody>
                  <a:tcPr anchor="ctr" marT="25400" marB="25400" marL="50800" marR="50800">
                    <a:solidFill>
                      <a:srgbClr val="D18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11 roles · seat + transaction + value</a:t>
                      </a:r>
                    </a:p>
                  </a:txBody>
                  <a:tcPr anchor="ctr" marT="25400" marB="25400" marL="50800" marR="50800">
                    <a:solidFill>
                      <a:srgbClr val="D18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IPP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76 journeys across 9 groups  ·  metered: per active project · per stage-gate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Project Controls  ·  Construction  ·  Documents  ·  Finance  ·  Risk &amp; Quality  ·  Regulatory Compliance  ·  Safety &amp; Grid  ·  Predictive ML  ·  Environmental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Project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My projects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Active project portfolio — status, phase, health KPIs.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Milestones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Project milestone tracking with variance analysis.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Schedule pulse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Critical path summary and schedule health.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WBS &amp; Gantt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Work breakdown structure with CPM Gantt.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planned → in_progress → delayed → completed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ipp_schedule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Cost &amp; EVM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Earned value management — CPI, SPI, EAC.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approved → monitoring → variance_review → closed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ipp_evm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Milestone variance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Formal milestone variance reports (W207).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critical_delay → dfi_accepted → dfi_queries → dfi_queries_res…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milestone_variance_report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Construction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Procurement / RFPs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REIPPPP RFP and procurement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issued → evaluation → awarded → completed → cancelled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procurement_rfp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Construction / COD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§C-5 construction and COD workflow.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design → procurement → construction → mechanical_completion →…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cod_chain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Subcontractors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Subcontractor register and compliance.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closed → demobilized → good_standing → inducted → mobilized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ipp_subcontractor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Daily field report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Construction daily field reports.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archived → corrected → distributed → drafted → ent…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dfr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 diary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Site diary and inspection records (W143).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correction_accepted → countersigned → disputed → 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ipp_construction_diary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Punch list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Pre-COD punch list items and closure.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 → assessed → assigned → closed → identified → in_rem…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punch_list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Material inspections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Material inspection request records.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conditional_approval → delivered → delivery_notifi…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ipp_mir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Handover dossier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O&amp;M handover documentation package.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archived → dossier_compiled → operations_owned → p…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handover_dossier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Change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Project change-order / variation control (W81).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cancelled → deferred → disputed → draft → impact_a…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project_change_order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Construction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Submittals / RFIs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EPC submittal and RFI document control (W96).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clarification_requested → closed_clean → distribut…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submittal_rfi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Documents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Document control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Project document register and revision control.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under_review → approved → superseded → rejected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ipp_doc_control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Submittals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EPC submittal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assigned_to_reviewer → closed_out → contractor_dra…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ipp_submittal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RFIs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Requests for information.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answer_returned → archived → assigned_to_responder → clarific…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ipp_rfi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Technical queries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Engineering technical query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allocated → closed → design_change_required →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ipp_tq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 instructions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Engineer site instructions (W144).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closed → completed → dispute_resolved → disput…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site_instruction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DLP defects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Defects liability period tracking (W145).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cancelled → closed → disputed → escalated_to_n…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dlp_defect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Variation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Variation order chain (W146).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adjudicated → approved → cancelled → completed…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variation_order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Payment certificates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Progress payment certificates (W147).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adjudicated → assessed → certified → disputed → draft → final…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ipp_payment_cert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Final completion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Final completion certificate (W148).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adjudicated → application_submitted → defects_outstanding → 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ipp_final_completion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Documents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O&amp;M handover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O&amp;M handover package (W149).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 → archived → compilation → conditional_acceptance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ipp_om_handover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Finance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Insurance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Active insurance policies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Insurance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FSCA Section 38 insurance claim workflow.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under_review → investigating → settled → rejected…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insurance_claim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Bonds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Performance bonds and expiry countdown.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call_pending → expired → forfeited → released → repl…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ipp_performance_bonds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Progress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Progress claim certification chain.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closed → disputed → engineer_certified → final_acc…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ipp_progress_claim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Conditions Precedent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Financial close CP tracker (W192).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conditional_pass → cure_underway → documented → identified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cp_tracker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Drawdown requests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SARB IE-gated drawdown chain (W21).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ie_review → lender_review → approved → disbursed → re…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drawdown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Green bond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Green bond framework reports (W202).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board_approval → data_gathering → deficiency_noted…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green_bond_report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DSCR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Debt service coverage ratio reports (W212).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 → calculation → covenant_breach → data_gathering → d…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dscr_report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 insurance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Credit insurance facility (W218).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application → bound → cancelled → claim_assessed → c…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credit_insurance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Finance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Take-or-pay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Generator take-or-pay claim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arbitrated → claim_prepared → claim_submitted → classificatio…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curtailment_claim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Risk &amp; Quality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Stage gates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DG0–DG4 development gate reviews.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dg0_pending → dg1_pending → dg2_pending → dg3_pending → dg4_p…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stage_gate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Risk register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Project risk register — severity × likelihood.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Issues log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Open issues log and resolution tracking.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Stakeholder register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Stakeholder map and engagement log.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ITP / Quality plan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Inspection and test plan.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archived → corrective_action → failed → in_inspect…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itp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Risk analysis (EMV)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Quantitative risk EMV/SRA analysis.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 → assessed → cancelled → closed → escalated → identi…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project_risk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Non-conformance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NCR log and corrective actions.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accepted_as_is → acknowledged → closed → corrective_action_pl…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ncr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Lessons learned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Project lessons learned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REIPPPP, milestone-variance, DSCR and generation reports with pivots a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Risk &amp; Quality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2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Annual compliance report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annual compliance report (W159) with CSV / PDF export.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milestone-evidence 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Regulatory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8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Licence obligations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licence obligation register (W193).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assessed_compliant → assessed_non_compliant → assessment_due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licence_obligation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ED commitments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REIPPPP economic development commitments (W27).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active → under_review → compliant → breach → cure…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ed_commitment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Local content &amp; SED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Local content and SED compliance (W174).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clarification_requested → clarification_submitted → completen…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ipp_lcr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BBBEE verification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BBBEE verification (W182).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agency_assessment → agency_engagement → bbbee_non_compliant →…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ipp_bbbee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REIPPPP progress report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REIPPPP progress report (W185).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acknowledgement_pending → board_approval → data_collection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ipp_rpr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NERSA licence return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NERSA licence return (W184).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acknowledgement_pending → board_approval → clarification_requ…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ipp_anr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Annual audit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Financial statements and audit (W189).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audit_completed → audit_cycle_opened → audit_fieldwork → audi…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ipp_aud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CBT/SED DMRE report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CBT/SED DMRE report review (W230).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cbt_sed_report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Safety &amp;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HSE incidents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OHSA s24/NEMA s30 incident chain (W25).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reported → investigating → authority_notified → remediation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hse_incident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Cyber incidents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POPIA s22 cyber incident chain (W26).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closed → contained → detected → escalated → false_alarm → inv…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cyber_incident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Planned outages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Grid Code planned outage chain (W18).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cancelled → closed → draft → in_progress → notifie…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planned_outage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Grid connection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Grid Code C-1 connection agreement (W28).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application_filed → connection_agreement_drafted → constructi…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gca_connection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Method statements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Construction method statement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approved → archived → closed → drafted → rejected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ipp_method_statement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Warranty / RMA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OEM warranty and RMA claims (W15).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approved → closed → denied → disputed → fulfil…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warranty_claim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Grid export curtailments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Grid export curtailment claims (W221).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arbitration → cancelled → claim_prepared → claim_submitted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export_curtailment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GTIA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Grid Technical Interface Agreement — protection and SCADA settings wit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Community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Per-project ED/SED commitments, stakeholder register and engagement lo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Predictive 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7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Inverter integrations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Connect generation assets — Solax and other inverter credentials, live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SCADA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SCADA telemetry connector — real-time plant measurement ingestion.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MQTT / OPC-UA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Industrial MQTT / OPC-UA telemetry connector configuration.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Anomaly detection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Predictive anomaly-detection ML on plant telemetry.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RUL prediction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Remaining-useful-life prediction for plant assets.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Fault fingerprint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Physics-based fault-fingerprint ML diagnostics.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Invite partners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Invite lenders, offtakers and carbon funds to your projects via a dire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IPP DEVELOPER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Environmental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project · per stage-gate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EA amendment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Environmental authorisation amendment (W169).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amendment_granted → amendment_refused → application_in_prepar…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ipp_eam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Water use licence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DWAF water use licence (W170).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application_preparation → application_submitted → dws_complet…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ipp_wul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Heritage assessment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SAHRA heritage resources assessment (W171).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desktop_study → field_survey → final_review → heritage_watchl…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ipp_hra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Atmospheric emission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DEA atmospheric emission licence (W172).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ael_granted → ael_lapsed → ael_refused → ael_triggered → appl…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ipp_ael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Environmental monitoring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EMP compliance monitoring reports.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cancelled → closed → compliance_assessed → corrective_action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ipp_env_monitoring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Trader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28 journeys across 4 groups  ·  metered: bps on notional · per settlement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Active Trading  ·  Risk &amp; Margin  ·  Post-trade &amp; Settlement  ·  Compliance &amp; Reporting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TRADER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Active Trading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bps on notional · per settlement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Open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Live order book — GTC/IOC/FOK orders.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Positions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Real-time position marks across energy types.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Trade blotter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Executed trades with P&amp;L attribution.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Rejections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Pre-trade guard rejections with explainer.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TRADER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Risk &amp; Margin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bps on notional · per settlement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Risk dashboard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Daily VaR, scenarios, exposure limits.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Margin calls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IM/VM margin call lifecycle.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issued → acknowledged → disputed → met → defaulted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Position limits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FSCA s41 position limit breach machine (W29).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compliant → warning → breach → escalated → forced_liquidation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poslimit_case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Counterparty margin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CPMI-IOSCO counterparty margin &amp; default (W68).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monitoring → margin_call → default_declared → close_out → def…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counterparty_margin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Benchmark transition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LIBOR/JIBAR to ZARONIA migration.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amendment_drafted → amendment_executed → cancelled → classifi…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benchmark_transition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TRADER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Post-trade &amp; Settlement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8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bps on notional · per settlement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Daily settlement runs and breaks.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buy_in_executing → buy_in_initiated → buy_in_settled → cash_c…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settlement_fail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Trade allocation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DTCC-style block→per-account allocation (W76).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executed → pending_allocation → allocated → affirmed → matche…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trade_allocation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Trade reporting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FMA post-trade repository reporting (W44).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submitted → acknowledged → accepted → rejected → resu…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trade_report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Best-execution / RFQ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FSCA Conduct Standard RFQ chain (W36).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rfq_sent → quotes_received → quote_selected → executed → conf…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best_execution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Post-trade exceptions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Post-trade mismatches (price, volume, settlement) triage and resolutio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Imbalance settlement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Grid imbalance cash-out settlement.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aged_arrears → archived → cancelled → dispute_window_open → d…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imbalance_settlement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Black start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NETSO black-start cost recovery.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bid_evaluation → contract_awarded → contract_executed → contr…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black_start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Benchmark transition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JIBAR cessation / benchmark fallback transition (W90).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amendment_drafted → amendment_executed → cancelled → classifi…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benchmark_transition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TRADER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&amp; Reporting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bps on notional · per settlement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Market surveillance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FMA Ch.X market abuse STOR machine (W52).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monitoring → alert_raised → investigation → file_stor → clear…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market_abuse_case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MM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Market-making consecutive-miss breach (W9).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none → warning → breach → escalated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Algo certification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FMA/FSCA MiFID RTS6 algo cert gate (W60).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testing → review → approved → deployed_live → sus…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algo_certification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/ sustainability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ESG disclosure and Scope 3 reports.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/esg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Article 6 ITMO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UNFCCC corresponding-adjustment ledger (W4).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blocked → dffe_cleared → dffe_pending → draft → unfccc_ledger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article6_adjustment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Black start chain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black-start compliance.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bid_evaluation → contract_awarded → contract_executed → contr…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black_start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rails (W124)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STRATE/SWIFT settlement connectors.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ERP connectors (W125)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SAP/Oracle ERP integration.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Filing connectors (W126)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NERSA/SARS government filing connectors.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TRADER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&amp; Reporting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2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bps on notional · per settlement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Trade settlement, best-execution and FSCA trade reports with pivots an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trade reconciliation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Lender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29 journeys across 5 groups  ·  metered: flat per drawdown · bps on facility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Origination  ·  Monitoring  ·  Enforcement  ·  Risk  ·  Reporting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Origination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 origination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NCA/Basel III credit facility origination (W53).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credit_review → committee → approved → declined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credit_facility_application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Facilities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Active credit facilities portfolio.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Loan transfer / secondary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LMA secondary-market loan participation (W61).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due_diligence → sarb_notification → approved → se…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loan_transfer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7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Drawdowns / UoP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IE+CP gated drawdown and use-of-proceeds (W30).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ie_review → approved → disbursed → clawback_triggered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drawdown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Covenant certificates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LMA covenant compliance certificates (W38).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requested → submitted → under_review → waiver_requested → com…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covenant_certificate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Security perfection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Deeds/STRATE security registration (W69).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filed → cession_registered → perfected → lapsed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security_perfection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DSCR monitoring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Quarterly DSCR/LLCR covenant testing with cure lifecycle (W86).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period_open → computed → watch → breach_recorded → lock_up →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dscr_monitoring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Reserve accounts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DSRA/MRA funding, drawdown, cure and release (W77).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reserve_required → funding_in_progress → funded → shortfall_f…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reserve_account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Portfolio overview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Portfolio NAV, exposure, and sector map.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Risk dashboard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Concentration, covenant breach, watch-list.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Enforcement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Default &amp; enforcement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LMA event-of-default enforcement/step-in (W45).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performing → watchlist → event_of_default → standstill → enfo…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loan_default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Restructure &amp; A&amp;E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LMA Amend &amp; Extend / forbearance with credit-committee gate (W108).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trigger_event → restructure_proposal_drafted → lender_credit_…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loan_restructure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Dunning queue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Cycle 1/2/3 borrower observation notices with cure deadlines and escal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Covenant workout queue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Covenant-breach workout cases (open → investigating → resolved) with i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/lender-suite/workout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SLL KPI &amp; ratchet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Sustainability-linked KPI compliance with margin ratchet (W95).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baseline_set → kpi_period_open → independent_verification → k…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sll_kpi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/ DFI monitoring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Equator Principles E&amp;S monitoring.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/esg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Benchmark transition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JIBAR→ZARONIA credit facility resets.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Large-exposure concentration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SARB large-exposure limits monitoring.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Reporting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IE certifications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Independent engineer sign-off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Facility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Periodic facility utilisation reports.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Covenant summary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Cross-facility covenant status dashboard.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carbon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accounting for DFI portfolios.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Covenant certificates, DSCR, drawdown and EP IV ESAP reports with pivo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Document Studio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Auto-generate term sheets and information memoranda from project data 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Facility audit &amp; IFRS9 export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L5 tamper-evident audit, IFRS9 export and disbursement reconciliation.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/lender-suite/audit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rails (W124)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STRATE/SWIFT settlement connectors.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ERP connectors (W125)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SAP/Oracle ERP integration.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LENDER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Reporting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2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flat per drawdown · bps on facility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Filing connectors (W126)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NERSA/SARS government filing connectors.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facility reconciliat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Offtaker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42 journeys across 5 groups  ·  metered: per MWh settled · per PPA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Contracts  ·  Operations  ·  Payment Security  ·  Compliance  ·  Reporting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Contracts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PPA contracts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s34 PPA execution chain (W22).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negotiation → legal_review → signed → active → expire…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ppa_contract_chain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Tariff indexation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IFRS 16 / NERSA s4 annual CPI repricing (W39).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notice_issued → disputed → agreed → applied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tariff_indexation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PPA termination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s34 + IFRS 16 ETA buy-out (W62).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notice_given → valuation → agreed → disputed → terminated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ppa_termination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REC / GO lifecycle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I-REC/SAREC attribute certificate (W70).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device_registered → metered → issued → transferred → retired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rec_lifecycle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Change-in-law relief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Qualifying-change cost pass-through &amp; relief, arbitration branch (W78)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event_logged → eligibility_review → claim_submitted → negotia…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ppa_change_in_law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Wheeling access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Third-party transmission access agreement (W219).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requested → study → offered → accepted → active → terminated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wheeling_access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Virtual PPA / CfD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Contract-for-difference financial PPA settlement (W229).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period_open → strike_set → settled → disputed → reconciled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virtual_ppa_settlement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SLB KPI ratchet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Sustainability-linked-bond KPI margin ratchet (W204).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target_set → measured → verified → ratchet_applied → disputed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slb_kpi_ratchet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Procurement options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Active RFP responses and LOI pipeline.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/procurement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Contracts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PPA variations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Signed PPA amendment register (W155).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technical_review → commercial_review → approved → exe…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ipp_ppavar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Operations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Take-or-pay obligations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IFRS 16 + NERSA s34 ToP machine (W32).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contracted → delivered → shortfall → cure_window → disputed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ppa_take_or_pay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Curtailment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Deemed-energy compensation chain (W46).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claim_lodged → validated → quantum_agreed → settled → dispute…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curtailment_claim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Energy nominations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Day-ahead nomination &amp; deviation settlement at the deviation tariff (W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nomination_window_open → da_nominated → da_confirmed → delive…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ppa_nomination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Annual reconciliation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IFRS 15 / NERSA s34 annual true-up &amp; financial close (W101).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year_opened → data_collected → reconciled → signed_off → invo…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ppa_annual_recon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Unserved-energy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Use-of-system unserved-energy claim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claim_lodged → validated → quantum_agreed → settled → disputed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unserved_energy_claim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Delivery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MWh contracted vs delivered.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Solar settlement invoices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bills for delivered solar, with kWh, tariff and payment status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Billing &amp; payments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Invoice register and payment status.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Metering &amp; reconciliation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Smart meter reconciliation data.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Operations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Wheeling statements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Third-party access wheeling charges.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Sites &amp; groups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Delivery-point and site-group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Tariffs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Tariff schedule and TOU rate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Budget vs actual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Per-period energy budget vs actual consumption.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Bill upload &amp; AI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AI bill analyser, PPA-mix optimiser and LOI drafter.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Payment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Payment security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Guarantee/LC/PCG bankability backstop (W54).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issued → active → expiry_warning → renewed → forfeited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ppa_payment_security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 support docs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LC, PCG and guarantee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Obligations register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Payment-security and contractual obligation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disclosure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ESG disclosure and assurance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esg_disclosure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Scope 3 value-chain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Value-chain Scope 3 emission disclosure.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carbon_scope3_disclosure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Carbon offsets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Tax Act offset claim management.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allowance_granted → applied_to_return → claim_drafted → claim…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carbon_offset_claim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REC retirement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Scope-2 zero-carbon claim certificates.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Green tariff disclosure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Green-tariff / RE100 disclosure chain (W210).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submitted → verified → published → disputed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green_tariff_disclosure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Scope 2 emissions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location/market-based Scope 2 disclosures.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POPIA data rights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Data subject access and correction log.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/popia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Sustainability reports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sustainability and GRI reports.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rails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STRATE / SWIFT settlement-rail connector.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ERP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SAP / Oracle ERP integration connector.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Filing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Government statutory-filing connector.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log, REC reconciliation and certified exports.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OFFTAKER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MWh settled · per PPA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PPA portfolio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Portfolio summary — MW, cost, term.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Energy cost analysis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Blended tariff and cost-per-MWh trends.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PPA, statutory, green-tariff and Scope 2 report exports.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Carbon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26 journeys across 6 groups  ·  metered: per credit issued / retired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Project Pipeline  ·  MRV &amp; Verification  ·  Issuance &amp; Registry  ·  Article 6 &amp; Compliance  ·  Retirement &amp; Offset  ·  Trading &amp; Markets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Project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Project registration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Gold Standard / Verra / Art 6.4 registration (W37).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pdd_draft → validation → public_comment → dna_loa → registere…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carbon_registration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Crediting renewal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Verra/GS crediting-period renewal (W56).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baseline_reassessment → validation → approved → r…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crediting_period_renewal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PoA / CPA inclusion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CDM-PoA grouped programme inclusion (W73).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screening → eligibility → methodology_check → loa_gate → incl…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poa_cpa_inclusion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Vintage workflow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Credit vintage pipeline — status by year.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VCM project development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Voluntary carbon market development pipeline.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cancelled → conception → credits_issued → implementa…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vcm_project_development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MRV &amp;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Verification chain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14-state UNFCCC MRV verification (W11).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validation → site_audit → cra_review → issuance_pending → iss…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mrv_submissions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MRV submissions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Monitoring, reporting and verification records.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CCP eligibility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Calyx Global CCP-eligibility assessment.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ccp_assessment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Methodology amendments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Approved methodology change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amendment_approved → amendment_rejected → deviation_identifie…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methodology_amendment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Issuance &amp;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 issuance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credit issuance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carbon_issuance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Retirement certificates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Issued retirement certificates registry.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Certificate bundles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Bundled credit registry for bulk transfers.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applied → assembling → cancelled → expired → issued → retired…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certificate_bundle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Article 6 &amp;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Article 6 ITMO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UNFCCC ITMO corresponding-adjustment ledger (W4).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pending_transfer → under_review → adjusted → retired → disputed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article6_adjustment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disclosure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ESG disclosure and third-party assurance.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esg_disclosure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Scope 3 disclosure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Value-chain Scope 3 emission disclosure.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carbon_scope3_disclosure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Issuance, retirement and offset-claim reports with pivots and exports.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Document Studio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Auto-generate PDD, MRV, validation and REC issuance documents for Gold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registry reconciliat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Retirement &amp;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Retirement chain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Per-scope SLA retirement chain (W17).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requested → validation → retired → cancelled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carbon_retirement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Reversals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Verra/GS buffer-pool reversal chain (W42).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buffer_cancellation_proposed → buffer_cancelled → closed → es…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carbon_reversal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Tax offset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Tax Act §13 offset claim (W48).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sars_review → under_audit → grant → reject → claw…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carbon_offset_claim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Carbon tax returns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Tax Act returns filing (W200).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allowances_applied → assessment_issued → data_…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carbon_tax_return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Carbon budget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carbon budget allocation.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accepted → allowance_computed → appeal → coas_submitted → cre…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carbon_budget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CARBON FUND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Trading &amp; Markets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credit issued / retired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Forward ERPA delivery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Carbon forward delivery / make-good (W65).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execution → monitoring → delivery_window → delivery_verified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carbon_erpa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Credit quality rating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Third-party carbon credit quality rating.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carbon_credit_rating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OTC carbon trading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Spot and forward carbon credit OTC book.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aml_kyc_check → aml_kyc_passed → aml_rejected → authorized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carbon_registry_transfer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Grid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30 journeys across 3 groups  ·  metered: per connection · per MW dispatched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Grid Operations  ·  Connection Queue  ·  Compliance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GRID OPERATOR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Grid Operations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connection · per MW dispatched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Dispatch nominations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BRP→SO 10-state dispatch chain (W13).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so_review → accepted → scheduled → activated → me…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oe_dispatch_nominations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Curtailment events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Load curtailment CSC-1 events log.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instruction_issued → acknowledged → implemented → metered → c…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Ancillary service events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Ancillary award acceptance / delivery / failure / settlement event log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Ancillary services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NTCSA reserve activation settlement (W50).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activated → metered → validated → settled → disputed → settle…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reserve_activation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Demand response (W205)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DR programme activation, metering and incentive settlement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notified → acknowledged → activated → load_shed → metered → p…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demand_response_event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SAPP interconnector schedules (W234)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Cross-border SAPP interconnector schedule negotiation and delivery cha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schedule_draft → submitted_to_sapp → agreed → operating → com…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interconnector_schedule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EOP activations (W215)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Emergency Operations Plan contingency activation and post-event review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activated → restoration_in_progress → load_shedding_assessed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eop_activation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Outage responses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Crew acknowledgement, dispatch, rerouting and restoration response log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Imbalance settlement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Real-time imbalance cash-out.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aged_arrears → archived → cancelled → dispute_window_open → 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imbalance_settlement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GRID OPERATOR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Grid Operations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connection · per MW dispatched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Planned outages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Grid Code planned outage log (W18).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cancelled → closed → draft → in_progress → notifie…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planned_outage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Load curtailment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§CSC-1 urgent curtailment (W34).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closed → curtailment_started → instruction_iss…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load_curtailment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Black start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Black-start event log and cost recovery.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bid_evaluation → contract_awarded → contract_executed → contr…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black_start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Transmission outage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EHV/HV outage coordination with N-1 security assessment (W110).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emergency_cancelled → extended → n1_contingency_ru…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transmission_outage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Grid code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NRS 097 non-conformance monitoring (W67).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monitoring → non_conformance → investigation → remediation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grid_code_compliance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GRID OPERATOR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Connection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connection · per MW dispatched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Connection agreements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Grid Code C-1 GCA chain (W28).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application → technical_evaluation → offer_issued → accepted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gca_connection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REZ capacity allocation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NTCSA 2024 capacity rules queue (W58).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applied → queue_assessed → conditionally_allocated → allocate…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rez_capacity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Connection energization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Physical go-live COD commissioning (W75).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connection_ready → protection_tested → energization_authorize…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connection_energization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GRID OPERATOR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connection · per MW dispatched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Grid code NCRs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Formal non-conformance notifications.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cap_approved → cap_submitted → compliance_retest → compliant_…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gcc_ncr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Wheeling &amp; TPA charges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transmission use-of-system invoices.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NERSA statutory reporting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System operator annual statutory reports.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Interconnection studies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Fault-level and thermal capacity studies.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application_filed → connection_agreement_drafted → constructi…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gca_connection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Availability guarantees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IEC 61724 O&amp;M uptime guarantee (W51).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adjustment_review → cure_period → dispute_resolved → disputed…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availability_guarantee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Levy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levy assessment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assessment_review → enforcement → final_demand → in_arrears →…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levy_assessment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Market rule changes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market rule consultation log.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Smart meter assets (W199)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Smart-meter asset commissioning, data-quality and lifecycle chain.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commissioning → data_quality_pass → operational → fault_detec…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smart_meter_asset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Substation assets (W211)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Substation/transformer asset condition, refurbishment and decommission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commissioning → energised → assessment → refurbishment → out_…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substation_asset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GRID OPERATOR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connection · per MW dispatched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SCADA data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SCADA telemetry connector — real-time grid measurement ingestion.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MQTT / OPC-UA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Industrial MQTT / OPC-UA telemetry connector configuration.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Wheeling charges, dispatch nominations and grid-code compliance report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grid-operator audit chain, certified exports and extern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Support / OEM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24 journeys across 4 groups  ·  metered: per ticket · per work order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ITIL Service Mgmt  ·  Field Operations  ·  OEM &amp; Supply Chain  ·  Platform Ops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SUPPORT / OEM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ITIL Service Mgmt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ticket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Tickets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P1-P4 incident ticket queue with SLA timers.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open → in_progress → waiting_on_customer → resolved → closed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Ticket chain (W14)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ITIL incident lifecycle P1–P4 chain.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open → in_progress → resolved → closed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support_tickets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Service requests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ITIL service-request fulfilment chain (W104).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approval_pending → approved → archived → assigned → awaiting_…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service_request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Problem management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ITIL 4 root-cause problem management (W41).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raised → investigation → root_cause_identified → workaround →…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problem_record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Change enablement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ITIL CAB/ECAB change RFC lifecycle (W47).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requested → assessment → cab_review → approved → scheduled →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change_request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Escalations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Tickets escalated to engineering/management.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CSAT lifecycle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Customer satisfaction survey chain (W208).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closed_escalated → closed_satisfied → escalated → follow_up_r…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csat_record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SLA performance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SLA adherence reports (W217).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data_collection → disputed → management_review → 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sla_performance_report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Cyber incident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POPIA s22 / Cybercrimes Act breach response (W26).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closed → contained → detected → escalated → false_alarm → inv…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cyber_incident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SUPPORT / OEM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Field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ticket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Work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P6 field work-order dispatch chain (W16).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planned → assigned → parts_requested → travelling → on_site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work_order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Warranty / RMA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OEM 10-state warranty claim chain (W15).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oem_review → parts_order → repair → close_out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warranty_claim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PM schedule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IEC 62446 PM deferral compliance (W59).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due → work_assigned → completed → deferred → skip…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pm_compliance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SUPPORT / OEM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OEM &amp; 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ticket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Spare parts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VED-critical spare parts replenishment (W72).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requisition → po_issued → backorder → in_transit → received →…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spare_parts_provisioning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Warranty recovery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OEM cost-recovery claim chain (W63).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assessment_complete → claim_drafted → disputed → o…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warranty_recovery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Vuln remediation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CVSS-tiered OT security patching (W55).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triage → patch_available → change_raised → testing → deployed…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security_remediation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OEM FCO/ECN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Field change order and engineering change notifications.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 → approved → cancelled → completed → draft → in_…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oem_fco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SUPPORT / OEM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Platform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8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ticket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MQTT/OPC-UA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OT protocol connector health (W123).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Anomaly ML (W127)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6-method ensemble anomaly detection.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RUL prediction (W128)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Remaining useful life prediction.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Fault fingerprint (W129)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12-mode physics fault classification.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Cross-tenant access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POPIA-logged cross-tenant access log.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Service contracts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O&amp;M service contract register.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cancelled → draft → expired → in_grace → negotiating…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service_contract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SLA performance, CSAT and problem-record reports with pivots and expor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cross-tenant access 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Regulator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24 journeys across 5 groups  ·  metered: per certified export · per case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Licensing  ·  Enforcement  ·  Tariff &amp; Determinations  ·  Levies &amp; Finance  ·  Data &amp; Reporting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REGULATOR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certified export · per case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Licence applications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ERA ss.8-11 initial licence adjudication (W49).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received → completeness_check → public_participation → techni…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licence_application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Licence actions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Active licences — conditions, renewals, cancellations.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Licence renewals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s14-16 renewal chain (W33).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renewal_notice → application_received → technical_review → pu…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licence_renewal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SSEG registration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ERA Sch 2 embedded-gen registration (W57).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conditions_pending → eligibility_screening → exemption_determ…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sseg_registration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REGULATOR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Enforcement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certified export · per case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Surveillance triage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Market surveillance alerts and STOR inbox.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Enforcement events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Enforcement action log — notices, fines, sanctions.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Enforcement actions (ERA s35)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ERA s35 formal enforcement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allegations_drafted → allegations_served → appealed → case_op…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enforcement_action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Compliance inspections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§10/§34 on-site inspections (W40).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notice_issued → on_site → preliminary_findings →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compliance_inspection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Dispositions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§10 regulatory disposition (W31).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action_completed → action_in_progress → action_required → ass…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disposition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Complaint resolution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ERA s30 external complaint chain (W66).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lodged → acknowledged → investigation → consultation → determ…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complaint_resolution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REGULATOR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Tariff &amp; Determinations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certified export · per case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Compliance notices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Outstanding compliance notice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Public consultations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Gazette public consultation chain (W209).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analysis → appeal_resolved → appealed → closed → determinatio…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public_consultation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MYPD tariff determination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 MYPD §15-16 tariff review (W43).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application → completeness → public_participation → technical…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tariff_determination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Market conduct exams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FSCA s41 market conduct examination (W220).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closed_satisfactory → document_request → documents_submitted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market_conduct_exam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REGULATOR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Levies &amp;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certified export · per case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Levy assessments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NERA Act §5B levy assessment chain (W74).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assessed → invoice_issued → final_demand → enforcement → paid…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levy_assessment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Regulatory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Certified export packages (W119).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acknowledged_by_regulator → archived → blocks_selected → coun…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regulator_export_pack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ICFR attestations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Reconciliation attestation packs (W120).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REGULATOR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Data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7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certified export · per case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Regulatory inbox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Cross-chain regulatory inbox — escalated items.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Filing connectors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NERSA/FSCA government filing connectors (W126).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Stage gates (read)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Platform-wide DG gate view (W131).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board_briefing_circulated → cab_held → conditions_…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stage_gate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External controls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Control environment audit (W121).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control_defined → deficiency_assessed → deficient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control_environment_audit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disclosure (read)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ESG disclosure read-only view.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esg_disclosure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Statutory submissions, levy assessments and disposition reports with p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&amp;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chain, certified exports and licence reconciliati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Platform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33 journeys across 6 groups  ·  metered: platform seat · per tenant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Tenants &amp; Users  ·  Platform  ·  Trading Ops  ·  Compliance &amp; Audit  ·  Intelligence  ·  Integrations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Tenants &amp;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Tenant lifecycle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Onboard, KYC, activate, suspend tenants.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Users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User accounts across all tenants.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Feature flags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Global and per-tenant feature flag overrides.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KYC / FICA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KYC verification queue (W198).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automated_screening → compliance_review → conditionally_appro…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kyc_verification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POPIA rights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Data subject access and erasure requests.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PII access log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POPIA s.18/s.19 cross-tenant PII access audit log.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8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Billing runs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subscription billing and invoicing.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Subscription billing (W228)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SaaS-invoice oversight with dunning ladder.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audit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Settlement reconciliation and break review.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Platform audit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Full platform audit log (cascade events).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Cron jobs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Manual cron job trigger and dry-run.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Monitoring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DLQ, cascade errors, system health.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Revenue dashboard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fee revenue by tenant (W-commercial).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/admin/revenue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Reports &amp; exports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events and role-action-queue reports with pivots and exports.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Trading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3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Trading operations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Order book health, circuit breakers.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/ops/depth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operations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Settlement run triggers and reconciliation.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/settlement-ops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Market halt controls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NERSA-authorised market halt controls.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Compliance &amp;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chain (W118)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Merkle audit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anchored → archived → block_proposed → block_signed → forked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audit_chain_block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Regulator exports (W119)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Certified regulatory export packs.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acknowledged_by_regulator → archived → blocks_selected → coun…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regulator_export_pack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Reconciliation attestation (W120)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CA(SA)-signed reconciliation packs.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Control environment (W121)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Annual internal control audit cycle.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control_defined → deficiency_assessed → deficient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control_environment_audit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ESG reporting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Platform-wide ESG aggregate reports.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/esg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Contract templates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contract template registry.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6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Executive dashboard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CEO/COO platform KPI dashboard.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/dashboard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AI intelligence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AI decision audit trail.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/intelligence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Briefing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Daily AI briefings per role.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/briefing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Anomaly detection (W127)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anomaly ML monitoring.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RUL prediction (W128)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remaining-useful-life ML monitoring.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Fault fingerprint (W129)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Platform fault-fingerprint ML monitoring.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PLATFORM ADMIN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platform seat · per tenant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Settlement rails (W124)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STRATE/SWIFT settlement connectors.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ERP connectors (W125)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SAP/Oracle ERP integration.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Filing connectors (W126)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NERSA/SARS government filing.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Marketplace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Connector and service marketplace.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surface: /marketplace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ESCO / O&amp;M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37 journeys across 8 groups  ·  metered: per active facility · per work order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Operations  ·  Site Portfolio  ·  Work Orders  ·  Asset Health &amp; AI  ·  Supply Chain  ·  Safety &amp; Permits  ·  Data &amp; Integrations  ·  Reporting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Operations 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9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Cockpit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Live fleet revenue ticker, fault register, fleet health grid and AI br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Opportunities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Rule-based scan of the fleet for monetisable performance improvements.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Generation sites with live KPIs.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Devices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Inverters, meters, batteries and sensors across all sites.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Faults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Live fault register with Revenue Impact Engine.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Work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12-state WO lifecycle with parts, photos and SLA tracking.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Team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Field technicians — skills, certifications, availability.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Maintenance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Scheduled preventive maintenance auto-creating work orders.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Projects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Portfolio-level project grouping (IPP-linked or standalone).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Operations 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Alerts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All alerts fired across the fleet in the last 7 days.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Site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2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Service contracts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O&amp;M service contract management.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cancelled → draft → expired → in_grace → negotiating…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service_contract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Sites portfolio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Full site portfolio — status, health, capacity.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Work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Work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12-state P6 WO dispatch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assigned → in_progress → on_hold → completed → cancelled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om_work_order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PM compliance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IEC 62446 preventive-maintenance compliance.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scheduled → overdue → in_progress → completed → deferred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pm_compliance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Permit-to-work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OHSA + SANS 10142 control-of-work gate.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requested → under_review → issued → active → closed → revoked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permit_to_work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Commissioning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Site commissioning and energization workflow.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commissioning_failed → decommissioned → devices_registered →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commissioning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Asset Health &amp;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Asset prognostics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Predictive O&amp;M — anomaly, RUL, fault fingerprint.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nominal → anomaly_detected → degrading → maintenance_due → fa…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asset_prognostics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Availability guarantee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IEC 61724 uptime contract and LD tracking.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under_review → breach → cure → settled → waived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availability_guarantee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BESS state-of-health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Battery degradation tracking and augmentation programme.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monitoring → augmentation_required → works_in_progress → reco…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bess_soh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Soiling audit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IEC 61724 soiling losses and cleaning economics.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measured → economics_assessed → cleaning_authorized → post_cl…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soiling_audit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Predictive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AI-derived predictive maintenance signals surfaced weeks ahead.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Supply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Spare parts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VED criticality — requisition → QA → stock → issue.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requisitioned → po_issued → in_transit → received → in_stock 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spare_parts_provisioning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Parts catalogue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Parts catalogue and stock with low-stock reorder flags.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Vendor escalation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CPA §56/§61 vendor claim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open → escalated → under_review → resolved → closed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vendor_escalation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Warranty claims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OEM 10-state RMA workflow.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submitted → accepted → in_repair → shipped → closed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warranty_claim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Warranty recovery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Supplier cost-recovery against warranty defects.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initiated → assessment → settlement → completed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warranty_recovery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Safety &amp; Permits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2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HSE incidents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OHSA s24 + NEMA s30 incident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reported → under_investigation → closed → escalated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hse_incident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Protection tests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NRS 097-2-3 + NERSA Grid Code protection relay and anti-islanding comp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Data &amp;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Ingestion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OEM connections (FusionSolar, SolarEdge, SMA, Sungrow, Modbus, Eskom A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Integrations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Connect inverters and generation assets — credentials, live telemetry,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Data sources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Sensor connections and data-ingest APIs — Modbus, SunSpec, MQTT, REST,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Participant links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Two-party onboarding handshake linking stations to downstream particip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ESCO / O&amp;M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5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active facility · per work order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log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Tamper-evident audit chain and evidence log.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Revenue assurance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Settlement-vs-expected reconciliation and recovery.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reconciling → variance_flagged → recovery_claimed → recovered…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generation_revenue_assurance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Accruals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Real-time generation accrual ledger from inverter data.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Invoices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settlement invoices derived from the accruals ledger.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Carbon credits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Monthly carbon credit records auto-minted from the accruals ledger.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48640"/>
            <a:ext cx="777240" cy="77724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39" b="1">
                <a:solidFill>
                  <a:srgbClr val="005358"/>
                </a:solidFill>
                <a:latin typeface="Archivo"/>
              </a:rPr>
              <a:t>CEC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chivo"/>
              </a:rPr>
              <a:t>EPC Contractor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18E35"/>
                </a:solidFill>
                <a:latin typeface="Archivo"/>
              </a:rPr>
              <a:t>11 journeys across 5 groups  ·  metered: per submittal · per package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Archivo"/>
              </a:rPr>
              <a:t>Document Control  ·  Quality Management  ·  Site Setup  ·  Safety &amp; HSE  ·  Handover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EPC CONTRACTOR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Document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submittal · per package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Submittals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Drawing and document submittal register.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assigned_to_reviewer → closed_out → contractor_dra…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ipp_submittal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RFIs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Request for information log and responses.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Change orders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Contract change order management.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approved → cancelled → deferred → disputed → draft → impact_a…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project_change_order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Technical queries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Technical query register and resolution.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EPC CONTRACTOR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Quality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4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submittal · per package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ITPs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Inspection and test plans.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draft → approved → in_progress → completed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itp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NCRs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Non-conformance reports and corrective action.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open → under_review → corrective_action → closed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ncr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Punch list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Pre-COD punch list items and closure.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open → in_progress → closed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punch_list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Method statements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Construction method statement approvals.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active → approved → archived → closed → drafted → rejected → …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ipp_method_statement  ◆</a:t>
                      </a:r>
                    </a:p>
                  </a:txBody>
                  <a:tcPr anchor="ctr" marT="25400" marB="25400" marL="50800" marR="50800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EPC CONTRACTOR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Site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submittal · per package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Site diary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Daily construction diary and inspection records.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archived → correction_accepted → countersigned → disputed → e…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ipp_construction_diary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EPC CONTRACTOR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Safety &amp; HSE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submittal · per package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HSE incidents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OHSA s24 + NEMA s30 incident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L3</a:t>
                      </a:r>
                    </a:p>
                  </a:txBody>
                  <a:tcPr anchor="ctr" marT="25400" marB="25400" marL="50800" marR="50800">
                    <a:solidFill>
                      <a:srgbClr val="7A8C8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reported → under_investigation → closed → escalated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chain: hse_incident  ◆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8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EPC CONTRACTOR  · 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5358"/>
                </a:solidFill>
                <a:latin typeface="Archivo"/>
              </a:rPr>
              <a:t>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011680" cy="38100"/>
          </a:xfrm>
          <a:prstGeom prst="rect">
            <a:avLst/>
          </a:prstGeom>
          <a:solidFill>
            <a:srgbClr val="00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504D46"/>
                </a:solidFill>
                <a:latin typeface="Archivo"/>
              </a:rPr>
              <a:t>Consolidated Energy Cockpit  ·  A plain-language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04D46"/>
                </a:solidFill>
                <a:latin typeface="Archivo"/>
              </a:rPr>
              <a:t>oe.vantax.co.za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18E35"/>
                </a:solidFill>
                <a:latin typeface="Archivo"/>
              </a:rPr>
              <a:t>1 journeys in this group</a:t>
            </a:r>
            <a:r>
              <a:rPr sz="1050" b="0">
                <a:solidFill>
                  <a:srgbClr val="504D46"/>
                </a:solidFill>
                <a:latin typeface="Archivo"/>
              </a:rPr>
              <a:t>   ·   metered: per submittal · per package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68680"/>
                <a:gridCol w="489204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Journey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Tier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Lifecycle pipeline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chivo"/>
                        </a:rPr>
                        <a:t>Backed by</a:t>
                      </a:r>
                    </a:p>
                  </a:txBody>
                  <a:tcPr anchor="ctr" marT="25400" marB="25400" marL="50800" marR="50800">
                    <a:solidFill>
                      <a:srgbClr val="00535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5358"/>
                          </a:solidFill>
                          <a:latin typeface="Archivo"/>
                        </a:rPr>
                        <a:t>Audit log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504D46"/>
                          </a:solidFill>
                          <a:latin typeface="Archivo"/>
                        </a:rPr>
                        <a:t>Handover documentation and evidence chain.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504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—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B1812"/>
                          </a:solidFill>
                          <a:latin typeface="Archivo"/>
                        </a:rPr>
                        <a:t>list / record surface</a:t>
                      </a:r>
                    </a:p>
                  </a:txBody>
                  <a:tcPr anchor="ctr" marT="25400" marB="254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