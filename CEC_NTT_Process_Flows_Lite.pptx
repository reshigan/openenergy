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828800"/>
            <a:ext cx="2377440" cy="5486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18E35"/>
                </a:solidFill>
                <a:latin typeface="Archivo"/>
              </a:rPr>
              <a:t>CEC · OPEN ENERGY PLATFORM — DUE DILIGENCE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93392"/>
            <a:ext cx="11064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200" b="1" i="0">
                <a:solidFill>
                  <a:srgbClr val="FFFFFF"/>
                </a:solidFill>
                <a:latin typeface="Archivo"/>
              </a:rPr>
              <a:t>Lite Process Flows</a:t>
            </a:r>
          </a:p>
          <a:p>
            <a:r>
              <a:rPr sz="2700" b="1" i="0">
                <a:solidFill>
                  <a:srgbClr val="D18E35"/>
                </a:solidFill>
                <a:latin typeface="Archivo"/>
              </a:rPr>
              <a:t>one process per role — for NTT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11480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0" i="0">
                <a:solidFill>
                  <a:srgbClr val="DFE8E6"/>
                </a:solidFill>
                <a:latin typeface="Archivo"/>
              </a:rPr>
              <a:t>Each role's flagship governed lifecycle as a clean step-by-step flow: what happens at each state, the gate or guard that controls the transition, the terminal outcomes, and the regulatory basis. Companion to the full Process &amp; Functionality dossier deck.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19963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11 role processes · state→state · gates · terminals · regulatory basis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PROCESS 1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IPP Developer — major 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Read top→bottom: each state, the gate that controls it, then the terminal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Lite Process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00784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37360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" y="2153412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70432" y="1700784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70432" y="1700784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1746504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Procurement / RFP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REIPPPP bid → preferred bidder; BBBEE + local-content scored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263140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299716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" y="2715768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70432" y="2263140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70432" y="2263140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2308860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Financial close · drawdown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CPs cleared; lender drawdown against use-of-proceeds certificates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825496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862072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" y="3278124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70432" y="2825496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70432" y="2825496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9888" y="2871215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Construction / COD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EPC build tracked on EVM; Independent-Engineer gate at COD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387852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424428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" y="3840480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70432" y="3387852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70432" y="3387852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9888" y="3433572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Grid connection (GCA)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Grid Connection Agreement executed under Grid Code C-1 (3-terminal)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950207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3986783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" y="4402836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70432" y="3950207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70432" y="3950207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89888" y="3995927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Energisation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Physical energisation; meter + protection sign-off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512564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4549140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70432" y="4512564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70432" y="4512564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89888" y="4558283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Operate &amp; report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Generate, settle PPA, file NERSA regulatory reports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184648"/>
            <a:ext cx="11057839" cy="512064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5184648"/>
            <a:ext cx="64008" cy="51206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" y="5248656"/>
            <a:ext cx="1069207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>
                <a:solidFill>
                  <a:srgbClr val="D18E35"/>
                </a:solidFill>
                <a:latin typeface="Archivo"/>
              </a:rPr>
              <a:t>TERMINALS &amp; GATES   </a:t>
            </a:r>
            <a:r>
              <a:rPr sz="1000" b="0" i="0">
                <a:solidFill>
                  <a:srgbClr val="FFFFFF"/>
                </a:solidFill>
                <a:latin typeface="Archivo"/>
              </a:rPr>
              <a:t>Terminals: cod_certified · energised · operating. Gates: IE certificate, NERSA §C-5.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861304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D18E35"/>
                </a:solidFill>
                <a:latin typeface="Archivo"/>
              </a:rPr>
              <a:t>REGULATORY BASIS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67128" y="5843016"/>
            <a:ext cx="1325880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31136" y="5861304"/>
            <a:ext cx="119786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ERA 2006 ss8–11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575304" y="5843016"/>
            <a:ext cx="1325880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39312" y="5861304"/>
            <a:ext cx="119786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NERSA Grid Code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983480" y="5843016"/>
            <a:ext cx="726033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47488" y="5861304"/>
            <a:ext cx="598017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REIPPPP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91809" y="5843016"/>
            <a:ext cx="950976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55817" y="5861304"/>
            <a:ext cx="8229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NEMA / EIA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25081" y="5843016"/>
            <a:ext cx="576072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89089" y="5861304"/>
            <a:ext cx="44805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FIDIC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PROCESS 1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IPP Developer —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State machine: numbered states flow into the outcome gate, which branches to the terminal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Lite Process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07247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5F2EA"/>
          </a:solidFill>
          <a:ln w="15875">
            <a:solidFill>
              <a:srgbClr val="005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8415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normal close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53904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6ECD8"/>
          </a:solidFill>
          <a:ln w="15875">
            <a:solidFill>
              <a:srgbClr val="D18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55072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conditional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43869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6E3DE"/>
          </a:solidFill>
          <a:ln w="15875">
            <a:solidFill>
              <a:srgbClr val="C25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5037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adverse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700784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700784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1700784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1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Procurement / RFP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542032" y="2235708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2436876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2436876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436876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2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Financial close · drawdown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542032" y="2971800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3172968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172968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172968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3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Construction / COD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2542032" y="3707891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3909060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909060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909060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4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Grid connection (GCA)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2542032" y="4443983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6928" y="4645152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645152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645152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5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Energisation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2542032" y="5180075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66928" y="5381244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381244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5381244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6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Operate &amp; report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81728" y="5639562"/>
            <a:ext cx="804672" cy="0"/>
          </a:xfrm>
          <a:prstGeom prst="line">
            <a:avLst/>
          </a:prstGeom>
          <a:ln w="22225">
            <a:solidFill>
              <a:srgbClr val="0053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486400" y="5337809"/>
            <a:ext cx="6138367" cy="603504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 w="19050">
            <a:solidFill>
              <a:srgbClr val="005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0" y="5337809"/>
            <a:ext cx="64008" cy="60350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05856" y="5337809"/>
            <a:ext cx="5772607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5358"/>
                </a:solidFill>
                <a:latin typeface="Archivo"/>
              </a:rPr>
              <a:t>TERMINAL   </a:t>
            </a:r>
            <a:r>
              <a:rPr sz="1200" b="1" i="0">
                <a:solidFill>
                  <a:srgbClr val="005358"/>
                </a:solidFill>
                <a:latin typeface="Archivo"/>
              </a:rPr>
              <a:t>Operating asset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PROCESS 2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Trader — major 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Read top→bottom: each state, the gate that controls it, then the terminal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Lite Process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00784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37360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" y="2153412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70432" y="1700784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70432" y="1700784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1746504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Pre-trade credit check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Credit / exposure / mark-age / halt / KYC guards gate the order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263140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299716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" y="2715768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70432" y="2263140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70432" y="2263140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2308860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Order entry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Order to book; structured reject reason codes on failure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825496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862072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" y="3278124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70432" y="2825496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70432" y="2825496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9888" y="2871215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Match (OrderBook DO)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OrderBook Durable Object per shard matches; advisory-locked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387852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424428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" y="3840480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70432" y="3387852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70432" y="3387852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9888" y="3433572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Settlement (DvP)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Delivery-versus-payment; margin gate before clearing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950207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3986783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" y="4402836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70432" y="3950207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70432" y="3950207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89888" y="3995927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Trade reporting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OTC report to trade repository (SA-EMIR)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512564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4549140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70432" y="4512564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70432" y="4512564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89888" y="4558283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Surveillance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15-min surveillance scan; STOR raised on abuse pattern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184648"/>
            <a:ext cx="11057839" cy="512064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5184648"/>
            <a:ext cx="64008" cy="51206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" y="5248656"/>
            <a:ext cx="1069207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>
                <a:solidFill>
                  <a:srgbClr val="D18E35"/>
                </a:solidFill>
                <a:latin typeface="Archivo"/>
              </a:rPr>
              <a:t>TERMINALS &amp; GATES   </a:t>
            </a:r>
            <a:r>
              <a:rPr sz="1000" b="0" i="0">
                <a:solidFill>
                  <a:srgbClr val="FFFFFF"/>
                </a:solidFill>
                <a:latin typeface="Archivo"/>
              </a:rPr>
              <a:t>Terminals: cleared | held_for_review · forced-liquidation · kill-switch.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861304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D18E35"/>
                </a:solidFill>
                <a:latin typeface="Archivo"/>
              </a:rPr>
              <a:t>REGULATORY BASIS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67128" y="5843016"/>
            <a:ext cx="1175918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31136" y="5861304"/>
            <a:ext cx="104790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FSCA CS1/2020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25342" y="5843016"/>
            <a:ext cx="501091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89350" y="5861304"/>
            <a:ext cx="373075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FAIS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008729" y="5843016"/>
            <a:ext cx="726033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72737" y="5861304"/>
            <a:ext cx="598017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FMA s41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17059" y="5843016"/>
            <a:ext cx="726033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81067" y="5861304"/>
            <a:ext cx="598017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SA-EMIR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25388" y="5843016"/>
            <a:ext cx="501091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89396" y="5861304"/>
            <a:ext cx="373075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PFMI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PROCESS 2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Trader —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State machine: numbered states flow into the outcome gate, which branches to the terminal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Lite Process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07247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5F2EA"/>
          </a:solidFill>
          <a:ln w="15875">
            <a:solidFill>
              <a:srgbClr val="005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8415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normal close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53904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6ECD8"/>
          </a:solidFill>
          <a:ln w="15875">
            <a:solidFill>
              <a:srgbClr val="D18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55072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conditional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43869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6E3DE"/>
          </a:solidFill>
          <a:ln w="15875">
            <a:solidFill>
              <a:srgbClr val="C25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5037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adverse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700784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700784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1700784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1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Pre-trade credit check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542032" y="2235708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2436876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2436876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436876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2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Order entry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542032" y="2971800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3172968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172968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172968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3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Match (OrderBook DO)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2542032" y="3707891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3909060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909060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909060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4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Settlement (DvP)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2542032" y="4443983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6928" y="4645152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645152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645152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5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Trade reporting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2542032" y="5180075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66928" y="5381244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381244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5381244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6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Surveillance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81728" y="5639562"/>
            <a:ext cx="502920" cy="0"/>
          </a:xfrm>
          <a:prstGeom prst="line">
            <a:avLst/>
          </a:prstGeom>
          <a:ln w="22225">
            <a:solidFill>
              <a:srgbClr val="0053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Diamond 37"/>
          <p:cNvSpPr/>
          <p:nvPr/>
        </p:nvSpPr>
        <p:spPr>
          <a:xfrm>
            <a:off x="5184648" y="5182362"/>
            <a:ext cx="1371600" cy="914400"/>
          </a:xfrm>
          <a:prstGeom prst="diamond">
            <a:avLst/>
          </a:prstGeom>
          <a:solidFill>
            <a:srgbClr val="005358"/>
          </a:solidFill>
          <a:ln w="15875">
            <a:solidFill>
              <a:srgbClr val="D18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Archivo"/>
              </a:rPr>
              <a:t>Clear?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6556248" y="4581144"/>
            <a:ext cx="640080" cy="1058418"/>
          </a:xfrm>
          <a:prstGeom prst="line">
            <a:avLst/>
          </a:prstGeom>
          <a:ln w="17780">
            <a:solidFill>
              <a:srgbClr val="0053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196328" y="4306824"/>
            <a:ext cx="4428439" cy="54864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 w="19050">
            <a:solidFill>
              <a:srgbClr val="005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96328" y="4306824"/>
            <a:ext cx="64008" cy="54864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97496" y="4306824"/>
            <a:ext cx="40626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05358"/>
                </a:solidFill>
                <a:latin typeface="Archivo"/>
              </a:rPr>
              <a:t>Cleared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6556248" y="5330952"/>
            <a:ext cx="640080" cy="308610"/>
          </a:xfrm>
          <a:prstGeom prst="line">
            <a:avLst/>
          </a:prstGeom>
          <a:ln w="17780">
            <a:solidFill>
              <a:srgbClr val="D18E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196328" y="5056632"/>
            <a:ext cx="4428439" cy="548640"/>
          </a:xfrm>
          <a:prstGeom prst="roundRect">
            <a:avLst>
              <a:gd name="adj" fmla="val 6000"/>
            </a:avLst>
          </a:prstGeom>
          <a:solidFill>
            <a:srgbClr val="F6ECD8"/>
          </a:solidFill>
          <a:ln w="19050">
            <a:solidFill>
              <a:srgbClr val="D18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96328" y="5056632"/>
            <a:ext cx="64008" cy="5486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97496" y="5056632"/>
            <a:ext cx="40626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7A551C"/>
                </a:solidFill>
                <a:latin typeface="Archivo"/>
              </a:rPr>
              <a:t>Held for review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556248" y="5639562"/>
            <a:ext cx="640080" cy="441198"/>
          </a:xfrm>
          <a:prstGeom prst="line">
            <a:avLst/>
          </a:prstGeom>
          <a:ln w="17780">
            <a:solidFill>
              <a:srgbClr val="C25B4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196328" y="5806440"/>
            <a:ext cx="4428439" cy="548640"/>
          </a:xfrm>
          <a:prstGeom prst="roundRect">
            <a:avLst>
              <a:gd name="adj" fmla="val 6000"/>
            </a:avLst>
          </a:prstGeom>
          <a:solidFill>
            <a:srgbClr val="F6E3DE"/>
          </a:solidFill>
          <a:ln w="19050">
            <a:solidFill>
              <a:srgbClr val="C25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96328" y="5806440"/>
            <a:ext cx="64008" cy="548640"/>
          </a:xfrm>
          <a:prstGeom prst="rect">
            <a:avLst/>
          </a:prstGeom>
          <a:solidFill>
            <a:srgbClr val="C25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97496" y="5806440"/>
            <a:ext cx="40626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C25B45"/>
                </a:solidFill>
                <a:latin typeface="Archivo"/>
              </a:rPr>
              <a:t>Forced liquidation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PROCESS 3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Lender — major 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Read top→bottom: each state, the gate that controls it, then the terminal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Lite Process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00784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37360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" y="2153412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70432" y="1700784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70432" y="1700784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1746504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Credit origination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NCA / Basel scoring; facility approved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263140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299716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" y="2715768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70432" y="2263140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70432" y="2263140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2308860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CP clearance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Conditions precedent verified before first draw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825496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862072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" y="3278124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70432" y="2825496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70432" y="2825496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9888" y="2871215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Drawdown (UoP)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Drawdown against use-of-proceeds certificates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387852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424428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" y="3840480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70432" y="3387852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70432" y="3387852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9888" y="3433572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Covenant / DSCR monitoring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Covenant certificate + DSCR cron sweep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950207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3986783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" y="4402836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70432" y="3950207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70432" y="3950207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89888" y="3995927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Default / step-in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Event of default → step-in rights asserted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512564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4549140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70432" y="4512564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70432" y="4512564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89888" y="4558283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Cure | restructure | write-off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Cure period, A&amp;E restructure, or write-off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184648"/>
            <a:ext cx="11057839" cy="512064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5184648"/>
            <a:ext cx="64008" cy="51206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" y="5248656"/>
            <a:ext cx="1069207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>
                <a:solidFill>
                  <a:srgbClr val="D18E35"/>
                </a:solidFill>
                <a:latin typeface="Archivo"/>
              </a:rPr>
              <a:t>TERMINALS &amp; GATES   </a:t>
            </a:r>
            <a:r>
              <a:rPr sz="1000" b="0" i="0">
                <a:solidFill>
                  <a:srgbClr val="FFFFFF"/>
                </a:solidFill>
                <a:latin typeface="Archivo"/>
              </a:rPr>
              <a:t>Terminals: cured | restructured | written_off · acceleration.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861304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D18E35"/>
                </a:solidFill>
                <a:latin typeface="Archivo"/>
              </a:rPr>
              <a:t>REGULATORY BASIS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67128" y="5843016"/>
            <a:ext cx="875995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31136" y="5861304"/>
            <a:ext cx="7479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Basel III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125419" y="5843016"/>
            <a:ext cx="1100937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89427" y="5861304"/>
            <a:ext cx="972921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SARB / ExCon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08652" y="5843016"/>
            <a:ext cx="1550822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72660" y="5861304"/>
            <a:ext cx="142280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Equator Principles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41771" y="5843016"/>
            <a:ext cx="426110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05779" y="5861304"/>
            <a:ext cx="29809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LMA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50177" y="5843016"/>
            <a:ext cx="651052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14185" y="5861304"/>
            <a:ext cx="52303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IFRS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PROCESS 3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Lender —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State machine: numbered states flow into the outcome gate, which branches to the terminal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Lite Process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07247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5F2EA"/>
          </a:solidFill>
          <a:ln w="15875">
            <a:solidFill>
              <a:srgbClr val="005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8415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normal close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53904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6ECD8"/>
          </a:solidFill>
          <a:ln w="15875">
            <a:solidFill>
              <a:srgbClr val="D18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55072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conditional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43869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6E3DE"/>
          </a:solidFill>
          <a:ln w="15875">
            <a:solidFill>
              <a:srgbClr val="C25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5037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adverse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700784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700784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1700784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1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Credit origination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542032" y="2235708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2436876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2436876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436876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2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CP clearance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542032" y="2971800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3172968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172968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172968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3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Drawdown (UoP)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2542032" y="3707891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3909060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909060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909060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4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Covenant / DSCR monitoring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2542032" y="4443983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6928" y="4645152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645152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645152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5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Default / step-in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2542032" y="5180075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66928" y="5381244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381244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5381244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6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Cure | restructure | write-off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81728" y="5639562"/>
            <a:ext cx="502920" cy="0"/>
          </a:xfrm>
          <a:prstGeom prst="line">
            <a:avLst/>
          </a:prstGeom>
          <a:ln w="22225">
            <a:solidFill>
              <a:srgbClr val="0053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Diamond 37"/>
          <p:cNvSpPr/>
          <p:nvPr/>
        </p:nvSpPr>
        <p:spPr>
          <a:xfrm>
            <a:off x="5184648" y="5182362"/>
            <a:ext cx="1371600" cy="914400"/>
          </a:xfrm>
          <a:prstGeom prst="diamond">
            <a:avLst/>
          </a:prstGeom>
          <a:solidFill>
            <a:srgbClr val="005358"/>
          </a:solidFill>
          <a:ln w="15875">
            <a:solidFill>
              <a:srgbClr val="D18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Archivo"/>
              </a:rPr>
              <a:t>Cure?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6556248" y="4581144"/>
            <a:ext cx="640080" cy="1058418"/>
          </a:xfrm>
          <a:prstGeom prst="line">
            <a:avLst/>
          </a:prstGeom>
          <a:ln w="17780">
            <a:solidFill>
              <a:srgbClr val="0053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196328" y="4306824"/>
            <a:ext cx="4428439" cy="54864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 w="19050">
            <a:solidFill>
              <a:srgbClr val="005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96328" y="4306824"/>
            <a:ext cx="64008" cy="54864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97496" y="4306824"/>
            <a:ext cx="40626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05358"/>
                </a:solidFill>
                <a:latin typeface="Archivo"/>
              </a:rPr>
              <a:t>Cured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6556248" y="5330952"/>
            <a:ext cx="640080" cy="308610"/>
          </a:xfrm>
          <a:prstGeom prst="line">
            <a:avLst/>
          </a:prstGeom>
          <a:ln w="17780">
            <a:solidFill>
              <a:srgbClr val="D18E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196328" y="5056632"/>
            <a:ext cx="4428439" cy="548640"/>
          </a:xfrm>
          <a:prstGeom prst="roundRect">
            <a:avLst>
              <a:gd name="adj" fmla="val 6000"/>
            </a:avLst>
          </a:prstGeom>
          <a:solidFill>
            <a:srgbClr val="F6ECD8"/>
          </a:solidFill>
          <a:ln w="19050">
            <a:solidFill>
              <a:srgbClr val="D18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96328" y="5056632"/>
            <a:ext cx="64008" cy="5486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97496" y="5056632"/>
            <a:ext cx="40626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7A551C"/>
                </a:solidFill>
                <a:latin typeface="Archivo"/>
              </a:rPr>
              <a:t>Restructured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556248" y="5639562"/>
            <a:ext cx="640080" cy="441198"/>
          </a:xfrm>
          <a:prstGeom prst="line">
            <a:avLst/>
          </a:prstGeom>
          <a:ln w="17780">
            <a:solidFill>
              <a:srgbClr val="C25B4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196328" y="5806440"/>
            <a:ext cx="4428439" cy="548640"/>
          </a:xfrm>
          <a:prstGeom prst="roundRect">
            <a:avLst>
              <a:gd name="adj" fmla="val 6000"/>
            </a:avLst>
          </a:prstGeom>
          <a:solidFill>
            <a:srgbClr val="F6E3DE"/>
          </a:solidFill>
          <a:ln w="19050">
            <a:solidFill>
              <a:srgbClr val="C25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96328" y="5806440"/>
            <a:ext cx="64008" cy="548640"/>
          </a:xfrm>
          <a:prstGeom prst="rect">
            <a:avLst/>
          </a:prstGeom>
          <a:solidFill>
            <a:srgbClr val="C25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97496" y="5806440"/>
            <a:ext cx="40626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C25B45"/>
                </a:solidFill>
                <a:latin typeface="Archivo"/>
              </a:rPr>
              <a:t>Written off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PROCESS 4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Offtaker — major 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Read top→bottom: each state, the gate that controls it, then the terminal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Lite Process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00784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37360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" y="2153412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70432" y="1700784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70432" y="1700784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1746504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PPA contract exec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PPA executed under NERSA s34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263140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299716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" y="2715768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70432" y="2263140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70432" y="2263140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2308860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Nomination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Day-ahead nomination of contracted volume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825496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862072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" y="3278124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70432" y="2825496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70432" y="2825496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9888" y="2871215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Delivery / metering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Metered delivery vs contracted profile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387852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424428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" y="3840480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70432" y="3387852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70432" y="3387852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9888" y="3433572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Annual true-up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Annual reconciliation / true-up vs CPI-indexed tariff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950207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3986783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" y="4402836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70432" y="3950207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70432" y="3950207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89888" y="3995927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Take-or-pay / curtailment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Under-nomination accrues take-or-pay (INVERTED SLA)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512564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4549140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70432" y="4512564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70432" y="4512564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89888" y="4558283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Payment security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LC / guarantee drawn on payment default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184648"/>
            <a:ext cx="11057839" cy="512064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5184648"/>
            <a:ext cx="64008" cy="51206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" y="5248656"/>
            <a:ext cx="1069207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>
                <a:solidFill>
                  <a:srgbClr val="D18E35"/>
                </a:solidFill>
                <a:latin typeface="Archivo"/>
              </a:rPr>
              <a:t>TERMINALS &amp; GATES   </a:t>
            </a:r>
            <a:r>
              <a:rPr sz="1000" b="0" i="0">
                <a:solidFill>
                  <a:srgbClr val="FFFFFF"/>
                </a:solidFill>
                <a:latin typeface="Archivo"/>
              </a:rPr>
              <a:t>Terminals: forfeit · involuntary-termination. Cross-role: claim → generator IPP.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861304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D18E35"/>
                </a:solidFill>
                <a:latin typeface="Archivo"/>
              </a:rPr>
              <a:t>REGULATORY BASIS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67128" y="5843016"/>
            <a:ext cx="875995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31136" y="5861304"/>
            <a:ext cx="7479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NERSA s34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125419" y="5843016"/>
            <a:ext cx="801014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89427" y="5861304"/>
            <a:ext cx="67299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ERA 2006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008729" y="5843016"/>
            <a:ext cx="726033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72737" y="5861304"/>
            <a:ext cx="598017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IFRS 16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17059" y="5843016"/>
            <a:ext cx="875995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81067" y="5861304"/>
            <a:ext cx="7479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IEC 61724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775350" y="5843016"/>
            <a:ext cx="576072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39358" y="5861304"/>
            <a:ext cx="44805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I-REC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PROCESS 4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Offtaker —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State machine: numbered states flow into the outcome gate, which branches to the terminal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Lite Process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07247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5F2EA"/>
          </a:solidFill>
          <a:ln w="15875">
            <a:solidFill>
              <a:srgbClr val="005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8415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normal close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53904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6ECD8"/>
          </a:solidFill>
          <a:ln w="15875">
            <a:solidFill>
              <a:srgbClr val="D18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55072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conditional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43869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6E3DE"/>
          </a:solidFill>
          <a:ln w="15875">
            <a:solidFill>
              <a:srgbClr val="C25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5037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adverse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700784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700784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1700784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1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PPA contract exec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542032" y="2235708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2436876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2436876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436876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2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Nomination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542032" y="2971800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3172968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172968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172968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3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Delivery / metering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2542032" y="3707891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3909060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909060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909060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4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Annual true-up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2542032" y="4443983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6928" y="4645152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645152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645152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5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Take-or-pay / curtailment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2542032" y="5180075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66928" y="5381244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381244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5381244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6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Payment security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81728" y="5639562"/>
            <a:ext cx="502920" cy="0"/>
          </a:xfrm>
          <a:prstGeom prst="line">
            <a:avLst/>
          </a:prstGeom>
          <a:ln w="22225">
            <a:solidFill>
              <a:srgbClr val="0053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Diamond 37"/>
          <p:cNvSpPr/>
          <p:nvPr/>
        </p:nvSpPr>
        <p:spPr>
          <a:xfrm>
            <a:off x="5184648" y="5182362"/>
            <a:ext cx="1371600" cy="914400"/>
          </a:xfrm>
          <a:prstGeom prst="diamond">
            <a:avLst/>
          </a:prstGeom>
          <a:solidFill>
            <a:srgbClr val="005358"/>
          </a:solidFill>
          <a:ln w="15875">
            <a:solidFill>
              <a:srgbClr val="D18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Archivo"/>
              </a:rPr>
              <a:t>Delivered?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6556248" y="4581144"/>
            <a:ext cx="640080" cy="1058418"/>
          </a:xfrm>
          <a:prstGeom prst="line">
            <a:avLst/>
          </a:prstGeom>
          <a:ln w="17780">
            <a:solidFill>
              <a:srgbClr val="0053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196328" y="4306824"/>
            <a:ext cx="4428439" cy="54864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 w="19050">
            <a:solidFill>
              <a:srgbClr val="005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96328" y="4306824"/>
            <a:ext cx="64008" cy="54864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97496" y="4306824"/>
            <a:ext cx="40626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05358"/>
                </a:solidFill>
                <a:latin typeface="Archivo"/>
              </a:rPr>
              <a:t>Settled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6556248" y="5330952"/>
            <a:ext cx="640080" cy="308610"/>
          </a:xfrm>
          <a:prstGeom prst="line">
            <a:avLst/>
          </a:prstGeom>
          <a:ln w="17780">
            <a:solidFill>
              <a:srgbClr val="D18E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196328" y="5056632"/>
            <a:ext cx="4428439" cy="548640"/>
          </a:xfrm>
          <a:prstGeom prst="roundRect">
            <a:avLst>
              <a:gd name="adj" fmla="val 6000"/>
            </a:avLst>
          </a:prstGeom>
          <a:solidFill>
            <a:srgbClr val="F6ECD8"/>
          </a:solidFill>
          <a:ln w="19050">
            <a:solidFill>
              <a:srgbClr val="D18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96328" y="5056632"/>
            <a:ext cx="64008" cy="5486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97496" y="5056632"/>
            <a:ext cx="40626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7A551C"/>
                </a:solidFill>
                <a:latin typeface="Archivo"/>
              </a:rPr>
              <a:t>Take-or-pay invoiced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556248" y="5639562"/>
            <a:ext cx="640080" cy="441198"/>
          </a:xfrm>
          <a:prstGeom prst="line">
            <a:avLst/>
          </a:prstGeom>
          <a:ln w="17780">
            <a:solidFill>
              <a:srgbClr val="C25B4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196328" y="5806440"/>
            <a:ext cx="4428439" cy="548640"/>
          </a:xfrm>
          <a:prstGeom prst="roundRect">
            <a:avLst>
              <a:gd name="adj" fmla="val 6000"/>
            </a:avLst>
          </a:prstGeom>
          <a:solidFill>
            <a:srgbClr val="F6E3DE"/>
          </a:solidFill>
          <a:ln w="19050">
            <a:solidFill>
              <a:srgbClr val="C25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96328" y="5806440"/>
            <a:ext cx="64008" cy="548640"/>
          </a:xfrm>
          <a:prstGeom prst="rect">
            <a:avLst/>
          </a:prstGeom>
          <a:solidFill>
            <a:srgbClr val="C25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97496" y="5806440"/>
            <a:ext cx="40626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C25B45"/>
                </a:solidFill>
                <a:latin typeface="Archivo"/>
              </a:rPr>
              <a:t>Forfeit / termination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PROCESS 5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Carbon Fund — major 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Read top→bottom: each state, the gate that controls it, then the terminal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Lite Process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00784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37360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" y="2153412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70432" y="1700784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70432" y="1700784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1746504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Registration / PDD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PDD registered; PoA-CPA inclusion + geo double-count guard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263140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299716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" y="2715768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70432" y="2263140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70432" y="2263140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2308860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MRV submission (14-state)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14-state monitoring-reporting-verification chain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825496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862072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" y="3278124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70432" y="2825496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70432" y="2825496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9888" y="2871215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Verification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Independent VVB verification of MRV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387852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424428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" y="3840480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70432" y="3387852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70432" y="3387852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9888" y="3433572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Issuance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Credits issued to registry (tamper-evident ledger)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950207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3986783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" y="4402836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70432" y="3950207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70432" y="3950207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89888" y="3995927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Retirement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Per-scope retirement SLAs; buffer-pool on reversal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512564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4549140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70432" y="4512564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70432" y="4512564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89888" y="4558283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Article-6 adjustment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ITMO corresponding adjustment (Paris Art 6.4)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184648"/>
            <a:ext cx="11057839" cy="512064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5184648"/>
            <a:ext cx="64008" cy="51206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" y="5248656"/>
            <a:ext cx="1069207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>
                <a:solidFill>
                  <a:srgbClr val="D18E35"/>
                </a:solidFill>
                <a:latin typeface="Archivo"/>
              </a:rPr>
              <a:t>TERMINALS &amp; GATES   </a:t>
            </a:r>
            <a:r>
              <a:rPr sz="1000" b="0" i="0">
                <a:solidFill>
                  <a:srgbClr val="FFFFFF"/>
                </a:solidFill>
                <a:latin typeface="Archivo"/>
              </a:rPr>
              <a:t>Terminals: issued · retired · clawback. Mostly L5 — tamper-evident throughout.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861304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D18E35"/>
                </a:solidFill>
                <a:latin typeface="Archivo"/>
              </a:rPr>
              <a:t>REGULATORY BASIS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67128" y="5843016"/>
            <a:ext cx="1175918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31136" y="5861304"/>
            <a:ext cx="104790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Paris Art 6.4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25342" y="5843016"/>
            <a:ext cx="1175918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89350" y="5861304"/>
            <a:ext cx="104790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Gold Standard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683556" y="5843016"/>
            <a:ext cx="875995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47564" y="5861304"/>
            <a:ext cx="7479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Verra VCS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41848" y="5843016"/>
            <a:ext cx="1250899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05856" y="5861304"/>
            <a:ext cx="1122883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Carbon Tax Act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75043" y="5843016"/>
            <a:ext cx="576072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39051" y="5861304"/>
            <a:ext cx="44805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ICVCM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PROCESS 5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Carbon Fund —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State machine: numbered states flow into the outcome gate, which branches to the terminal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Lite Process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07247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5F2EA"/>
          </a:solidFill>
          <a:ln w="15875">
            <a:solidFill>
              <a:srgbClr val="005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8415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normal close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53904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6ECD8"/>
          </a:solidFill>
          <a:ln w="15875">
            <a:solidFill>
              <a:srgbClr val="D18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55072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conditional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43869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6E3DE"/>
          </a:solidFill>
          <a:ln w="15875">
            <a:solidFill>
              <a:srgbClr val="C25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5037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adverse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700784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700784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1700784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1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Registration / PDD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542032" y="2235708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2436876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2436876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436876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2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MRV submission (14-state)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542032" y="2971800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3172968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172968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172968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3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Verification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2542032" y="3707891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3909060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909060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909060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4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Issuance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2542032" y="4443983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6928" y="4645152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645152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645152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5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Retirement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2542032" y="5180075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66928" y="5381244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381244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5381244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6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Article-6 adjustment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81728" y="5639562"/>
            <a:ext cx="502920" cy="0"/>
          </a:xfrm>
          <a:prstGeom prst="line">
            <a:avLst/>
          </a:prstGeom>
          <a:ln w="22225">
            <a:solidFill>
              <a:srgbClr val="0053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Diamond 37"/>
          <p:cNvSpPr/>
          <p:nvPr/>
        </p:nvSpPr>
        <p:spPr>
          <a:xfrm>
            <a:off x="5184648" y="5182362"/>
            <a:ext cx="1371600" cy="914400"/>
          </a:xfrm>
          <a:prstGeom prst="diamond">
            <a:avLst/>
          </a:prstGeom>
          <a:solidFill>
            <a:srgbClr val="005358"/>
          </a:solidFill>
          <a:ln w="15875">
            <a:solidFill>
              <a:srgbClr val="D18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Archivo"/>
              </a:rPr>
              <a:t>Verified?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6556248" y="5264657"/>
            <a:ext cx="640080" cy="374905"/>
          </a:xfrm>
          <a:prstGeom prst="line">
            <a:avLst/>
          </a:prstGeom>
          <a:ln w="17780">
            <a:solidFill>
              <a:srgbClr val="0053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196328" y="4990338"/>
            <a:ext cx="4428439" cy="54864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 w="19050">
            <a:solidFill>
              <a:srgbClr val="005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96328" y="4990338"/>
            <a:ext cx="64008" cy="54864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97496" y="4990338"/>
            <a:ext cx="40626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05358"/>
                </a:solidFill>
                <a:latin typeface="Archivo"/>
              </a:rPr>
              <a:t>Issued → Retired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556248" y="5639562"/>
            <a:ext cx="640080" cy="374904"/>
          </a:xfrm>
          <a:prstGeom prst="line">
            <a:avLst/>
          </a:prstGeom>
          <a:ln w="17780">
            <a:solidFill>
              <a:srgbClr val="C25B4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196328" y="5740146"/>
            <a:ext cx="4428439" cy="548640"/>
          </a:xfrm>
          <a:prstGeom prst="roundRect">
            <a:avLst>
              <a:gd name="adj" fmla="val 6000"/>
            </a:avLst>
          </a:prstGeom>
          <a:solidFill>
            <a:srgbClr val="F6E3DE"/>
          </a:solidFill>
          <a:ln w="19050">
            <a:solidFill>
              <a:srgbClr val="C25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96328" y="5740146"/>
            <a:ext cx="64008" cy="548640"/>
          </a:xfrm>
          <a:prstGeom prst="rect">
            <a:avLst/>
          </a:prstGeom>
          <a:solidFill>
            <a:srgbClr val="C25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97496" y="5740146"/>
            <a:ext cx="40626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C25B45"/>
                </a:solidFill>
                <a:latin typeface="Archivo"/>
              </a:rPr>
              <a:t>Clawback / buffer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PROCESS 6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Grid Operator — major 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Read top→bottom: each state, the gate that controls it, then the terminal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Lite Process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00784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37360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" y="2153412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70432" y="1700784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70432" y="1700784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1746504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Connection (GCA)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Grid Connection Agreement, Code C-1 (3-terminal)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263140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299716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" y="2715768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70432" y="2263140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70432" y="2263140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2308860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Capacity allocation / queue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Capacity queue allocation upstream of connection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825496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862072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" y="3278124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70432" y="2825496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70432" y="2825496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9888" y="2871215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Energisation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Energisation sign-off; protection + metering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387852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424428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" y="3840480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70432" y="3387852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70432" y="3387852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9888" y="3433572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Dispatch nomination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BRP→SO dispatch nomination + dispute path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950207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3986783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" y="4402836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70432" y="3950207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70432" y="3950207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89888" y="3995927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Reserve / curtailment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Reserve activation; CSC-1 curtailment (tighter stage = tighter SLA)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512564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4549140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70432" y="4512564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70432" y="4512564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89888" y="4558283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Imbalance settlement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MTU-priced imbalance settlement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184648"/>
            <a:ext cx="11057839" cy="512064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5184648"/>
            <a:ext cx="64008" cy="51206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" y="5248656"/>
            <a:ext cx="1069207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>
                <a:solidFill>
                  <a:srgbClr val="D18E35"/>
                </a:solidFill>
                <a:latin typeface="Archivo"/>
              </a:rPr>
              <a:t>TERMINALS &amp; GATES   </a:t>
            </a:r>
            <a:r>
              <a:rPr sz="1000" b="0" i="0">
                <a:solidFill>
                  <a:srgbClr val="FFFFFF"/>
                </a:solidFill>
                <a:latin typeface="Archivo"/>
              </a:rPr>
              <a:t>Terminals: curtailment · dispute. Cross-role: GCA &amp; energisation ↔ IPP.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861304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D18E35"/>
                </a:solidFill>
                <a:latin typeface="Archivo"/>
              </a:rPr>
              <a:t>REGULATORY BASIS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67128" y="5843016"/>
            <a:ext cx="1325880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31136" y="5861304"/>
            <a:ext cx="119786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NERSA Grid Code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575304" y="5843016"/>
            <a:ext cx="726033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39312" y="5861304"/>
            <a:ext cx="598017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NRS 097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83633" y="5843016"/>
            <a:ext cx="875995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47641" y="5861304"/>
            <a:ext cx="7479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IEC 61850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41924" y="5843016"/>
            <a:ext cx="950976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05932" y="5861304"/>
            <a:ext cx="8229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NTCSA 2024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75196" y="5843016"/>
            <a:ext cx="726033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39204" y="5861304"/>
            <a:ext cx="598017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ERA s24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PROCESS 6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Grid Operator —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State machine: numbered states flow into the outcome gate, which branches to the terminal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Lite Process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07247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5F2EA"/>
          </a:solidFill>
          <a:ln w="15875">
            <a:solidFill>
              <a:srgbClr val="005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8415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normal close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53904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6ECD8"/>
          </a:solidFill>
          <a:ln w="15875">
            <a:solidFill>
              <a:srgbClr val="D18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55072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conditional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43869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6E3DE"/>
          </a:solidFill>
          <a:ln w="15875">
            <a:solidFill>
              <a:srgbClr val="C25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5037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adverse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700784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700784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1700784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1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Connection (GCA)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542032" y="2235708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2436876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2436876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436876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2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Capacity allocation / queue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542032" y="2971800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3172968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172968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172968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3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Energisation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2542032" y="3707891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3909060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909060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909060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4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Dispatch nomination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2542032" y="4443983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6928" y="4645152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645152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645152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5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Reserve / curtailment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2542032" y="5180075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66928" y="5381244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381244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5381244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6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Imbalance settlement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81728" y="5639562"/>
            <a:ext cx="502920" cy="0"/>
          </a:xfrm>
          <a:prstGeom prst="line">
            <a:avLst/>
          </a:prstGeom>
          <a:ln w="22225">
            <a:solidFill>
              <a:srgbClr val="0053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Diamond 37"/>
          <p:cNvSpPr/>
          <p:nvPr/>
        </p:nvSpPr>
        <p:spPr>
          <a:xfrm>
            <a:off x="5184648" y="5182362"/>
            <a:ext cx="1371600" cy="914400"/>
          </a:xfrm>
          <a:prstGeom prst="diamond">
            <a:avLst/>
          </a:prstGeom>
          <a:solidFill>
            <a:srgbClr val="005358"/>
          </a:solidFill>
          <a:ln w="15875">
            <a:solidFill>
              <a:srgbClr val="D18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Archivo"/>
              </a:rPr>
              <a:t>Balanced?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6556248" y="4581144"/>
            <a:ext cx="640080" cy="1058418"/>
          </a:xfrm>
          <a:prstGeom prst="line">
            <a:avLst/>
          </a:prstGeom>
          <a:ln w="17780">
            <a:solidFill>
              <a:srgbClr val="0053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196328" y="4306824"/>
            <a:ext cx="4428439" cy="54864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 w="19050">
            <a:solidFill>
              <a:srgbClr val="005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96328" y="4306824"/>
            <a:ext cx="64008" cy="54864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97496" y="4306824"/>
            <a:ext cx="40626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05358"/>
                </a:solidFill>
                <a:latin typeface="Archivo"/>
              </a:rPr>
              <a:t>Imbalance settled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6556248" y="5330952"/>
            <a:ext cx="640080" cy="308610"/>
          </a:xfrm>
          <a:prstGeom prst="line">
            <a:avLst/>
          </a:prstGeom>
          <a:ln w="17780">
            <a:solidFill>
              <a:srgbClr val="D18E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196328" y="5056632"/>
            <a:ext cx="4428439" cy="548640"/>
          </a:xfrm>
          <a:prstGeom prst="roundRect">
            <a:avLst>
              <a:gd name="adj" fmla="val 6000"/>
            </a:avLst>
          </a:prstGeom>
          <a:solidFill>
            <a:srgbClr val="F6ECD8"/>
          </a:solidFill>
          <a:ln w="19050">
            <a:solidFill>
              <a:srgbClr val="D18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96328" y="5056632"/>
            <a:ext cx="64008" cy="5486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97496" y="5056632"/>
            <a:ext cx="40626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7A551C"/>
                </a:solidFill>
                <a:latin typeface="Archivo"/>
              </a:rPr>
              <a:t>Curtailment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556248" y="5639562"/>
            <a:ext cx="640080" cy="441198"/>
          </a:xfrm>
          <a:prstGeom prst="line">
            <a:avLst/>
          </a:prstGeom>
          <a:ln w="17780">
            <a:solidFill>
              <a:srgbClr val="C25B4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196328" y="5806440"/>
            <a:ext cx="4428439" cy="548640"/>
          </a:xfrm>
          <a:prstGeom prst="roundRect">
            <a:avLst>
              <a:gd name="adj" fmla="val 6000"/>
            </a:avLst>
          </a:prstGeom>
          <a:solidFill>
            <a:srgbClr val="F6E3DE"/>
          </a:solidFill>
          <a:ln w="19050">
            <a:solidFill>
              <a:srgbClr val="C25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96328" y="5806440"/>
            <a:ext cx="64008" cy="548640"/>
          </a:xfrm>
          <a:prstGeom prst="rect">
            <a:avLst/>
          </a:prstGeom>
          <a:solidFill>
            <a:srgbClr val="C25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97496" y="5806440"/>
            <a:ext cx="40626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C25B45"/>
                </a:solidFill>
                <a:latin typeface="Archivo"/>
              </a:rPr>
              <a:t>Dispute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PROCESS 7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Support / OEM — major 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Read top→bottom: each state, the gate that controls it, then the terminal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Lite Process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00784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37360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" y="2153412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70432" y="1700784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70432" y="1700784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1746504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Ticket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Priority-tiered SLA ticket raised (ITIL4)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263140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299716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" y="2715768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70432" y="2263140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70432" y="2263140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2308860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Work-order dispatch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Field work-order dispatched; critical crosses to Grid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825496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862072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" y="3278124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70432" y="2825496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70432" y="2825496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9888" y="2871215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RMA / warranty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RMA / warranty claim + recovery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387852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424428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" y="3840480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70432" y="3387852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70432" y="3387852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9888" y="3433572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Problem (root-cause)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ITIL root-cause problem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950207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3986783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" y="4402836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70432" y="3950207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70432" y="3950207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89888" y="3995927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Change enablement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RFC / change with ECAB fast-path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512564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4549140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70432" y="4512564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70432" y="4512564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89888" y="4558283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Security remediation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OT vulnerability remediation, CVSS-scored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184648"/>
            <a:ext cx="11057839" cy="512064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5184648"/>
            <a:ext cx="64008" cy="51206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" y="5248656"/>
            <a:ext cx="1069207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>
                <a:solidFill>
                  <a:srgbClr val="D18E35"/>
                </a:solidFill>
                <a:latin typeface="Archivo"/>
              </a:rPr>
              <a:t>TERMINALS &amp; GATES   </a:t>
            </a:r>
            <a:r>
              <a:rPr sz="1000" b="0" i="0">
                <a:solidFill>
                  <a:srgbClr val="FFFFFF"/>
                </a:solidFill>
                <a:latin typeface="Archivo"/>
              </a:rPr>
              <a:t>Terminals: resolved · closed. Asset-prognostics (W71) feeds spare-parts (W72).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861304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D18E35"/>
                </a:solidFill>
                <a:latin typeface="Archivo"/>
              </a:rPr>
              <a:t>REGULATORY BASIS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67128" y="5843016"/>
            <a:ext cx="651052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31136" y="5861304"/>
            <a:ext cx="52303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ITIL 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900476" y="5843016"/>
            <a:ext cx="501091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64484" y="5861304"/>
            <a:ext cx="373075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OHSA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83864" y="5843016"/>
            <a:ext cx="875995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47872" y="5861304"/>
            <a:ext cx="7479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IEC 62446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42155" y="5843016"/>
            <a:ext cx="950976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06163" y="5861304"/>
            <a:ext cx="8229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NRCS / CPA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PROCESS 7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Support / OEM —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State machine: numbered states flow into the outcome gate, which branches to the terminal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Lite Process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07247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5F2EA"/>
          </a:solidFill>
          <a:ln w="15875">
            <a:solidFill>
              <a:srgbClr val="005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8415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normal close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53904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6ECD8"/>
          </a:solidFill>
          <a:ln w="15875">
            <a:solidFill>
              <a:srgbClr val="D18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55072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conditional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43869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6E3DE"/>
          </a:solidFill>
          <a:ln w="15875">
            <a:solidFill>
              <a:srgbClr val="C25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5037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adverse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700784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700784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1700784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1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Ticket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542032" y="2235708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2436876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2436876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436876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2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Work-order dispatch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542032" y="2971800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3172968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172968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172968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3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RMA / warranty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2542032" y="3707891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3909060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909060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909060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4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Problem (root-cause)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2542032" y="4443983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6928" y="4645152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645152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645152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5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Change enablement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2542032" y="5180075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66928" y="5381244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381244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5381244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6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Security remediation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81728" y="5639562"/>
            <a:ext cx="804672" cy="0"/>
          </a:xfrm>
          <a:prstGeom prst="line">
            <a:avLst/>
          </a:prstGeom>
          <a:ln w="22225">
            <a:solidFill>
              <a:srgbClr val="0053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486400" y="5337809"/>
            <a:ext cx="6138367" cy="603504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 w="19050">
            <a:solidFill>
              <a:srgbClr val="005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0" y="5337809"/>
            <a:ext cx="64008" cy="60350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05856" y="5337809"/>
            <a:ext cx="5772607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5358"/>
                </a:solidFill>
                <a:latin typeface="Archivo"/>
              </a:rPr>
              <a:t>TERMINAL   </a:t>
            </a:r>
            <a:r>
              <a:rPr sz="1200" b="1" i="0">
                <a:solidFill>
                  <a:srgbClr val="005358"/>
                </a:solidFill>
                <a:latin typeface="Archivo"/>
              </a:rPr>
              <a:t>Resolved / closed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PROCESS 8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Regulator — major 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Read top→bottom: each state, the gate that controls it, then the terminal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Lite Process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00784"/>
            <a:ext cx="475488" cy="493776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37360"/>
            <a:ext cx="4754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" y="2194560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70432" y="1700784"/>
            <a:ext cx="10454335" cy="493776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70432" y="1700784"/>
            <a:ext cx="54864" cy="493776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1746504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Licence application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NERSA licence application (ERA ss8–11)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304288"/>
            <a:ext cx="475488" cy="493776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340864"/>
            <a:ext cx="4754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" y="2798064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70432" y="2304288"/>
            <a:ext cx="10454335" cy="493776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70432" y="2304288"/>
            <a:ext cx="54864" cy="493776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2350008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Compliance inspection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Inspection §10 / §34 / §35; grid-code compliance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907792"/>
            <a:ext cx="475488" cy="493776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944368"/>
            <a:ext cx="4754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" y="3401568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70432" y="2907792"/>
            <a:ext cx="10454335" cy="493776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70432" y="2907792"/>
            <a:ext cx="54864" cy="493776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9888" y="2953512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Enforcement (s35)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s35 enforcement action raised on breach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511296"/>
            <a:ext cx="475488" cy="493776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547872"/>
            <a:ext cx="4754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" y="4005072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70432" y="3511296"/>
            <a:ext cx="10454335" cy="493776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70432" y="3511296"/>
            <a:ext cx="54864" cy="493776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9888" y="3557015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Disposition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Disposition — all cross-role crossings feed here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114800"/>
            <a:ext cx="475488" cy="493776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4151376"/>
            <a:ext cx="4754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70432" y="4114800"/>
            <a:ext cx="10454335" cy="493776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70432" y="4114800"/>
            <a:ext cx="54864" cy="493776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89888" y="4160520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Certified export pack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Certified export pack (XBRL) from hash-chain ledger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828032"/>
            <a:ext cx="11057839" cy="512064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4828032"/>
            <a:ext cx="64008" cy="51206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4892040"/>
            <a:ext cx="1069207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>
                <a:solidFill>
                  <a:srgbClr val="D18E35"/>
                </a:solidFill>
                <a:latin typeface="Archivo"/>
              </a:rPr>
              <a:t>TERMINALS &amp; GATES   </a:t>
            </a:r>
            <a:r>
              <a:rPr sz="1000" b="0" i="0">
                <a:solidFill>
                  <a:srgbClr val="FFFFFF"/>
                </a:solidFill>
                <a:latin typeface="Archivo"/>
              </a:rPr>
              <a:t>Terminals: granted | refused (refuse = ALL). Regulator-grade L5.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504688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D18E35"/>
                </a:solidFill>
                <a:latin typeface="Archivo"/>
              </a:rPr>
              <a:t>REGULATORY BASIS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67128" y="5486400"/>
            <a:ext cx="1175918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31136" y="5504688"/>
            <a:ext cx="104790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ERA s10/24/35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25342" y="5486400"/>
            <a:ext cx="501091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89350" y="5504688"/>
            <a:ext cx="373075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PAJA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008729" y="5486400"/>
            <a:ext cx="1700784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72737" y="5504688"/>
            <a:ext cx="157276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NERSA Penalties 2018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91809" y="5486400"/>
            <a:ext cx="576072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55817" y="5504688"/>
            <a:ext cx="44805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POPIA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50177" y="5486400"/>
            <a:ext cx="501091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14185" y="5504688"/>
            <a:ext cx="373075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FSCA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PROCESS 8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Regulator —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State machine: numbered states flow into the outcome gate, which branches to the terminal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Lite Process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07247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5F2EA"/>
          </a:solidFill>
          <a:ln w="15875">
            <a:solidFill>
              <a:srgbClr val="005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8415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normal close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53904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6ECD8"/>
          </a:solidFill>
          <a:ln w="15875">
            <a:solidFill>
              <a:srgbClr val="D18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55072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conditional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43869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6E3DE"/>
          </a:solidFill>
          <a:ln w="15875">
            <a:solidFill>
              <a:srgbClr val="C25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5037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adverse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700784"/>
            <a:ext cx="4114800" cy="54864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700784"/>
            <a:ext cx="54864" cy="5486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1700784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1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Licence application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542032" y="2267712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2468880"/>
            <a:ext cx="4114800" cy="54864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2468880"/>
            <a:ext cx="54864" cy="5486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46888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2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Compliance inspection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542032" y="3035808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3236976"/>
            <a:ext cx="4114800" cy="54864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236976"/>
            <a:ext cx="54864" cy="5486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236976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3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Enforcement (s35)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2542032" y="3803903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4005072"/>
            <a:ext cx="4114800" cy="54864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005072"/>
            <a:ext cx="54864" cy="5486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005072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4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Disposition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2542032" y="4571999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6928" y="4773168"/>
            <a:ext cx="4114800" cy="54864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773168"/>
            <a:ext cx="54864" cy="5486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773168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5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Certified export pack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681728" y="5047488"/>
            <a:ext cx="502920" cy="0"/>
          </a:xfrm>
          <a:prstGeom prst="line">
            <a:avLst/>
          </a:prstGeom>
          <a:ln w="22225">
            <a:solidFill>
              <a:srgbClr val="0053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Diamond 33"/>
          <p:cNvSpPr/>
          <p:nvPr/>
        </p:nvSpPr>
        <p:spPr>
          <a:xfrm>
            <a:off x="5184648" y="4590288"/>
            <a:ext cx="1371600" cy="914400"/>
          </a:xfrm>
          <a:prstGeom prst="diamond">
            <a:avLst/>
          </a:prstGeom>
          <a:solidFill>
            <a:srgbClr val="005358"/>
          </a:solidFill>
          <a:ln w="15875">
            <a:solidFill>
              <a:srgbClr val="D18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Archivo"/>
              </a:rPr>
              <a:t>Grant?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6556248" y="4672583"/>
            <a:ext cx="640080" cy="374905"/>
          </a:xfrm>
          <a:prstGeom prst="line">
            <a:avLst/>
          </a:prstGeom>
          <a:ln w="17780">
            <a:solidFill>
              <a:srgbClr val="0053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196328" y="4398264"/>
            <a:ext cx="4428439" cy="54864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 w="19050">
            <a:solidFill>
              <a:srgbClr val="005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96328" y="4398264"/>
            <a:ext cx="64008" cy="54864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97496" y="4398264"/>
            <a:ext cx="40626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05358"/>
                </a:solidFill>
                <a:latin typeface="Archivo"/>
              </a:rPr>
              <a:t>Granted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556248" y="5047488"/>
            <a:ext cx="640080" cy="374904"/>
          </a:xfrm>
          <a:prstGeom prst="line">
            <a:avLst/>
          </a:prstGeom>
          <a:ln w="17780">
            <a:solidFill>
              <a:srgbClr val="C25B4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196328" y="5148072"/>
            <a:ext cx="4428439" cy="548640"/>
          </a:xfrm>
          <a:prstGeom prst="roundRect">
            <a:avLst>
              <a:gd name="adj" fmla="val 6000"/>
            </a:avLst>
          </a:prstGeom>
          <a:solidFill>
            <a:srgbClr val="F6E3DE"/>
          </a:solidFill>
          <a:ln w="19050">
            <a:solidFill>
              <a:srgbClr val="C25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96328" y="5148072"/>
            <a:ext cx="64008" cy="548640"/>
          </a:xfrm>
          <a:prstGeom prst="rect">
            <a:avLst/>
          </a:prstGeom>
          <a:solidFill>
            <a:srgbClr val="C25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97496" y="5148072"/>
            <a:ext cx="40626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C25B45"/>
                </a:solidFill>
                <a:latin typeface="Archivo"/>
              </a:rPr>
              <a:t>Refused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PROCESS 9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Platform Admin — major 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Read top→bottom: each state, the gate that controls it, then the terminal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Lite Process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00784"/>
            <a:ext cx="475488" cy="493776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37360"/>
            <a:ext cx="4754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" y="2194560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70432" y="1700784"/>
            <a:ext cx="10454335" cy="493776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70432" y="1700784"/>
            <a:ext cx="54864" cy="493776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1746504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KYC verification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KYC verification + tenant isolation enforced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304288"/>
            <a:ext cx="475488" cy="493776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340864"/>
            <a:ext cx="4754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" y="2798064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70432" y="2304288"/>
            <a:ext cx="10454335" cy="493776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70432" y="2304288"/>
            <a:ext cx="54864" cy="493776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2350008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Tenant lifecycle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Tenant onboard → active → suspend lifecycle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907792"/>
            <a:ext cx="475488" cy="493776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944368"/>
            <a:ext cx="4754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" y="3401568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70432" y="2907792"/>
            <a:ext cx="10454335" cy="493776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70432" y="2907792"/>
            <a:ext cx="54864" cy="493776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9888" y="2953512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Hash-chain audit block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Hash-chain block append (W118), predecessor-linked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511296"/>
            <a:ext cx="475488" cy="493776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547872"/>
            <a:ext cx="4754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" y="4005072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70432" y="3511296"/>
            <a:ext cx="10454335" cy="493776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70432" y="3511296"/>
            <a:ext cx="54864" cy="493776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9888" y="3557015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Control-environment audit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SOC2 / ISO 27001 control-environment audit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114800"/>
            <a:ext cx="475488" cy="493776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4151376"/>
            <a:ext cx="4754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70432" y="4114800"/>
            <a:ext cx="10454335" cy="493776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70432" y="4114800"/>
            <a:ext cx="54864" cy="493776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89888" y="4160520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Certified export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Certified regulator export emitted (W119)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828032"/>
            <a:ext cx="11057839" cy="512064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4828032"/>
            <a:ext cx="64008" cy="51206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4892040"/>
            <a:ext cx="1069207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>
                <a:solidFill>
                  <a:srgbClr val="D18E35"/>
                </a:solidFill>
                <a:latin typeface="Archivo"/>
              </a:rPr>
              <a:t>TERMINALS &amp; GATES   </a:t>
            </a:r>
            <a:r>
              <a:rPr sz="1000" b="0" i="0">
                <a:solidFill>
                  <a:srgbClr val="FFFFFF"/>
                </a:solidFill>
                <a:latin typeface="Archivo"/>
              </a:rPr>
              <a:t>Terminal: sealed (tamper-evident). Underwrites every role's L5 evidence claims.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504688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D18E35"/>
                </a:solidFill>
                <a:latin typeface="Archivo"/>
              </a:rPr>
              <a:t>REGULATORY BASIS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67128" y="5486400"/>
            <a:ext cx="576072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31136" y="5504688"/>
            <a:ext cx="44805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POPIA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25496" y="5486400"/>
            <a:ext cx="1175918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89503" y="5504688"/>
            <a:ext cx="104790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Companies Act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083710" y="5486400"/>
            <a:ext cx="501091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47718" y="5504688"/>
            <a:ext cx="373075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FSCA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67097" y="5486400"/>
            <a:ext cx="1475841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31105" y="5504688"/>
            <a:ext cx="1347825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Info Regulator SA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25235" y="5486400"/>
            <a:ext cx="1400860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89243" y="5504688"/>
            <a:ext cx="127284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SOC2 / ISO 27001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PROCESS 9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Platform Admin —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State machine: numbered states flow into the outcome gate, which branches to the terminal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Lite Process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07247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5F2EA"/>
          </a:solidFill>
          <a:ln w="15875">
            <a:solidFill>
              <a:srgbClr val="005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8415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normal close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53904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6ECD8"/>
          </a:solidFill>
          <a:ln w="15875">
            <a:solidFill>
              <a:srgbClr val="D18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55072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conditional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43869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6E3DE"/>
          </a:solidFill>
          <a:ln w="15875">
            <a:solidFill>
              <a:srgbClr val="C25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5037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adverse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700784"/>
            <a:ext cx="4114800" cy="54864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700784"/>
            <a:ext cx="54864" cy="5486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1700784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1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KYC verification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542032" y="2267712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2468880"/>
            <a:ext cx="4114800" cy="54864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2468880"/>
            <a:ext cx="54864" cy="5486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46888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2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Tenant lifecycle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542032" y="3035808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3236976"/>
            <a:ext cx="4114800" cy="54864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236976"/>
            <a:ext cx="54864" cy="5486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236976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3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Hash-chain audit block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2542032" y="3803903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4005072"/>
            <a:ext cx="4114800" cy="54864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005072"/>
            <a:ext cx="54864" cy="5486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005072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4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Control-environment audit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2542032" y="4571999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6928" y="4773168"/>
            <a:ext cx="4114800" cy="54864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773168"/>
            <a:ext cx="54864" cy="5486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773168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5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Certified export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681728" y="5047488"/>
            <a:ext cx="804672" cy="0"/>
          </a:xfrm>
          <a:prstGeom prst="line">
            <a:avLst/>
          </a:prstGeom>
          <a:ln w="22225">
            <a:solidFill>
              <a:srgbClr val="0053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486400" y="4745736"/>
            <a:ext cx="6138367" cy="603504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 w="19050">
            <a:solidFill>
              <a:srgbClr val="005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0" y="4745736"/>
            <a:ext cx="64008" cy="60350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05856" y="4745736"/>
            <a:ext cx="5772607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5358"/>
                </a:solidFill>
                <a:latin typeface="Archivo"/>
              </a:rPr>
              <a:t>TERMINAL   </a:t>
            </a:r>
            <a:r>
              <a:rPr sz="1200" b="1" i="0">
                <a:solidFill>
                  <a:srgbClr val="005358"/>
                </a:solidFill>
                <a:latin typeface="Archivo"/>
              </a:rPr>
              <a:t>Sealed (tamper-evident)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PROCESS 10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ESCO / O&amp;M — major 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Read top→bottom: each state, the gate that controls it, then the terminal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Lite Process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00784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37360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" y="2153412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70432" y="1700784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70432" y="1700784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1746504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Commissioning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Site planned → in_om commissioning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263140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299716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" y="2715768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70432" y="2263140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70432" y="2263140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2308860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Work orders / PM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Preventive / corrective work orders (IEC 62446)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825496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862072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" y="3278124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70432" y="2825496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70432" y="2825496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9888" y="2871215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Permit-to-work (LOTO)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Permit-to-work / LOTO safety isolation (OHSA)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387852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424428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" y="3840480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70432" y="3387852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70432" y="3387852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9888" y="3433572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Asset prognostics (RUL)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Predictive RUL compute (NTT-beating); drives parts (W72)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950207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3986783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" y="4402836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70432" y="3950207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70432" y="3950207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89888" y="3995927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Availability / LD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Availability guarantee; LD on uptime breach (IEC 61724)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512564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4549140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70432" y="4512564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70432" y="4512564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89888" y="4558283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Revenue assurance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Meter recon / revenue assurance + soiling audit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184648"/>
            <a:ext cx="11057839" cy="512064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5184648"/>
            <a:ext cx="64008" cy="51206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" y="5248656"/>
            <a:ext cx="1069207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>
                <a:solidFill>
                  <a:srgbClr val="D18E35"/>
                </a:solidFill>
                <a:latin typeface="Archivo"/>
              </a:rPr>
              <a:t>TERMINALS &amp; GATES   </a:t>
            </a:r>
            <a:r>
              <a:rPr sz="1000" b="0" i="0">
                <a:solidFill>
                  <a:srgbClr val="FFFFFF"/>
                </a:solidFill>
                <a:latin typeface="Archivo"/>
              </a:rPr>
              <a:t>Terminals: LD · augmentation. Predictive layer benchmarked to beat NTT.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861304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D18E35"/>
                </a:solidFill>
                <a:latin typeface="Archivo"/>
              </a:rPr>
              <a:t>REGULATORY BASIS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67128" y="5843016"/>
            <a:ext cx="875995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31136" y="5861304"/>
            <a:ext cx="7479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IEC 61724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125419" y="5843016"/>
            <a:ext cx="875995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89427" y="5861304"/>
            <a:ext cx="7479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IEC 62446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083710" y="5843016"/>
            <a:ext cx="1025956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47718" y="5861304"/>
            <a:ext cx="8979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OHSA / LOTO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91963" y="5843016"/>
            <a:ext cx="1400860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55971" y="5861304"/>
            <a:ext cx="127284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SA metering code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PROCESS 10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ESCO / O&amp;M —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State machine: numbered states flow into the outcome gate, which branches to the terminal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Lite Process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07247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5F2EA"/>
          </a:solidFill>
          <a:ln w="15875">
            <a:solidFill>
              <a:srgbClr val="005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8415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normal close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53904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6ECD8"/>
          </a:solidFill>
          <a:ln w="15875">
            <a:solidFill>
              <a:srgbClr val="D18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55072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conditional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43869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6E3DE"/>
          </a:solidFill>
          <a:ln w="15875">
            <a:solidFill>
              <a:srgbClr val="C25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5037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adverse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700784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700784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1700784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1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Commissioning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542032" y="2235708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2436876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2436876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436876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2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Work orders / PM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542032" y="2971800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3172968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172968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172968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3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Permit-to-work (LOTO)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2542032" y="3707891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3909060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909060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909060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4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Asset prognostics (RUL)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2542032" y="4443983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6928" y="4645152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645152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645152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5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Availability / LD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2542032" y="5180075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66928" y="5381244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381244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5381244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6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Revenue assurance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81728" y="5639562"/>
            <a:ext cx="502920" cy="0"/>
          </a:xfrm>
          <a:prstGeom prst="line">
            <a:avLst/>
          </a:prstGeom>
          <a:ln w="22225">
            <a:solidFill>
              <a:srgbClr val="0053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Diamond 37"/>
          <p:cNvSpPr/>
          <p:nvPr/>
        </p:nvSpPr>
        <p:spPr>
          <a:xfrm>
            <a:off x="5184648" y="5182362"/>
            <a:ext cx="1371600" cy="914400"/>
          </a:xfrm>
          <a:prstGeom prst="diamond">
            <a:avLst/>
          </a:prstGeom>
          <a:solidFill>
            <a:srgbClr val="005358"/>
          </a:solidFill>
          <a:ln w="15875">
            <a:solidFill>
              <a:srgbClr val="D18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Archivo"/>
              </a:rPr>
              <a:t>In SLA?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6556248" y="4581144"/>
            <a:ext cx="640080" cy="1058418"/>
          </a:xfrm>
          <a:prstGeom prst="line">
            <a:avLst/>
          </a:prstGeom>
          <a:ln w="17780">
            <a:solidFill>
              <a:srgbClr val="0053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196328" y="4306824"/>
            <a:ext cx="4428439" cy="54864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 w="19050">
            <a:solidFill>
              <a:srgbClr val="005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96328" y="4306824"/>
            <a:ext cx="64008" cy="54864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97496" y="4306824"/>
            <a:ext cx="40626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05358"/>
                </a:solidFill>
                <a:latin typeface="Archivo"/>
              </a:rPr>
              <a:t>Within guarantee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6556248" y="5330952"/>
            <a:ext cx="640080" cy="308610"/>
          </a:xfrm>
          <a:prstGeom prst="line">
            <a:avLst/>
          </a:prstGeom>
          <a:ln w="17780">
            <a:solidFill>
              <a:srgbClr val="D18E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196328" y="5056632"/>
            <a:ext cx="4428439" cy="548640"/>
          </a:xfrm>
          <a:prstGeom prst="roundRect">
            <a:avLst>
              <a:gd name="adj" fmla="val 6000"/>
            </a:avLst>
          </a:prstGeom>
          <a:solidFill>
            <a:srgbClr val="F6ECD8"/>
          </a:solidFill>
          <a:ln w="19050">
            <a:solidFill>
              <a:srgbClr val="D18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96328" y="5056632"/>
            <a:ext cx="64008" cy="5486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97496" y="5056632"/>
            <a:ext cx="40626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7A551C"/>
                </a:solidFill>
                <a:latin typeface="Archivo"/>
              </a:rPr>
              <a:t>LD invoiced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556248" y="5639562"/>
            <a:ext cx="640080" cy="441198"/>
          </a:xfrm>
          <a:prstGeom prst="line">
            <a:avLst/>
          </a:prstGeom>
          <a:ln w="17780">
            <a:solidFill>
              <a:srgbClr val="D18E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196328" y="5806440"/>
            <a:ext cx="4428439" cy="548640"/>
          </a:xfrm>
          <a:prstGeom prst="roundRect">
            <a:avLst>
              <a:gd name="adj" fmla="val 6000"/>
            </a:avLst>
          </a:prstGeom>
          <a:solidFill>
            <a:srgbClr val="F6ECD8"/>
          </a:solidFill>
          <a:ln w="19050">
            <a:solidFill>
              <a:srgbClr val="D18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96328" y="5806440"/>
            <a:ext cx="64008" cy="5486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97496" y="5806440"/>
            <a:ext cx="40626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7A551C"/>
                </a:solidFill>
                <a:latin typeface="Archivo"/>
              </a:rPr>
              <a:t>Augmentation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PROCESS 11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EPC Contractor — major 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Read top→bottom: each state, the gate that controls it, then the terminal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Lite Process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00784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37360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" y="2153412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70432" y="1700784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70432" y="1700784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1746504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Submittals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Submittals / transmittals + RFIs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263140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299716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" y="2715768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70432" y="2263140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70432" y="2263140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2308860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ITP inspection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Inspection &amp; Test Plan witness / hold points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825496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862072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" y="3278124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70432" y="2825496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70432" y="2825496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9888" y="2871215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NCR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Non-conformance raised on failed inspection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387852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424428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" y="3840480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70432" y="3387852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70432" y="3387852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9888" y="3433572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Punch list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Punch list / COD snag closeout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950207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3986783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" y="4402836"/>
            <a:ext cx="45720" cy="1097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70432" y="3950207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70432" y="3950207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89888" y="3995927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Method statement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Method statements + construction diary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512564"/>
            <a:ext cx="475488" cy="452627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4549140"/>
            <a:ext cx="475488" cy="379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chivo"/>
              </a:rPr>
              <a:t>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70432" y="4512564"/>
            <a:ext cx="10454335" cy="452627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70432" y="4512564"/>
            <a:ext cx="54864" cy="452627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89888" y="4558283"/>
            <a:ext cx="10088575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005358"/>
                </a:solidFill>
                <a:latin typeface="Archivo"/>
              </a:rPr>
              <a:t>Handover</a:t>
            </a:r>
            <a:r>
              <a:rPr sz="919" b="0" i="0">
                <a:solidFill>
                  <a:srgbClr val="504D46"/>
                </a:solidFill>
                <a:latin typeface="Archivo"/>
              </a:rPr>
              <a:t>      Handover dossier → IPP COD turnover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184648"/>
            <a:ext cx="11057839" cy="512064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5184648"/>
            <a:ext cx="64008" cy="51206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" y="5248656"/>
            <a:ext cx="1069207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>
                <a:solidFill>
                  <a:srgbClr val="D18E35"/>
                </a:solidFill>
                <a:latin typeface="Archivo"/>
              </a:rPr>
              <a:t>TERMINALS &amp; GATES   </a:t>
            </a:r>
            <a:r>
              <a:rPr sz="1000" b="0" i="0">
                <a:solidFill>
                  <a:srgbClr val="FFFFFF"/>
                </a:solidFill>
                <a:latin typeface="Archivo"/>
              </a:rPr>
              <a:t>Terminal: NCR closed. HSE incident crosses on safety.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861304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D18E35"/>
                </a:solidFill>
                <a:latin typeface="Archivo"/>
              </a:rPr>
              <a:t>REGULATORY BASIS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67128" y="5843016"/>
            <a:ext cx="576072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31136" y="5861304"/>
            <a:ext cx="44805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FIDIC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825496" y="5843016"/>
            <a:ext cx="801014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89503" y="5861304"/>
            <a:ext cx="67299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ISO 9001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708806" y="5843016"/>
            <a:ext cx="501091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72814" y="5861304"/>
            <a:ext cx="373075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OHSA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92193" y="5843016"/>
            <a:ext cx="875995" cy="24688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56201" y="5861304"/>
            <a:ext cx="7479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80" b="1" i="0">
                <a:solidFill>
                  <a:srgbClr val="005358"/>
                </a:solidFill>
                <a:latin typeface="Archivo"/>
              </a:rPr>
              <a:t>ISO 14001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PROCESS 11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EPC Contractor —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State machine: numbered states flow into the outcome gate, which branches to the terminal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Lite Process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07247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5F2EA"/>
          </a:solidFill>
          <a:ln w="15875">
            <a:solidFill>
              <a:srgbClr val="005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8415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normal close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53904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6ECD8"/>
          </a:solidFill>
          <a:ln w="15875">
            <a:solidFill>
              <a:srgbClr val="D18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55072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conditional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43869" y="1335024"/>
            <a:ext cx="146304" cy="146304"/>
          </a:xfrm>
          <a:prstGeom prst="roundRect">
            <a:avLst>
              <a:gd name="adj" fmla="val 40000"/>
            </a:avLst>
          </a:prstGeom>
          <a:solidFill>
            <a:srgbClr val="F6E3DE"/>
          </a:solidFill>
          <a:ln w="15875">
            <a:solidFill>
              <a:srgbClr val="C25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5037" y="12801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04D46"/>
                </a:solidFill>
                <a:latin typeface="Archivo"/>
              </a:rPr>
              <a:t>adverse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700784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700784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1700784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1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Submittals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542032" y="2235708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2436876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2436876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436876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2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ITP inspection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542032" y="2971800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3172968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172968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172968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3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NCR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2542032" y="3707891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3909060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909060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909060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4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Punch list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2542032" y="4443983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6928" y="4645152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645152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645152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5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Method statement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2542032" y="5180075"/>
            <a:ext cx="164592" cy="182879"/>
          </a:xfrm>
          <a:prstGeom prst="downArrow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66928" y="5381244"/>
            <a:ext cx="4114800" cy="516635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381244"/>
            <a:ext cx="54864" cy="516635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5381244"/>
            <a:ext cx="3749039" cy="516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18E35"/>
                </a:solidFill>
                <a:latin typeface="Archivo"/>
              </a:rPr>
              <a:t>6   </a:t>
            </a:r>
            <a:r>
              <a:rPr sz="1150" b="1" i="0">
                <a:solidFill>
                  <a:srgbClr val="005358"/>
                </a:solidFill>
                <a:latin typeface="Archivo"/>
              </a:rPr>
              <a:t>Handover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81728" y="5639562"/>
            <a:ext cx="804672" cy="0"/>
          </a:xfrm>
          <a:prstGeom prst="line">
            <a:avLst/>
          </a:prstGeom>
          <a:ln w="22225">
            <a:solidFill>
              <a:srgbClr val="0053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486400" y="5337809"/>
            <a:ext cx="6138367" cy="603504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 w="19050">
            <a:solidFill>
              <a:srgbClr val="005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0" y="5337809"/>
            <a:ext cx="64008" cy="603504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05856" y="5337809"/>
            <a:ext cx="5772607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5358"/>
                </a:solidFill>
                <a:latin typeface="Archivo"/>
              </a:rPr>
              <a:t>TERMINAL   </a:t>
            </a:r>
            <a:r>
              <a:rPr sz="1200" b="1" i="0">
                <a:solidFill>
                  <a:srgbClr val="005358"/>
                </a:solidFill>
                <a:latin typeface="Archivo"/>
              </a:rPr>
              <a:t>NCR closed → handover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