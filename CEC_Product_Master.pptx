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640080"/>
            <a:ext cx="868680" cy="86868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79" b="1">
                <a:solidFill>
                  <a:srgbClr val="005358"/>
                </a:solidFill>
                <a:latin typeface="Archivo"/>
              </a:rPr>
              <a:t>CEC</a:t>
            </a:r>
          </a:p>
        </p:txBody>
      </p:sp>
      <p:sp>
        <p:nvSpPr>
          <p:cNvPr id="5" name="TextBox 4"/>
          <p:cNvSpPr txBox="1"/>
          <p:nvPr/>
        </p:nvSpPr>
        <p:spPr>
          <a:xfrm>
            <a:off x="1691640" y="749808"/>
            <a:ext cx="9144000" cy="548640"/>
          </a:xfrm>
          <a:prstGeom prst="rect">
            <a:avLst/>
          </a:prstGeom>
          <a:noFill/>
        </p:spPr>
        <p:txBody>
          <a:bodyPr wrap="square" anchor="t" lIns="25400" rIns="25400" tIns="25400" bIns="25400">
            <a:spAutoFit/>
          </a:bodyPr>
          <a:lstStyle/>
          <a:p>
            <a:pPr algn="l">
              <a:spcBef>
                <a:spcPts val="0"/>
              </a:spcBef>
              <a:spcAft>
                <a:spcPts val="400"/>
              </a:spcAft>
            </a:pPr>
            <a:r>
              <a:rPr sz="1400" b="1">
                <a:solidFill>
                  <a:srgbClr val="FFFFFF"/>
                </a:solidFill>
                <a:latin typeface="Archivo"/>
              </a:rPr>
              <a:t>CONSOLIDATED ENERGY COCKPIT</a:t>
            </a:r>
          </a:p>
        </p:txBody>
      </p:sp>
      <p:sp>
        <p:nvSpPr>
          <p:cNvPr id="6" name="TextBox 5"/>
          <p:cNvSpPr txBox="1"/>
          <p:nvPr/>
        </p:nvSpPr>
        <p:spPr>
          <a:xfrm>
            <a:off x="640080" y="2011680"/>
            <a:ext cx="11155680" cy="2011680"/>
          </a:xfrm>
          <a:prstGeom prst="rect">
            <a:avLst/>
          </a:prstGeom>
          <a:noFill/>
        </p:spPr>
        <p:txBody>
          <a:bodyPr wrap="square" anchor="t" lIns="25400" rIns="25400" tIns="25400" bIns="25400">
            <a:spAutoFit/>
          </a:bodyPr>
          <a:lstStyle/>
          <a:p>
            <a:pPr algn="l">
              <a:spcBef>
                <a:spcPts val="0"/>
              </a:spcBef>
              <a:spcAft>
                <a:spcPts val="400"/>
              </a:spcAft>
            </a:pPr>
            <a:r>
              <a:rPr sz="4600" b="1">
                <a:solidFill>
                  <a:srgbClr val="FFFFFF"/>
                </a:solidFill>
                <a:latin typeface="Archivo"/>
              </a:rPr>
              <a:t>The Product, End to End</a:t>
            </a:r>
          </a:p>
          <a:p>
            <a:pPr algn="l">
              <a:spcBef>
                <a:spcPts val="0"/>
              </a:spcBef>
              <a:spcAft>
                <a:spcPts val="400"/>
              </a:spcAft>
            </a:pPr>
            <a:r>
              <a:rPr sz="2200" b="1">
                <a:solidFill>
                  <a:srgbClr val="D18E35"/>
                </a:solidFill>
                <a:latin typeface="Archivo"/>
              </a:rPr>
              <a:t>Launch · features · every journey &amp; flow · go-to-market · revenue</a:t>
            </a:r>
          </a:p>
        </p:txBody>
      </p:sp>
      <p:sp>
        <p:nvSpPr>
          <p:cNvPr id="7" name="TextBox 6"/>
          <p:cNvSpPr txBox="1"/>
          <p:nvPr/>
        </p:nvSpPr>
        <p:spPr>
          <a:xfrm>
            <a:off x="640080" y="4956048"/>
            <a:ext cx="10972800" cy="548640"/>
          </a:xfrm>
          <a:prstGeom prst="rect">
            <a:avLst/>
          </a:prstGeom>
          <a:noFill/>
        </p:spPr>
        <p:txBody>
          <a:bodyPr wrap="square" anchor="t" lIns="25400" rIns="25400" tIns="25400" bIns="25400">
            <a:spAutoFit/>
          </a:bodyPr>
          <a:lstStyle/>
          <a:p>
            <a:pPr algn="l">
              <a:spcBef>
                <a:spcPts val="0"/>
              </a:spcBef>
              <a:spcAft>
                <a:spcPts val="400"/>
              </a:spcAft>
            </a:pPr>
            <a:r>
              <a:rPr sz="1600" b="0">
                <a:solidFill>
                  <a:srgbClr val="FFFFFF"/>
                </a:solidFill>
                <a:latin typeface="Archivo"/>
              </a:rPr>
              <a:t>11 roles  ·  360 user journeys  ·  207 governed process flows  (78 cross-role)  ·  3 revenue streams</a:t>
            </a:r>
          </a:p>
        </p:txBody>
      </p:sp>
      <p:sp>
        <p:nvSpPr>
          <p:cNvPr id="8" name="TextBox 7"/>
          <p:cNvSpPr txBox="1"/>
          <p:nvPr/>
        </p:nvSpPr>
        <p:spPr>
          <a:xfrm>
            <a:off x="640080" y="5943600"/>
            <a:ext cx="10972800" cy="548640"/>
          </a:xfrm>
          <a:prstGeom prst="rect">
            <a:avLst/>
          </a:prstGeom>
          <a:noFill/>
        </p:spPr>
        <p:txBody>
          <a:bodyPr wrap="square" anchor="t" lIns="25400" rIns="25400" tIns="25400" bIns="25400">
            <a:spAutoFit/>
          </a:bodyPr>
          <a:lstStyle/>
          <a:p>
            <a:pPr algn="l">
              <a:spcBef>
                <a:spcPts val="0"/>
              </a:spcBef>
              <a:spcAft>
                <a:spcPts val="400"/>
              </a:spcAft>
            </a:pPr>
            <a:r>
              <a:rPr sz="1200" b="0">
                <a:solidFill>
                  <a:srgbClr val="FFFFFF"/>
                </a:solidFill>
                <a:latin typeface="Archivo"/>
              </a:rPr>
              <a:t>Board / investor master deck   ·   South Africa energy market   ·   oe.vantax.co.za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THE ONE-SLIDE THESIS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Executive summary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481328"/>
            <a:ext cx="11064240" cy="868680"/>
          </a:xfrm>
          <a:prstGeom prst="rect">
            <a:avLst/>
          </a:prstGeom>
          <a:noFill/>
        </p:spPr>
        <p:txBody>
          <a:bodyPr wrap="square" anchor="t" lIns="25400" rIns="25400" tIns="25400" bIns="25400">
            <a:spAutoFit/>
          </a:bodyPr>
          <a:lstStyle/>
          <a:p>
            <a:pPr algn="l">
              <a:spcBef>
                <a:spcPts val="0"/>
              </a:spcBef>
              <a:spcAft>
                <a:spcPts val="400"/>
              </a:spcAft>
            </a:pPr>
            <a:r>
              <a:rPr sz="1500" b="0">
                <a:solidFill>
                  <a:srgbClr val="1B1812"/>
                </a:solidFill>
                <a:latin typeface="Archivo"/>
              </a:rPr>
              <a:t>CEC is the shared transaction record for South Africa's unbundling energy market—the single platform where IPPs, traders, lenders, offtakers, grid operators, and regulators do the deal, settle it, and prove it.</a:t>
            </a:r>
          </a:p>
        </p:txBody>
      </p:sp>
      <p:sp>
        <p:nvSpPr>
          <p:cNvPr id="10" name="TextBox 9"/>
          <p:cNvSpPr txBox="1"/>
          <p:nvPr/>
        </p:nvSpPr>
        <p:spPr>
          <a:xfrm>
            <a:off x="548640" y="2468880"/>
            <a:ext cx="11064240" cy="4480560"/>
          </a:xfrm>
          <a:prstGeom prst="rect">
            <a:avLst/>
          </a:prstGeom>
          <a:noFill/>
        </p:spPr>
        <p:txBody>
          <a:bodyPr wrap="square" anchor="t" lIns="25400" rIns="25400" tIns="25400" bIns="25400">
            <a:spAutoFit/>
          </a:bodyPr>
          <a:lstStyle/>
          <a:p>
            <a:pPr algn="l">
              <a:spcBef>
                <a:spcPts val="0"/>
              </a:spcBef>
              <a:spcAft>
                <a:spcPts val="900"/>
              </a:spcAft>
            </a:pPr>
            <a:r>
              <a:rPr sz="1250" b="1">
                <a:solidFill>
                  <a:srgbClr val="D18E35"/>
                </a:solidFill>
                <a:latin typeface="Archivo"/>
              </a:rPr>
              <a:t>●  </a:t>
            </a:r>
            <a:r>
              <a:rPr sz="1250" b="1">
                <a:solidFill>
                  <a:srgbClr val="005358"/>
                </a:solidFill>
                <a:latin typeface="Archivo"/>
              </a:rPr>
              <a:t>Category</a:t>
            </a:r>
            <a:r>
              <a:rPr sz="1250" b="0">
                <a:solidFill>
                  <a:srgbClr val="1B1812"/>
                </a:solidFill>
                <a:latin typeface="Archivo"/>
              </a:rPr>
              <a:t>:  Energy Market Transaction Platform (the system of record for multi-party energy deals)</a:t>
            </a:r>
          </a:p>
          <a:p>
            <a:pPr algn="l">
              <a:spcBef>
                <a:spcPts val="0"/>
              </a:spcBef>
              <a:spcAft>
                <a:spcPts val="900"/>
              </a:spcAft>
            </a:pPr>
            <a:r>
              <a:rPr sz="1250" b="1">
                <a:solidFill>
                  <a:srgbClr val="D18E35"/>
                </a:solidFill>
                <a:latin typeface="Archivo"/>
              </a:rPr>
              <a:t>●  </a:t>
            </a:r>
            <a:r>
              <a:rPr sz="1250" b="1">
                <a:solidFill>
                  <a:srgbClr val="005358"/>
                </a:solidFill>
                <a:latin typeface="Archivo"/>
              </a:rPr>
              <a:t>The wedge</a:t>
            </a:r>
            <a:r>
              <a:rPr sz="1250" b="0">
                <a:solidFill>
                  <a:srgbClr val="1B1812"/>
                </a:solidFill>
                <a:latin typeface="Archivo"/>
              </a:rPr>
              <a:t>:  Land with the private-wheeling C&amp;I IPP developer on a single flagship deal: the IPP project-lifecycle + PPA-settlement chains. The developer feels the most acute multi-party coordination pain today, controls deal origination, and post-100MW-threshold-removal there is a high-volume, fast-closing pipeline of these deals.</a:t>
            </a:r>
          </a:p>
          <a:p>
            <a:pPr algn="l">
              <a:spcBef>
                <a:spcPts val="0"/>
              </a:spcBef>
              <a:spcAft>
                <a:spcPts val="900"/>
              </a:spcAft>
            </a:pPr>
            <a:r>
              <a:rPr sz="1250" b="1">
                <a:solidFill>
                  <a:srgbClr val="D18E35"/>
                </a:solidFill>
                <a:latin typeface="Archivo"/>
              </a:rPr>
              <a:t>●  </a:t>
            </a:r>
            <a:r>
              <a:rPr sz="1250" b="1">
                <a:solidFill>
                  <a:srgbClr val="005358"/>
                </a:solidFill>
                <a:latin typeface="Archivo"/>
              </a:rPr>
              <a:t>Why it compounds</a:t>
            </a:r>
            <a:r>
              <a:rPr sz="1250" b="0">
                <a:solidFill>
                  <a:srgbClr val="1B1812"/>
                </a:solidFill>
                <a:latin typeface="Archivo"/>
              </a:rPr>
              <a:t>:  Every wheeling deal is multi-party; each transaction invites the counterparty onto the same shared record, so each new role is a new land-and-expand vector.</a:t>
            </a:r>
          </a:p>
          <a:p>
            <a:pPr algn="l">
              <a:spcBef>
                <a:spcPts val="0"/>
              </a:spcBef>
              <a:spcAft>
                <a:spcPts val="900"/>
              </a:spcAft>
            </a:pPr>
            <a:r>
              <a:rPr sz="1250" b="1">
                <a:solidFill>
                  <a:srgbClr val="D18E35"/>
                </a:solidFill>
                <a:latin typeface="Archivo"/>
              </a:rPr>
              <a:t>●  </a:t>
            </a:r>
            <a:r>
              <a:rPr sz="1250" b="1">
                <a:solidFill>
                  <a:srgbClr val="005358"/>
                </a:solidFill>
                <a:latin typeface="Archivo"/>
              </a:rPr>
              <a:t>Depth, not dashboards</a:t>
            </a:r>
            <a:r>
              <a:rPr sz="1250" b="0">
                <a:solidFill>
                  <a:srgbClr val="1B1812"/>
                </a:solidFill>
                <a:latin typeface="Archivo"/>
              </a:rPr>
              <a:t>:  207 governed lifecycle chains (78 cross-role) at L3–L5 — real state machines with pre-trade gating, cascades, dunning and tamper-evident audit.</a:t>
            </a:r>
          </a:p>
          <a:p>
            <a:pPr algn="l">
              <a:spcBef>
                <a:spcPts val="0"/>
              </a:spcBef>
              <a:spcAft>
                <a:spcPts val="900"/>
              </a:spcAft>
            </a:pPr>
            <a:r>
              <a:rPr sz="1250" b="1">
                <a:solidFill>
                  <a:srgbClr val="D18E35"/>
                </a:solidFill>
                <a:latin typeface="Archivo"/>
              </a:rPr>
              <a:t>●  </a:t>
            </a:r>
            <a:r>
              <a:rPr sz="1250" b="1">
                <a:solidFill>
                  <a:srgbClr val="005358"/>
                </a:solidFill>
                <a:latin typeface="Archivo"/>
              </a:rPr>
              <a:t>How it earns</a:t>
            </a:r>
            <a:r>
              <a:rPr sz="1250" b="0">
                <a:solidFill>
                  <a:srgbClr val="1B1812"/>
                </a:solidFill>
                <a:latin typeface="Archivo"/>
              </a:rPr>
              <a:t>:  Three streams — Seat + Transaction + Value — tiered L3/L4/L5, metered per journey family, switchable per market.</a:t>
            </a:r>
          </a:p>
          <a:p>
            <a:pPr algn="l">
              <a:spcBef>
                <a:spcPts val="0"/>
              </a:spcBef>
              <a:spcAft>
                <a:spcPts val="900"/>
              </a:spcAft>
            </a:pPr>
            <a:r>
              <a:rPr sz="1250" b="1">
                <a:solidFill>
                  <a:srgbClr val="D18E35"/>
                </a:solidFill>
                <a:latin typeface="Archivo"/>
              </a:rPr>
              <a:t>●  </a:t>
            </a:r>
            <a:r>
              <a:rPr sz="1250" b="1">
                <a:solidFill>
                  <a:srgbClr val="005358"/>
                </a:solidFill>
                <a:latin typeface="Archivo"/>
              </a:rPr>
              <a:t>North-star</a:t>
            </a:r>
            <a:r>
              <a:rPr sz="1250" b="0">
                <a:solidFill>
                  <a:srgbClr val="1B1812"/>
                </a:solidFill>
                <a:latin typeface="Archivo"/>
              </a:rPr>
              <a:t>:  Annual deal value transacted on the shared record (ZAR settled + governed through CEC chains)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1828800"/>
            <a:ext cx="10972800" cy="365760"/>
          </a:xfrm>
          <a:prstGeom prst="rect">
            <a:avLst/>
          </a:prstGeom>
          <a:noFill/>
        </p:spPr>
        <p:txBody>
          <a:bodyPr wrap="square" anchor="t" lIns="25400" rIns="25400" tIns="25400" bIns="25400">
            <a:spAutoFit/>
          </a:bodyPr>
          <a:lstStyle/>
          <a:p>
            <a:pPr algn="l">
              <a:spcBef>
                <a:spcPts val="0"/>
              </a:spcBef>
              <a:spcAft>
                <a:spcPts val="400"/>
              </a:spcAft>
            </a:pPr>
            <a:r>
              <a:rPr sz="1300" b="1">
                <a:solidFill>
                  <a:srgbClr val="D18E35"/>
                </a:solidFill>
                <a:latin typeface="Archivo"/>
              </a:rPr>
              <a:t>PART 1 · LAUNCH + FEATURES</a:t>
            </a:r>
          </a:p>
        </p:txBody>
      </p:sp>
      <p:sp>
        <p:nvSpPr>
          <p:cNvPr id="6" name="TextBox 5"/>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The Product</a:t>
            </a:r>
          </a:p>
        </p:txBody>
      </p:sp>
      <p:sp>
        <p:nvSpPr>
          <p:cNvPr id="7" name="TextBox 6"/>
          <p:cNvSpPr txBox="1"/>
          <p:nvPr/>
        </p:nvSpPr>
        <p:spPr>
          <a:xfrm>
            <a:off x="640080" y="3456432"/>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What CEC is, and what it does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WHAT CEC IS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One shared record, eleven roles, two hundred flows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463040"/>
            <a:ext cx="11064240" cy="91440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1B1812"/>
                </a:solidFill>
                <a:latin typeface="Archivo"/>
              </a:rPr>
              <a:t>CEC is the </a:t>
            </a:r>
            <a:r>
              <a:rPr sz="1400" b="1">
                <a:solidFill>
                  <a:srgbClr val="005358"/>
                </a:solidFill>
                <a:latin typeface="Archivo"/>
              </a:rPr>
              <a:t>shared transaction record</a:t>
            </a:r>
            <a:r>
              <a:rPr sz="1400" b="0">
                <a:solidFill>
                  <a:srgbClr val="1B1812"/>
                </a:solidFill>
                <a:latin typeface="Archivo"/>
              </a:rPr>
              <a:t> for South Africa's unbundling energy market — the single platform where IPPs, traders, lenders, offtakers, grid operators and regulators do the deal, settle it, and prove it. Not eleven disconnected portals: one source of truth that the whole market transacts against.</a:t>
            </a:r>
          </a:p>
        </p:txBody>
      </p:sp>
      <p:sp>
        <p:nvSpPr>
          <p:cNvPr id="10" name="Rounded Rectangle 9"/>
          <p:cNvSpPr/>
          <p:nvPr/>
        </p:nvSpPr>
        <p:spPr>
          <a:xfrm>
            <a:off x="548640" y="2651760"/>
            <a:ext cx="3566160" cy="1280160"/>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Horizon</a:t>
            </a:r>
          </a:p>
          <a:p>
            <a:pPr algn="ctr">
              <a:spcBef>
                <a:spcPts val="0"/>
              </a:spcBef>
              <a:spcAft>
                <a:spcPts val="0"/>
              </a:spcAft>
            </a:pPr>
            <a:r>
              <a:rPr sz="850" b="0">
                <a:solidFill>
                  <a:srgbClr val="504D46"/>
                </a:solidFill>
                <a:latin typeface="Archivo"/>
              </a:rPr>
              <a:t>Per-role live workspace — your open transactions, computed from the chains visible to you.</a:t>
            </a:r>
          </a:p>
        </p:txBody>
      </p:sp>
      <p:sp>
        <p:nvSpPr>
          <p:cNvPr id="11" name="Rounded Rectangle 10"/>
          <p:cNvSpPr/>
          <p:nvPr/>
        </p:nvSpPr>
        <p:spPr>
          <a:xfrm>
            <a:off x="4297680" y="2651760"/>
            <a:ext cx="3566160" cy="1280160"/>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Thread</a:t>
            </a:r>
          </a:p>
          <a:p>
            <a:pPr algn="ctr">
              <a:spcBef>
                <a:spcPts val="0"/>
              </a:spcBef>
              <a:spcAft>
                <a:spcPts val="0"/>
              </a:spcAft>
            </a:pPr>
            <a:r>
              <a:rPr sz="850" b="0">
                <a:solidFill>
                  <a:srgbClr val="504D46"/>
                </a:solidFill>
                <a:latin typeface="Archivo"/>
              </a:rPr>
              <a:t>Two-sided cross-role transaction view — both counterparties see the same governed object.</a:t>
            </a:r>
          </a:p>
        </p:txBody>
      </p:sp>
      <p:sp>
        <p:nvSpPr>
          <p:cNvPr id="12" name="Rounded Rectangle 11"/>
          <p:cNvSpPr/>
          <p:nvPr/>
        </p:nvSpPr>
        <p:spPr>
          <a:xfrm>
            <a:off x="8046720" y="2651760"/>
            <a:ext cx="3566160" cy="1280160"/>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Atlas (⌘K)</a:t>
            </a:r>
          </a:p>
          <a:p>
            <a:pPr algn="ctr">
              <a:spcBef>
                <a:spcPts val="0"/>
              </a:spcBef>
              <a:spcAft>
                <a:spcPts val="0"/>
              </a:spcAft>
            </a:pPr>
            <a:r>
              <a:rPr sz="850" b="0">
                <a:solidFill>
                  <a:srgbClr val="504D46"/>
                </a:solidFill>
                <a:latin typeface="Archivo"/>
              </a:rPr>
              <a:t>Function library — every journey resolves to a chain ledger, a surface or a route.</a:t>
            </a:r>
          </a:p>
        </p:txBody>
      </p:sp>
      <p:sp>
        <p:nvSpPr>
          <p:cNvPr id="13" name="TextBox 12"/>
          <p:cNvSpPr txBox="1"/>
          <p:nvPr/>
        </p:nvSpPr>
        <p:spPr>
          <a:xfrm>
            <a:off x="548640" y="4297680"/>
            <a:ext cx="11064240" cy="365760"/>
          </a:xfrm>
          <a:prstGeom prst="rect">
            <a:avLst/>
          </a:prstGeom>
          <a:noFill/>
        </p:spPr>
        <p:txBody>
          <a:bodyPr wrap="square" anchor="t" lIns="25400" rIns="25400" tIns="25400" bIns="25400">
            <a:spAutoFit/>
          </a:bodyPr>
          <a:lstStyle/>
          <a:p>
            <a:pPr algn="l">
              <a:spcBef>
                <a:spcPts val="0"/>
              </a:spcBef>
              <a:spcAft>
                <a:spcPts val="400"/>
              </a:spcAft>
            </a:pPr>
            <a:r>
              <a:rPr sz="1200" b="1">
                <a:solidFill>
                  <a:srgbClr val="D18E35"/>
                </a:solidFill>
                <a:latin typeface="Archivo"/>
              </a:rPr>
              <a:t>Aligned to ERA 2006 · NERSA Grid Code · POPIA · Carbon Tax Act · REIPPPP · JSE-SRL</a:t>
            </a:r>
          </a:p>
        </p:txBody>
      </p:sp>
      <p:sp>
        <p:nvSpPr>
          <p:cNvPr id="14" name="TextBox 13"/>
          <p:cNvSpPr txBox="1"/>
          <p:nvPr/>
        </p:nvSpPr>
        <p:spPr>
          <a:xfrm>
            <a:off x="548640" y="4800600"/>
            <a:ext cx="11064240" cy="1097280"/>
          </a:xfrm>
          <a:prstGeom prst="rect">
            <a:avLst/>
          </a:prstGeom>
          <a:noFill/>
        </p:spPr>
        <p:txBody>
          <a:bodyPr wrap="square" anchor="t" lIns="25400" rIns="25400" tIns="25400" bIns="25400">
            <a:spAutoFit/>
          </a:bodyPr>
          <a:lstStyle/>
          <a:p>
            <a:pPr algn="l">
              <a:spcBef>
                <a:spcPts val="0"/>
              </a:spcBef>
              <a:spcAft>
                <a:spcPts val="400"/>
              </a:spcAft>
            </a:pPr>
            <a:r>
              <a:rPr sz="1250" b="0">
                <a:solidFill>
                  <a:srgbClr val="504D46"/>
                </a:solidFill>
                <a:latin typeface="Archivo"/>
              </a:rPr>
              <a:t>Single Cloudflare Worker at the edge — instant counterparty onboarding, near-zero marginal cost per new participant. AI shows up as inline assists with a 'why' and 1-click accept, never as a separate tab or popup.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WHO IS ON THE PLATFORM</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Eleven roles, each a purpose-built workspace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4572000"/>
        </p:xfrm>
        <a:graphic>
          <a:graphicData uri="http://schemas.openxmlformats.org/drawingml/2006/table">
            <a:tbl>
              <a:tblPr firstRow="1" bandRow="1">
                <a:tableStyleId>{5C22544A-7EE6-4342-B048-85BDC9FD1C3A}</a:tableStyleId>
              </a:tblPr>
              <a:tblGrid>
                <a:gridCol w="3200400"/>
                <a:gridCol w="1280160"/>
                <a:gridCol w="1371600"/>
                <a:gridCol w="5212080"/>
              </a:tblGrid>
              <a:tr h="381000">
                <a:tc>
                  <a:txBody>
                    <a:bodyPr/>
                    <a:lstStyle/>
                    <a:p>
                      <a:r>
                        <a:rPr sz="1100" b="1">
                          <a:solidFill>
                            <a:srgbClr val="FFFFFF"/>
                          </a:solidFill>
                          <a:latin typeface="Archivo"/>
                        </a:rPr>
                        <a:t>Role</a:t>
                      </a:r>
                    </a:p>
                  </a:txBody>
                  <a:tcPr anchor="ctr">
                    <a:solidFill>
                      <a:srgbClr val="005358"/>
                    </a:solidFill>
                  </a:tcPr>
                </a:tc>
                <a:tc>
                  <a:txBody>
                    <a:bodyPr/>
                    <a:lstStyle/>
                    <a:p>
                      <a:r>
                        <a:rPr sz="1100" b="1">
                          <a:solidFill>
                            <a:srgbClr val="FFFFFF"/>
                          </a:solidFill>
                          <a:latin typeface="Archivo"/>
                        </a:rPr>
                        <a:t>Groups</a:t>
                      </a:r>
                    </a:p>
                  </a:txBody>
                  <a:tcPr anchor="ctr">
                    <a:solidFill>
                      <a:srgbClr val="005358"/>
                    </a:solidFill>
                  </a:tcPr>
                </a:tc>
                <a:tc>
                  <a:txBody>
                    <a:bodyPr/>
                    <a:lstStyle/>
                    <a:p>
                      <a:r>
                        <a:rPr sz="1100" b="1">
                          <a:solidFill>
                            <a:srgbClr val="FFFFFF"/>
                          </a:solidFill>
                          <a:latin typeface="Archivo"/>
                        </a:rPr>
                        <a:t>Journeys</a:t>
                      </a:r>
                    </a:p>
                  </a:txBody>
                  <a:tcPr anchor="ctr">
                    <a:solidFill>
                      <a:srgbClr val="005358"/>
                    </a:solidFill>
                  </a:tcPr>
                </a:tc>
                <a:tc>
                  <a:txBody>
                    <a:bodyPr/>
                    <a:lstStyle/>
                    <a:p>
                      <a:r>
                        <a:rPr sz="1100" b="1">
                          <a:solidFill>
                            <a:srgbClr val="FFFFFF"/>
                          </a:solidFill>
                          <a:latin typeface="Archivo"/>
                        </a:rPr>
                        <a:t>Metered on</a:t>
                      </a:r>
                    </a:p>
                  </a:txBody>
                  <a:tcPr anchor="ctr">
                    <a:solidFill>
                      <a:srgbClr val="005358"/>
                    </a:solidFill>
                  </a:tcPr>
                </a:tc>
              </a:tr>
              <a:tr h="381000">
                <a:tc>
                  <a:txBody>
                    <a:bodyPr/>
                    <a:lstStyle/>
                    <a:p>
                      <a:r>
                        <a:rPr sz="1050" b="1">
                          <a:solidFill>
                            <a:srgbClr val="005358"/>
                          </a:solidFill>
                          <a:latin typeface="Archivo"/>
                        </a:rPr>
                        <a:t>IPP Developer</a:t>
                      </a:r>
                    </a:p>
                  </a:txBody>
                  <a:tcPr anchor="ctr" marT="25400" marB="25400">
                    <a:solidFill>
                      <a:srgbClr val="FFFFFF"/>
                    </a:solidFill>
                  </a:tcPr>
                </a:tc>
                <a:tc>
                  <a:txBody>
                    <a:bodyPr/>
                    <a:lstStyle/>
                    <a:p>
                      <a:r>
                        <a:rPr sz="1050" b="0">
                          <a:solidFill>
                            <a:srgbClr val="1B1812"/>
                          </a:solidFill>
                          <a:latin typeface="Archivo"/>
                        </a:rPr>
                        <a:t>9</a:t>
                      </a:r>
                    </a:p>
                  </a:txBody>
                  <a:tcPr anchor="ctr" marT="25400" marB="25400">
                    <a:solidFill>
                      <a:srgbClr val="FFFFFF"/>
                    </a:solidFill>
                  </a:tcPr>
                </a:tc>
                <a:tc>
                  <a:txBody>
                    <a:bodyPr/>
                    <a:lstStyle/>
                    <a:p>
                      <a:r>
                        <a:rPr sz="1050" b="0">
                          <a:solidFill>
                            <a:srgbClr val="1B1812"/>
                          </a:solidFill>
                          <a:latin typeface="Archivo"/>
                        </a:rPr>
                        <a:t>76</a:t>
                      </a:r>
                    </a:p>
                  </a:txBody>
                  <a:tcPr anchor="ctr" marT="25400" marB="25400">
                    <a:solidFill>
                      <a:srgbClr val="FFFFFF"/>
                    </a:solidFill>
                  </a:tcPr>
                </a:tc>
                <a:tc>
                  <a:txBody>
                    <a:bodyPr/>
                    <a:lstStyle/>
                    <a:p>
                      <a:r>
                        <a:rPr sz="1050" b="0">
                          <a:solidFill>
                            <a:srgbClr val="1B1812"/>
                          </a:solidFill>
                          <a:latin typeface="Archivo"/>
                        </a:rPr>
                        <a:t>per active project · per stage-gate</a:t>
                      </a:r>
                    </a:p>
                  </a:txBody>
                  <a:tcPr anchor="ctr" marT="25400" marB="25400">
                    <a:solidFill>
                      <a:srgbClr val="FFFFFF"/>
                    </a:solidFill>
                  </a:tcPr>
                </a:tc>
              </a:tr>
              <a:tr h="381000">
                <a:tc>
                  <a:txBody>
                    <a:bodyPr/>
                    <a:lstStyle/>
                    <a:p>
                      <a:r>
                        <a:rPr sz="1050" b="1">
                          <a:solidFill>
                            <a:srgbClr val="005358"/>
                          </a:solidFill>
                          <a:latin typeface="Archivo"/>
                        </a:rPr>
                        <a:t>Trader</a:t>
                      </a:r>
                    </a:p>
                  </a:txBody>
                  <a:tcPr anchor="ctr" marT="25400" marB="25400">
                    <a:solidFill>
                      <a:srgbClr val="F5F3EF"/>
                    </a:solidFill>
                  </a:tcPr>
                </a:tc>
                <a:tc>
                  <a:txBody>
                    <a:bodyPr/>
                    <a:lstStyle/>
                    <a:p>
                      <a:r>
                        <a:rPr sz="1050" b="0">
                          <a:solidFill>
                            <a:srgbClr val="1B1812"/>
                          </a:solidFill>
                          <a:latin typeface="Archivo"/>
                        </a:rPr>
                        <a:t>4</a:t>
                      </a:r>
                    </a:p>
                  </a:txBody>
                  <a:tcPr anchor="ctr" marT="25400" marB="25400">
                    <a:solidFill>
                      <a:srgbClr val="F5F3EF"/>
                    </a:solidFill>
                  </a:tcPr>
                </a:tc>
                <a:tc>
                  <a:txBody>
                    <a:bodyPr/>
                    <a:lstStyle/>
                    <a:p>
                      <a:r>
                        <a:rPr sz="1050" b="0">
                          <a:solidFill>
                            <a:srgbClr val="1B1812"/>
                          </a:solidFill>
                          <a:latin typeface="Archivo"/>
                        </a:rPr>
                        <a:t>28</a:t>
                      </a:r>
                    </a:p>
                  </a:txBody>
                  <a:tcPr anchor="ctr" marT="25400" marB="25400">
                    <a:solidFill>
                      <a:srgbClr val="F5F3EF"/>
                    </a:solidFill>
                  </a:tcPr>
                </a:tc>
                <a:tc>
                  <a:txBody>
                    <a:bodyPr/>
                    <a:lstStyle/>
                    <a:p>
                      <a:r>
                        <a:rPr sz="1050" b="0">
                          <a:solidFill>
                            <a:srgbClr val="1B1812"/>
                          </a:solidFill>
                          <a:latin typeface="Archivo"/>
                        </a:rPr>
                        <a:t>bps on notional · per settlement</a:t>
                      </a:r>
                    </a:p>
                  </a:txBody>
                  <a:tcPr anchor="ctr" marT="25400" marB="25400">
                    <a:solidFill>
                      <a:srgbClr val="F5F3EF"/>
                    </a:solidFill>
                  </a:tcPr>
                </a:tc>
              </a:tr>
              <a:tr h="381000">
                <a:tc>
                  <a:txBody>
                    <a:bodyPr/>
                    <a:lstStyle/>
                    <a:p>
                      <a:r>
                        <a:rPr sz="1050" b="1">
                          <a:solidFill>
                            <a:srgbClr val="005358"/>
                          </a:solidFill>
                          <a:latin typeface="Archivo"/>
                        </a:rPr>
                        <a:t>Lender</a:t>
                      </a:r>
                    </a:p>
                  </a:txBody>
                  <a:tcPr anchor="ctr" marT="25400" marB="25400">
                    <a:solidFill>
                      <a:srgbClr val="FFFFFF"/>
                    </a:solidFill>
                  </a:tcPr>
                </a:tc>
                <a:tc>
                  <a:txBody>
                    <a:bodyPr/>
                    <a:lstStyle/>
                    <a:p>
                      <a:r>
                        <a:rPr sz="1050" b="0">
                          <a:solidFill>
                            <a:srgbClr val="1B1812"/>
                          </a:solidFill>
                          <a:latin typeface="Archivo"/>
                        </a:rPr>
                        <a:t>5</a:t>
                      </a:r>
                    </a:p>
                  </a:txBody>
                  <a:tcPr anchor="ctr" marT="25400" marB="25400">
                    <a:solidFill>
                      <a:srgbClr val="FFFFFF"/>
                    </a:solidFill>
                  </a:tcPr>
                </a:tc>
                <a:tc>
                  <a:txBody>
                    <a:bodyPr/>
                    <a:lstStyle/>
                    <a:p>
                      <a:r>
                        <a:rPr sz="1050" b="0">
                          <a:solidFill>
                            <a:srgbClr val="1B1812"/>
                          </a:solidFill>
                          <a:latin typeface="Archivo"/>
                        </a:rPr>
                        <a:t>29</a:t>
                      </a:r>
                    </a:p>
                  </a:txBody>
                  <a:tcPr anchor="ctr" marT="25400" marB="25400">
                    <a:solidFill>
                      <a:srgbClr val="FFFFFF"/>
                    </a:solidFill>
                  </a:tcPr>
                </a:tc>
                <a:tc>
                  <a:txBody>
                    <a:bodyPr/>
                    <a:lstStyle/>
                    <a:p>
                      <a:r>
                        <a:rPr sz="1050" b="0">
                          <a:solidFill>
                            <a:srgbClr val="1B1812"/>
                          </a:solidFill>
                          <a:latin typeface="Archivo"/>
                        </a:rPr>
                        <a:t>flat per drawdown · bps on facility</a:t>
                      </a:r>
                    </a:p>
                  </a:txBody>
                  <a:tcPr anchor="ctr" marT="25400" marB="25400">
                    <a:solidFill>
                      <a:srgbClr val="FFFFFF"/>
                    </a:solidFill>
                  </a:tcPr>
                </a:tc>
              </a:tr>
              <a:tr h="381000">
                <a:tc>
                  <a:txBody>
                    <a:bodyPr/>
                    <a:lstStyle/>
                    <a:p>
                      <a:r>
                        <a:rPr sz="1050" b="1">
                          <a:solidFill>
                            <a:srgbClr val="005358"/>
                          </a:solidFill>
                          <a:latin typeface="Archivo"/>
                        </a:rPr>
                        <a:t>Offtaker</a:t>
                      </a:r>
                    </a:p>
                  </a:txBody>
                  <a:tcPr anchor="ctr" marT="25400" marB="25400">
                    <a:solidFill>
                      <a:srgbClr val="F5F3EF"/>
                    </a:solidFill>
                  </a:tcPr>
                </a:tc>
                <a:tc>
                  <a:txBody>
                    <a:bodyPr/>
                    <a:lstStyle/>
                    <a:p>
                      <a:r>
                        <a:rPr sz="1050" b="0">
                          <a:solidFill>
                            <a:srgbClr val="1B1812"/>
                          </a:solidFill>
                          <a:latin typeface="Archivo"/>
                        </a:rPr>
                        <a:t>5</a:t>
                      </a:r>
                    </a:p>
                  </a:txBody>
                  <a:tcPr anchor="ctr" marT="25400" marB="25400">
                    <a:solidFill>
                      <a:srgbClr val="F5F3EF"/>
                    </a:solidFill>
                  </a:tcPr>
                </a:tc>
                <a:tc>
                  <a:txBody>
                    <a:bodyPr/>
                    <a:lstStyle/>
                    <a:p>
                      <a:r>
                        <a:rPr sz="1050" b="0">
                          <a:solidFill>
                            <a:srgbClr val="1B1812"/>
                          </a:solidFill>
                          <a:latin typeface="Archivo"/>
                        </a:rPr>
                        <a:t>42</a:t>
                      </a:r>
                    </a:p>
                  </a:txBody>
                  <a:tcPr anchor="ctr" marT="25400" marB="25400">
                    <a:solidFill>
                      <a:srgbClr val="F5F3EF"/>
                    </a:solidFill>
                  </a:tcPr>
                </a:tc>
                <a:tc>
                  <a:txBody>
                    <a:bodyPr/>
                    <a:lstStyle/>
                    <a:p>
                      <a:r>
                        <a:rPr sz="1050" b="0">
                          <a:solidFill>
                            <a:srgbClr val="1B1812"/>
                          </a:solidFill>
                          <a:latin typeface="Archivo"/>
                        </a:rPr>
                        <a:t>per MWh settled · per PPA</a:t>
                      </a:r>
                    </a:p>
                  </a:txBody>
                  <a:tcPr anchor="ctr" marT="25400" marB="25400">
                    <a:solidFill>
                      <a:srgbClr val="F5F3EF"/>
                    </a:solidFill>
                  </a:tcPr>
                </a:tc>
              </a:tr>
              <a:tr h="381000">
                <a:tc>
                  <a:txBody>
                    <a:bodyPr/>
                    <a:lstStyle/>
                    <a:p>
                      <a:r>
                        <a:rPr sz="1050" b="1">
                          <a:solidFill>
                            <a:srgbClr val="005358"/>
                          </a:solidFill>
                          <a:latin typeface="Archivo"/>
                        </a:rPr>
                        <a:t>Carbon Fund</a:t>
                      </a:r>
                    </a:p>
                  </a:txBody>
                  <a:tcPr anchor="ctr" marT="25400" marB="25400">
                    <a:solidFill>
                      <a:srgbClr val="FFFFFF"/>
                    </a:solidFill>
                  </a:tcPr>
                </a:tc>
                <a:tc>
                  <a:txBody>
                    <a:bodyPr/>
                    <a:lstStyle/>
                    <a:p>
                      <a:r>
                        <a:rPr sz="1050" b="0">
                          <a:solidFill>
                            <a:srgbClr val="1B1812"/>
                          </a:solidFill>
                          <a:latin typeface="Archivo"/>
                        </a:rPr>
                        <a:t>6</a:t>
                      </a:r>
                    </a:p>
                  </a:txBody>
                  <a:tcPr anchor="ctr" marT="25400" marB="25400">
                    <a:solidFill>
                      <a:srgbClr val="FFFFFF"/>
                    </a:solidFill>
                  </a:tcPr>
                </a:tc>
                <a:tc>
                  <a:txBody>
                    <a:bodyPr/>
                    <a:lstStyle/>
                    <a:p>
                      <a:r>
                        <a:rPr sz="1050" b="0">
                          <a:solidFill>
                            <a:srgbClr val="1B1812"/>
                          </a:solidFill>
                          <a:latin typeface="Archivo"/>
                        </a:rPr>
                        <a:t>26</a:t>
                      </a:r>
                    </a:p>
                  </a:txBody>
                  <a:tcPr anchor="ctr" marT="25400" marB="25400">
                    <a:solidFill>
                      <a:srgbClr val="FFFFFF"/>
                    </a:solidFill>
                  </a:tcPr>
                </a:tc>
                <a:tc>
                  <a:txBody>
                    <a:bodyPr/>
                    <a:lstStyle/>
                    <a:p>
                      <a:r>
                        <a:rPr sz="1050" b="0">
                          <a:solidFill>
                            <a:srgbClr val="1B1812"/>
                          </a:solidFill>
                          <a:latin typeface="Archivo"/>
                        </a:rPr>
                        <a:t>per credit issued / retired</a:t>
                      </a:r>
                    </a:p>
                  </a:txBody>
                  <a:tcPr anchor="ctr" marT="25400" marB="25400">
                    <a:solidFill>
                      <a:srgbClr val="FFFFFF"/>
                    </a:solidFill>
                  </a:tcPr>
                </a:tc>
              </a:tr>
              <a:tr h="381000">
                <a:tc>
                  <a:txBody>
                    <a:bodyPr/>
                    <a:lstStyle/>
                    <a:p>
                      <a:r>
                        <a:rPr sz="1050" b="1">
                          <a:solidFill>
                            <a:srgbClr val="005358"/>
                          </a:solidFill>
                          <a:latin typeface="Archivo"/>
                        </a:rPr>
                        <a:t>Grid Operator</a:t>
                      </a:r>
                    </a:p>
                  </a:txBody>
                  <a:tcPr anchor="ctr" marT="25400" marB="25400">
                    <a:solidFill>
                      <a:srgbClr val="F5F3EF"/>
                    </a:solidFill>
                  </a:tcPr>
                </a:tc>
                <a:tc>
                  <a:txBody>
                    <a:bodyPr/>
                    <a:lstStyle/>
                    <a:p>
                      <a:r>
                        <a:rPr sz="1050" b="0">
                          <a:solidFill>
                            <a:srgbClr val="1B1812"/>
                          </a:solidFill>
                          <a:latin typeface="Archivo"/>
                        </a:rPr>
                        <a:t>3</a:t>
                      </a:r>
                    </a:p>
                  </a:txBody>
                  <a:tcPr anchor="ctr" marT="25400" marB="25400">
                    <a:solidFill>
                      <a:srgbClr val="F5F3EF"/>
                    </a:solidFill>
                  </a:tcPr>
                </a:tc>
                <a:tc>
                  <a:txBody>
                    <a:bodyPr/>
                    <a:lstStyle/>
                    <a:p>
                      <a:r>
                        <a:rPr sz="1050" b="0">
                          <a:solidFill>
                            <a:srgbClr val="1B1812"/>
                          </a:solidFill>
                          <a:latin typeface="Archivo"/>
                        </a:rPr>
                        <a:t>30</a:t>
                      </a:r>
                    </a:p>
                  </a:txBody>
                  <a:tcPr anchor="ctr" marT="25400" marB="25400">
                    <a:solidFill>
                      <a:srgbClr val="F5F3EF"/>
                    </a:solidFill>
                  </a:tcPr>
                </a:tc>
                <a:tc>
                  <a:txBody>
                    <a:bodyPr/>
                    <a:lstStyle/>
                    <a:p>
                      <a:r>
                        <a:rPr sz="1050" b="0">
                          <a:solidFill>
                            <a:srgbClr val="1B1812"/>
                          </a:solidFill>
                          <a:latin typeface="Archivo"/>
                        </a:rPr>
                        <a:t>per connection · per MW dispatched</a:t>
                      </a:r>
                    </a:p>
                  </a:txBody>
                  <a:tcPr anchor="ctr" marT="25400" marB="25400">
                    <a:solidFill>
                      <a:srgbClr val="F5F3EF"/>
                    </a:solidFill>
                  </a:tcPr>
                </a:tc>
              </a:tr>
              <a:tr h="381000">
                <a:tc>
                  <a:txBody>
                    <a:bodyPr/>
                    <a:lstStyle/>
                    <a:p>
                      <a:r>
                        <a:rPr sz="1050" b="1">
                          <a:solidFill>
                            <a:srgbClr val="005358"/>
                          </a:solidFill>
                          <a:latin typeface="Archivo"/>
                        </a:rPr>
                        <a:t>Support / OEM</a:t>
                      </a:r>
                    </a:p>
                  </a:txBody>
                  <a:tcPr anchor="ctr" marT="25400" marB="25400">
                    <a:solidFill>
                      <a:srgbClr val="FFFFFF"/>
                    </a:solidFill>
                  </a:tcPr>
                </a:tc>
                <a:tc>
                  <a:txBody>
                    <a:bodyPr/>
                    <a:lstStyle/>
                    <a:p>
                      <a:r>
                        <a:rPr sz="1050" b="0">
                          <a:solidFill>
                            <a:srgbClr val="1B1812"/>
                          </a:solidFill>
                          <a:latin typeface="Archivo"/>
                        </a:rPr>
                        <a:t>4</a:t>
                      </a:r>
                    </a:p>
                  </a:txBody>
                  <a:tcPr anchor="ctr" marT="25400" marB="25400">
                    <a:solidFill>
                      <a:srgbClr val="FFFFFF"/>
                    </a:solidFill>
                  </a:tcPr>
                </a:tc>
                <a:tc>
                  <a:txBody>
                    <a:bodyPr/>
                    <a:lstStyle/>
                    <a:p>
                      <a:r>
                        <a:rPr sz="1050" b="0">
                          <a:solidFill>
                            <a:srgbClr val="1B1812"/>
                          </a:solidFill>
                          <a:latin typeface="Archivo"/>
                        </a:rPr>
                        <a:t>24</a:t>
                      </a:r>
                    </a:p>
                  </a:txBody>
                  <a:tcPr anchor="ctr" marT="25400" marB="25400">
                    <a:solidFill>
                      <a:srgbClr val="FFFFFF"/>
                    </a:solidFill>
                  </a:tcPr>
                </a:tc>
                <a:tc>
                  <a:txBody>
                    <a:bodyPr/>
                    <a:lstStyle/>
                    <a:p>
                      <a:r>
                        <a:rPr sz="1050" b="0">
                          <a:solidFill>
                            <a:srgbClr val="1B1812"/>
                          </a:solidFill>
                          <a:latin typeface="Archivo"/>
                        </a:rPr>
                        <a:t>per ticket · per work order</a:t>
                      </a:r>
                    </a:p>
                  </a:txBody>
                  <a:tcPr anchor="ctr" marT="25400" marB="25400">
                    <a:solidFill>
                      <a:srgbClr val="FFFFFF"/>
                    </a:solidFill>
                  </a:tcPr>
                </a:tc>
              </a:tr>
              <a:tr h="381000">
                <a:tc>
                  <a:txBody>
                    <a:bodyPr/>
                    <a:lstStyle/>
                    <a:p>
                      <a:r>
                        <a:rPr sz="1050" b="1">
                          <a:solidFill>
                            <a:srgbClr val="005358"/>
                          </a:solidFill>
                          <a:latin typeface="Archivo"/>
                        </a:rPr>
                        <a:t>Regulator</a:t>
                      </a:r>
                    </a:p>
                  </a:txBody>
                  <a:tcPr anchor="ctr" marT="25400" marB="25400">
                    <a:solidFill>
                      <a:srgbClr val="F5F3EF"/>
                    </a:solidFill>
                  </a:tcPr>
                </a:tc>
                <a:tc>
                  <a:txBody>
                    <a:bodyPr/>
                    <a:lstStyle/>
                    <a:p>
                      <a:r>
                        <a:rPr sz="1050" b="0">
                          <a:solidFill>
                            <a:srgbClr val="1B1812"/>
                          </a:solidFill>
                          <a:latin typeface="Archivo"/>
                        </a:rPr>
                        <a:t>5</a:t>
                      </a:r>
                    </a:p>
                  </a:txBody>
                  <a:tcPr anchor="ctr" marT="25400" marB="25400">
                    <a:solidFill>
                      <a:srgbClr val="F5F3EF"/>
                    </a:solidFill>
                  </a:tcPr>
                </a:tc>
                <a:tc>
                  <a:txBody>
                    <a:bodyPr/>
                    <a:lstStyle/>
                    <a:p>
                      <a:r>
                        <a:rPr sz="1050" b="0">
                          <a:solidFill>
                            <a:srgbClr val="1B1812"/>
                          </a:solidFill>
                          <a:latin typeface="Archivo"/>
                        </a:rPr>
                        <a:t>24</a:t>
                      </a:r>
                    </a:p>
                  </a:txBody>
                  <a:tcPr anchor="ctr" marT="25400" marB="25400">
                    <a:solidFill>
                      <a:srgbClr val="F5F3EF"/>
                    </a:solidFill>
                  </a:tcPr>
                </a:tc>
                <a:tc>
                  <a:txBody>
                    <a:bodyPr/>
                    <a:lstStyle/>
                    <a:p>
                      <a:r>
                        <a:rPr sz="1050" b="0">
                          <a:solidFill>
                            <a:srgbClr val="1B1812"/>
                          </a:solidFill>
                          <a:latin typeface="Archivo"/>
                        </a:rPr>
                        <a:t>per certified export · per case</a:t>
                      </a:r>
                    </a:p>
                  </a:txBody>
                  <a:tcPr anchor="ctr" marT="25400" marB="25400">
                    <a:solidFill>
                      <a:srgbClr val="F5F3EF"/>
                    </a:solidFill>
                  </a:tcPr>
                </a:tc>
              </a:tr>
              <a:tr h="381000">
                <a:tc>
                  <a:txBody>
                    <a:bodyPr/>
                    <a:lstStyle/>
                    <a:p>
                      <a:r>
                        <a:rPr sz="1050" b="1">
                          <a:solidFill>
                            <a:srgbClr val="005358"/>
                          </a:solidFill>
                          <a:latin typeface="Archivo"/>
                        </a:rPr>
                        <a:t>Platform Admin</a:t>
                      </a:r>
                    </a:p>
                  </a:txBody>
                  <a:tcPr anchor="ctr" marT="25400" marB="25400">
                    <a:solidFill>
                      <a:srgbClr val="FFFFFF"/>
                    </a:solidFill>
                  </a:tcPr>
                </a:tc>
                <a:tc>
                  <a:txBody>
                    <a:bodyPr/>
                    <a:lstStyle/>
                    <a:p>
                      <a:r>
                        <a:rPr sz="1050" b="0">
                          <a:solidFill>
                            <a:srgbClr val="1B1812"/>
                          </a:solidFill>
                          <a:latin typeface="Archivo"/>
                        </a:rPr>
                        <a:t>6</a:t>
                      </a:r>
                    </a:p>
                  </a:txBody>
                  <a:tcPr anchor="ctr" marT="25400" marB="25400">
                    <a:solidFill>
                      <a:srgbClr val="FFFFFF"/>
                    </a:solidFill>
                  </a:tcPr>
                </a:tc>
                <a:tc>
                  <a:txBody>
                    <a:bodyPr/>
                    <a:lstStyle/>
                    <a:p>
                      <a:r>
                        <a:rPr sz="1050" b="0">
                          <a:solidFill>
                            <a:srgbClr val="1B1812"/>
                          </a:solidFill>
                          <a:latin typeface="Archivo"/>
                        </a:rPr>
                        <a:t>33</a:t>
                      </a:r>
                    </a:p>
                  </a:txBody>
                  <a:tcPr anchor="ctr" marT="25400" marB="25400">
                    <a:solidFill>
                      <a:srgbClr val="FFFFFF"/>
                    </a:solidFill>
                  </a:tcPr>
                </a:tc>
                <a:tc>
                  <a:txBody>
                    <a:bodyPr/>
                    <a:lstStyle/>
                    <a:p>
                      <a:r>
                        <a:rPr sz="1050" b="0">
                          <a:solidFill>
                            <a:srgbClr val="1B1812"/>
                          </a:solidFill>
                          <a:latin typeface="Archivo"/>
                        </a:rPr>
                        <a:t>platform seat · per tenant</a:t>
                      </a:r>
                    </a:p>
                  </a:txBody>
                  <a:tcPr anchor="ctr" marT="25400" marB="25400">
                    <a:solidFill>
                      <a:srgbClr val="FFFFFF"/>
                    </a:solidFill>
                  </a:tcPr>
                </a:tc>
              </a:tr>
              <a:tr h="381000">
                <a:tc>
                  <a:txBody>
                    <a:bodyPr/>
                    <a:lstStyle/>
                    <a:p>
                      <a:r>
                        <a:rPr sz="1050" b="1">
                          <a:solidFill>
                            <a:srgbClr val="005358"/>
                          </a:solidFill>
                          <a:latin typeface="Archivo"/>
                        </a:rPr>
                        <a:t>ESCO / O&amp;M</a:t>
                      </a:r>
                    </a:p>
                  </a:txBody>
                  <a:tcPr anchor="ctr" marT="25400" marB="25400">
                    <a:solidFill>
                      <a:srgbClr val="F5F3EF"/>
                    </a:solidFill>
                  </a:tcPr>
                </a:tc>
                <a:tc>
                  <a:txBody>
                    <a:bodyPr/>
                    <a:lstStyle/>
                    <a:p>
                      <a:r>
                        <a:rPr sz="1050" b="0">
                          <a:solidFill>
                            <a:srgbClr val="1B1812"/>
                          </a:solidFill>
                          <a:latin typeface="Archivo"/>
                        </a:rPr>
                        <a:t>8</a:t>
                      </a:r>
                    </a:p>
                  </a:txBody>
                  <a:tcPr anchor="ctr" marT="25400" marB="25400">
                    <a:solidFill>
                      <a:srgbClr val="F5F3EF"/>
                    </a:solidFill>
                  </a:tcPr>
                </a:tc>
                <a:tc>
                  <a:txBody>
                    <a:bodyPr/>
                    <a:lstStyle/>
                    <a:p>
                      <a:r>
                        <a:rPr sz="1050" b="0">
                          <a:solidFill>
                            <a:srgbClr val="1B1812"/>
                          </a:solidFill>
                          <a:latin typeface="Archivo"/>
                        </a:rPr>
                        <a:t>37</a:t>
                      </a:r>
                    </a:p>
                  </a:txBody>
                  <a:tcPr anchor="ctr" marT="25400" marB="25400">
                    <a:solidFill>
                      <a:srgbClr val="F5F3EF"/>
                    </a:solidFill>
                  </a:tcPr>
                </a:tc>
                <a:tc>
                  <a:txBody>
                    <a:bodyPr/>
                    <a:lstStyle/>
                    <a:p>
                      <a:r>
                        <a:rPr sz="1050" b="0">
                          <a:solidFill>
                            <a:srgbClr val="1B1812"/>
                          </a:solidFill>
                          <a:latin typeface="Archivo"/>
                        </a:rPr>
                        <a:t>per active facility · per work order</a:t>
                      </a:r>
                    </a:p>
                  </a:txBody>
                  <a:tcPr anchor="ctr" marT="25400" marB="25400">
                    <a:solidFill>
                      <a:srgbClr val="F5F3EF"/>
                    </a:solidFill>
                  </a:tcPr>
                </a:tc>
              </a:tr>
              <a:tr h="381000">
                <a:tc>
                  <a:txBody>
                    <a:bodyPr/>
                    <a:lstStyle/>
                    <a:p>
                      <a:r>
                        <a:rPr sz="1050" b="1">
                          <a:solidFill>
                            <a:srgbClr val="005358"/>
                          </a:solidFill>
                          <a:latin typeface="Archivo"/>
                        </a:rPr>
                        <a:t>EPC Contractor</a:t>
                      </a:r>
                    </a:p>
                  </a:txBody>
                  <a:tcPr anchor="ctr" marT="25400" marB="25400">
                    <a:solidFill>
                      <a:srgbClr val="FFFFFF"/>
                    </a:solidFill>
                  </a:tcPr>
                </a:tc>
                <a:tc>
                  <a:txBody>
                    <a:bodyPr/>
                    <a:lstStyle/>
                    <a:p>
                      <a:r>
                        <a:rPr sz="1050" b="0">
                          <a:solidFill>
                            <a:srgbClr val="1B1812"/>
                          </a:solidFill>
                          <a:latin typeface="Archivo"/>
                        </a:rPr>
                        <a:t>5</a:t>
                      </a:r>
                    </a:p>
                  </a:txBody>
                  <a:tcPr anchor="ctr" marT="25400" marB="25400">
                    <a:solidFill>
                      <a:srgbClr val="FFFFFF"/>
                    </a:solidFill>
                  </a:tcPr>
                </a:tc>
                <a:tc>
                  <a:txBody>
                    <a:bodyPr/>
                    <a:lstStyle/>
                    <a:p>
                      <a:r>
                        <a:rPr sz="1050" b="0">
                          <a:solidFill>
                            <a:srgbClr val="1B1812"/>
                          </a:solidFill>
                          <a:latin typeface="Archivo"/>
                        </a:rPr>
                        <a:t>11</a:t>
                      </a:r>
                    </a:p>
                  </a:txBody>
                  <a:tcPr anchor="ctr" marT="25400" marB="25400">
                    <a:solidFill>
                      <a:srgbClr val="FFFFFF"/>
                    </a:solidFill>
                  </a:tcPr>
                </a:tc>
                <a:tc>
                  <a:txBody>
                    <a:bodyPr/>
                    <a:lstStyle/>
                    <a:p>
                      <a:r>
                        <a:rPr sz="1050" b="0">
                          <a:solidFill>
                            <a:srgbClr val="1B1812"/>
                          </a:solidFill>
                          <a:latin typeface="Archivo"/>
                        </a:rPr>
                        <a:t>per submittal · per package</a:t>
                      </a:r>
                    </a:p>
                  </a:txBody>
                  <a:tcPr anchor="ctr" marT="25400" marB="25400">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WHAT 'A FEATURE' MEANS HERE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Depth, not shallow CRUD — the L1→L5 rubric</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2487168"/>
        </p:xfrm>
        <a:graphic>
          <a:graphicData uri="http://schemas.openxmlformats.org/drawingml/2006/table">
            <a:tbl>
              <a:tblPr firstRow="1" bandRow="1">
                <a:tableStyleId>{5C22544A-7EE6-4342-B048-85BDC9FD1C3A}</a:tableStyleId>
              </a:tblPr>
              <a:tblGrid>
                <a:gridCol w="914400"/>
                <a:gridCol w="6949440"/>
                <a:gridCol w="3200400"/>
              </a:tblGrid>
              <a:tr h="414528">
                <a:tc>
                  <a:txBody>
                    <a:bodyPr/>
                    <a:lstStyle/>
                    <a:p>
                      <a:r>
                        <a:rPr sz="1150" b="1">
                          <a:solidFill>
                            <a:srgbClr val="FFFFFF"/>
                          </a:solidFill>
                          <a:latin typeface="Archivo"/>
                        </a:rPr>
                        <a:t>Tier</a:t>
                      </a:r>
                    </a:p>
                  </a:txBody>
                  <a:tcPr anchor="ctr">
                    <a:solidFill>
                      <a:srgbClr val="005358"/>
                    </a:solidFill>
                  </a:tcPr>
                </a:tc>
                <a:tc>
                  <a:txBody>
                    <a:bodyPr/>
                    <a:lstStyle/>
                    <a:p>
                      <a:r>
                        <a:rPr sz="1150" b="1">
                          <a:solidFill>
                            <a:srgbClr val="FFFFFF"/>
                          </a:solidFill>
                          <a:latin typeface="Archivo"/>
                        </a:rPr>
                        <a:t>What it means</a:t>
                      </a:r>
                    </a:p>
                  </a:txBody>
                  <a:tcPr anchor="ctr">
                    <a:solidFill>
                      <a:srgbClr val="005358"/>
                    </a:solidFill>
                  </a:tcPr>
                </a:tc>
                <a:tc>
                  <a:txBody>
                    <a:bodyPr/>
                    <a:lstStyle/>
                    <a:p>
                      <a:r>
                        <a:rPr sz="1150" b="1">
                          <a:solidFill>
                            <a:srgbClr val="FFFFFF"/>
                          </a:solidFill>
                          <a:latin typeface="Archivo"/>
                        </a:rPr>
                        <a:t>Example</a:t>
                      </a:r>
                    </a:p>
                  </a:txBody>
                  <a:tcPr anchor="ctr">
                    <a:solidFill>
                      <a:srgbClr val="005358"/>
                    </a:solidFill>
                  </a:tcPr>
                </a:tc>
              </a:tr>
              <a:tr h="414528">
                <a:tc>
                  <a:txBody>
                    <a:bodyPr/>
                    <a:lstStyle/>
                    <a:p>
                      <a:r>
                        <a:rPr sz="1100" b="1">
                          <a:solidFill>
                            <a:srgbClr val="005358"/>
                          </a:solidFill>
                          <a:latin typeface="Archivo"/>
                        </a:rPr>
                        <a:t>L1</a:t>
                      </a:r>
                    </a:p>
                  </a:txBody>
                  <a:tcPr anchor="ctr" marT="25400" marB="25400">
                    <a:solidFill>
                      <a:srgbClr val="FFFFFF"/>
                    </a:solidFill>
                  </a:tcPr>
                </a:tc>
                <a:tc>
                  <a:txBody>
                    <a:bodyPr/>
                    <a:lstStyle/>
                    <a:p>
                      <a:r>
                        <a:rPr sz="1100" b="0">
                          <a:solidFill>
                            <a:srgbClr val="1B1812"/>
                          </a:solidFill>
                          <a:latin typeface="Archivo"/>
                        </a:rPr>
                        <a:t>Mock UI only</a:t>
                      </a:r>
                    </a:p>
                  </a:txBody>
                  <a:tcPr anchor="ctr" marT="25400" marB="25400">
                    <a:solidFill>
                      <a:srgbClr val="FFFFFF"/>
                    </a:solidFill>
                  </a:tcPr>
                </a:tc>
                <a:tc>
                  <a:txBody>
                    <a:bodyPr/>
                    <a:lstStyle/>
                    <a:p>
                      <a:r>
                        <a:rPr sz="1100" b="0">
                          <a:solidFill>
                            <a:srgbClr val="1B1812"/>
                          </a:solidFill>
                          <a:latin typeface="Archivo"/>
                        </a:rPr>
                        <a:t>(not shipped as a feature)</a:t>
                      </a:r>
                    </a:p>
                  </a:txBody>
                  <a:tcPr anchor="ctr" marT="25400" marB="25400">
                    <a:solidFill>
                      <a:srgbClr val="FFFFFF"/>
                    </a:solidFill>
                  </a:tcPr>
                </a:tc>
              </a:tr>
              <a:tr h="414528">
                <a:tc>
                  <a:txBody>
                    <a:bodyPr/>
                    <a:lstStyle/>
                    <a:p>
                      <a:r>
                        <a:rPr sz="1100" b="1">
                          <a:solidFill>
                            <a:srgbClr val="005358"/>
                          </a:solidFill>
                          <a:latin typeface="Archivo"/>
                        </a:rPr>
                        <a:t>L2</a:t>
                      </a:r>
                    </a:p>
                  </a:txBody>
                  <a:tcPr anchor="ctr" marT="25400" marB="25400">
                    <a:solidFill>
                      <a:srgbClr val="F5F3EF"/>
                    </a:solidFill>
                  </a:tcPr>
                </a:tc>
                <a:tc>
                  <a:txBody>
                    <a:bodyPr/>
                    <a:lstStyle/>
                    <a:p>
                      <a:r>
                        <a:rPr sz="1100" b="0">
                          <a:solidFill>
                            <a:srgbClr val="1B1812"/>
                          </a:solidFill>
                          <a:latin typeface="Archivo"/>
                        </a:rPr>
                        <a:t>CRUD endpoints + list/form</a:t>
                      </a:r>
                    </a:p>
                  </a:txBody>
                  <a:tcPr anchor="ctr" marT="25400" marB="25400">
                    <a:solidFill>
                      <a:srgbClr val="F5F3EF"/>
                    </a:solidFill>
                  </a:tcPr>
                </a:tc>
                <a:tc>
                  <a:txBody>
                    <a:bodyPr/>
                    <a:lstStyle/>
                    <a:p>
                      <a:r>
                        <a:rPr sz="1100" b="0">
                          <a:solidFill>
                            <a:srgbClr val="1B1812"/>
                          </a:solidFill>
                          <a:latin typeface="Archivo"/>
                        </a:rPr>
                        <a:t>Explicitly not acceptable for new features</a:t>
                      </a:r>
                    </a:p>
                  </a:txBody>
                  <a:tcPr anchor="ctr" marT="25400" marB="25400">
                    <a:solidFill>
                      <a:srgbClr val="F5F3EF"/>
                    </a:solidFill>
                  </a:tcPr>
                </a:tc>
              </a:tr>
              <a:tr h="414528">
                <a:tc>
                  <a:txBody>
                    <a:bodyPr/>
                    <a:lstStyle/>
                    <a:p>
                      <a:r>
                        <a:rPr sz="1100" b="1">
                          <a:solidFill>
                            <a:srgbClr val="005358"/>
                          </a:solidFill>
                          <a:latin typeface="Archivo"/>
                        </a:rPr>
                        <a:t>L3</a:t>
                      </a:r>
                    </a:p>
                  </a:txBody>
                  <a:tcPr anchor="ctr" marT="25400" marB="25400">
                    <a:solidFill>
                      <a:srgbClr val="FFFFFF"/>
                    </a:solidFill>
                  </a:tcPr>
                </a:tc>
                <a:tc>
                  <a:txBody>
                    <a:bodyPr/>
                    <a:lstStyle/>
                    <a:p>
                      <a:r>
                        <a:rPr sz="1100" b="0">
                          <a:solidFill>
                            <a:srgbClr val="1B1812"/>
                          </a:solidFill>
                          <a:latin typeface="Archivo"/>
                        </a:rPr>
                        <a:t>State machine + server-side validation + audit on transitions</a:t>
                      </a:r>
                    </a:p>
                  </a:txBody>
                  <a:tcPr anchor="ctr" marT="25400" marB="25400">
                    <a:solidFill>
                      <a:srgbClr val="FFFFFF"/>
                    </a:solidFill>
                  </a:tcPr>
                </a:tc>
                <a:tc>
                  <a:txBody>
                    <a:bodyPr/>
                    <a:lstStyle/>
                    <a:p>
                      <a:r>
                        <a:rPr sz="1100" b="0">
                          <a:solidFill>
                            <a:srgbClr val="1B1812"/>
                          </a:solidFill>
                          <a:latin typeface="Archivo"/>
                        </a:rPr>
                        <a:t>Audited workflow — entry tier</a:t>
                      </a:r>
                    </a:p>
                  </a:txBody>
                  <a:tcPr anchor="ctr" marT="25400" marB="25400">
                    <a:solidFill>
                      <a:srgbClr val="FFFFFF"/>
                    </a:solidFill>
                  </a:tcPr>
                </a:tc>
              </a:tr>
              <a:tr h="414528">
                <a:tc>
                  <a:txBody>
                    <a:bodyPr/>
                    <a:lstStyle/>
                    <a:p>
                      <a:r>
                        <a:rPr sz="1100" b="1">
                          <a:solidFill>
                            <a:srgbClr val="005358"/>
                          </a:solidFill>
                          <a:latin typeface="Archivo"/>
                        </a:rPr>
                        <a:t>L4</a:t>
                      </a:r>
                    </a:p>
                  </a:txBody>
                  <a:tcPr anchor="ctr" marT="25400" marB="25400">
                    <a:solidFill>
                      <a:srgbClr val="F5F3EF"/>
                    </a:solidFill>
                  </a:tcPr>
                </a:tc>
                <a:tc>
                  <a:txBody>
                    <a:bodyPr/>
                    <a:lstStyle/>
                    <a:p>
                      <a:r>
                        <a:rPr sz="1100" b="0">
                          <a:solidFill>
                            <a:srgbClr val="1B1812"/>
                          </a:solidFill>
                          <a:latin typeface="Archivo"/>
                        </a:rPr>
                        <a:t>Full workflow: pre-trade gating · cascades · timer/SLA · dunning/escalation · evidence chain</a:t>
                      </a:r>
                    </a:p>
                  </a:txBody>
                  <a:tcPr anchor="ctr" marT="25400" marB="25400">
                    <a:solidFill>
                      <a:srgbClr val="F5F3EF"/>
                    </a:solidFill>
                  </a:tcPr>
                </a:tc>
                <a:tc>
                  <a:txBody>
                    <a:bodyPr/>
                    <a:lstStyle/>
                    <a:p>
                      <a:r>
                        <a:rPr sz="1100" b="0">
                          <a:solidFill>
                            <a:srgbClr val="1B1812"/>
                          </a:solidFill>
                          <a:latin typeface="Archivo"/>
                        </a:rPr>
                        <a:t>Default target for every surface</a:t>
                      </a:r>
                    </a:p>
                  </a:txBody>
                  <a:tcPr anchor="ctr" marT="25400" marB="25400">
                    <a:solidFill>
                      <a:srgbClr val="F5F3EF"/>
                    </a:solidFill>
                  </a:tcPr>
                </a:tc>
              </a:tr>
              <a:tr h="414528">
                <a:tc>
                  <a:txBody>
                    <a:bodyPr/>
                    <a:lstStyle/>
                    <a:p>
                      <a:r>
                        <a:rPr sz="1100" b="1">
                          <a:solidFill>
                            <a:srgbClr val="005358"/>
                          </a:solidFill>
                          <a:latin typeface="Archivo"/>
                        </a:rPr>
                        <a:t>L5</a:t>
                      </a:r>
                    </a:p>
                  </a:txBody>
                  <a:tcPr anchor="ctr" marT="25400" marB="25400">
                    <a:solidFill>
                      <a:srgbClr val="FFFFFF"/>
                    </a:solidFill>
                  </a:tcPr>
                </a:tc>
                <a:tc>
                  <a:txBody>
                    <a:bodyPr/>
                    <a:lstStyle/>
                    <a:p>
                      <a:r>
                        <a:rPr sz="1100" b="0">
                          <a:solidFill>
                            <a:srgbClr val="1B1812"/>
                          </a:solidFill>
                          <a:latin typeface="Archivo"/>
                        </a:rPr>
                        <a:t>Regulator-grade: tamper-evident audit · certified exports · external reconciliation</a:t>
                      </a:r>
                    </a:p>
                  </a:txBody>
                  <a:tcPr anchor="ctr" marT="25400" marB="25400">
                    <a:solidFill>
                      <a:srgbClr val="FFFFFF"/>
                    </a:solidFill>
                  </a:tcPr>
                </a:tc>
                <a:tc>
                  <a:txBody>
                    <a:bodyPr/>
                    <a:lstStyle/>
                    <a:p>
                      <a:r>
                        <a:rPr sz="1100" b="0">
                          <a:solidFill>
                            <a:srgbClr val="1B1812"/>
                          </a:solidFill>
                          <a:latin typeface="Archivo"/>
                        </a:rPr>
                        <a:t>NERSA / EMIR-style filings</a:t>
                      </a:r>
                    </a:p>
                  </a:txBody>
                  <a:tcPr anchor="ctr" marT="25400" marB="2540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HOW THE 207 FLOWS COMPOSE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Eight end-to-end journeys chain the flows across roles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612880" cy="4023360"/>
        </p:xfrm>
        <a:graphic>
          <a:graphicData uri="http://schemas.openxmlformats.org/drawingml/2006/table">
            <a:tbl>
              <a:tblPr firstRow="1" bandRow="1">
                <a:tableStyleId>{5C22544A-7EE6-4342-B048-85BDC9FD1C3A}</a:tableStyleId>
              </a:tblPr>
              <a:tblGrid>
                <a:gridCol w="2834640"/>
                <a:gridCol w="1828800"/>
                <a:gridCol w="914400"/>
                <a:gridCol w="1280160"/>
                <a:gridCol w="4754880"/>
              </a:tblGrid>
              <a:tr h="402336">
                <a:tc>
                  <a:txBody>
                    <a:bodyPr/>
                    <a:lstStyle/>
                    <a:p>
                      <a:r>
                        <a:rPr sz="1100" b="1">
                          <a:solidFill>
                            <a:srgbClr val="FFFFFF"/>
                          </a:solidFill>
                          <a:latin typeface="Archivo"/>
                        </a:rPr>
                        <a:t>Journey family</a:t>
                      </a:r>
                    </a:p>
                  </a:txBody>
                  <a:tcPr anchor="ctr">
                    <a:solidFill>
                      <a:srgbClr val="005358"/>
                    </a:solidFill>
                  </a:tcPr>
                </a:tc>
                <a:tc>
                  <a:txBody>
                    <a:bodyPr/>
                    <a:lstStyle/>
                    <a:p>
                      <a:r>
                        <a:rPr sz="1100" b="1">
                          <a:solidFill>
                            <a:srgbClr val="FFFFFF"/>
                          </a:solidFill>
                          <a:latin typeface="Archivo"/>
                        </a:rPr>
                        <a:t>Owner</a:t>
                      </a:r>
                    </a:p>
                  </a:txBody>
                  <a:tcPr anchor="ctr">
                    <a:solidFill>
                      <a:srgbClr val="005358"/>
                    </a:solidFill>
                  </a:tcPr>
                </a:tc>
                <a:tc>
                  <a:txBody>
                    <a:bodyPr/>
                    <a:lstStyle/>
                    <a:p>
                      <a:r>
                        <a:rPr sz="1100" b="1">
                          <a:solidFill>
                            <a:srgbClr val="FFFFFF"/>
                          </a:solidFill>
                          <a:latin typeface="Archivo"/>
                        </a:rPr>
                        <a:t>Flows</a:t>
                      </a:r>
                    </a:p>
                  </a:txBody>
                  <a:tcPr anchor="ctr">
                    <a:solidFill>
                      <a:srgbClr val="005358"/>
                    </a:solidFill>
                  </a:tcPr>
                </a:tc>
                <a:tc>
                  <a:txBody>
                    <a:bodyPr/>
                    <a:lstStyle/>
                    <a:p>
                      <a:r>
                        <a:rPr sz="1100" b="1">
                          <a:solidFill>
                            <a:srgbClr val="FFFFFF"/>
                          </a:solidFill>
                          <a:latin typeface="Archivo"/>
                        </a:rPr>
                        <a:t>Tier band</a:t>
                      </a:r>
                    </a:p>
                  </a:txBody>
                  <a:tcPr anchor="ctr">
                    <a:solidFill>
                      <a:srgbClr val="005358"/>
                    </a:solidFill>
                  </a:tcPr>
                </a:tc>
                <a:tc>
                  <a:txBody>
                    <a:bodyPr/>
                    <a:lstStyle/>
                    <a:p>
                      <a:r>
                        <a:rPr sz="1100" b="1">
                          <a:solidFill>
                            <a:srgbClr val="FFFFFF"/>
                          </a:solidFill>
                          <a:latin typeface="Archivo"/>
                        </a:rPr>
                        <a:t>Metered on</a:t>
                      </a:r>
                    </a:p>
                  </a:txBody>
                  <a:tcPr anchor="ctr">
                    <a:solidFill>
                      <a:srgbClr val="005358"/>
                    </a:solidFill>
                  </a:tcPr>
                </a:tc>
              </a:tr>
              <a:tr h="402336">
                <a:tc>
                  <a:txBody>
                    <a:bodyPr/>
                    <a:lstStyle/>
                    <a:p>
                      <a:r>
                        <a:rPr sz="1050" b="1">
                          <a:solidFill>
                            <a:srgbClr val="005358"/>
                          </a:solidFill>
                          <a:latin typeface="Archivo"/>
                        </a:rPr>
                        <a:t>IPP lifecycle</a:t>
                      </a:r>
                    </a:p>
                  </a:txBody>
                  <a:tcPr anchor="ctr" marT="25400" marB="25400">
                    <a:solidFill>
                      <a:srgbClr val="FFFFFF"/>
                    </a:solidFill>
                  </a:tcPr>
                </a:tc>
                <a:tc>
                  <a:txBody>
                    <a:bodyPr/>
                    <a:lstStyle/>
                    <a:p>
                      <a:r>
                        <a:rPr sz="1050" b="0">
                          <a:solidFill>
                            <a:srgbClr val="1B1812"/>
                          </a:solidFill>
                          <a:latin typeface="Archivo"/>
                        </a:rPr>
                        <a:t>IPP Developer</a:t>
                      </a:r>
                    </a:p>
                  </a:txBody>
                  <a:tcPr anchor="ctr" marT="25400" marB="25400">
                    <a:solidFill>
                      <a:srgbClr val="FFFFFF"/>
                    </a:solidFill>
                  </a:tcPr>
                </a:tc>
                <a:tc>
                  <a:txBody>
                    <a:bodyPr/>
                    <a:lstStyle/>
                    <a:p>
                      <a:r>
                        <a:rPr sz="1050" b="0">
                          <a:solidFill>
                            <a:srgbClr val="1B1812"/>
                          </a:solidFill>
                          <a:latin typeface="Archivo"/>
                        </a:rPr>
                        <a:t>70</a:t>
                      </a:r>
                    </a:p>
                  </a:txBody>
                  <a:tcPr anchor="ctr" marT="25400" marB="25400">
                    <a:solidFill>
                      <a:srgbClr val="FFFFFF"/>
                    </a:solidFill>
                  </a:tcPr>
                </a:tc>
                <a:tc>
                  <a:txBody>
                    <a:bodyPr/>
                    <a:lstStyle/>
                    <a:p>
                      <a:r>
                        <a:rPr sz="1050" b="0">
                          <a:solidFill>
                            <a:srgbClr val="1B1812"/>
                          </a:solidFill>
                          <a:latin typeface="Archivo"/>
                        </a:rPr>
                        <a:t>L3–L5</a:t>
                      </a:r>
                    </a:p>
                  </a:txBody>
                  <a:tcPr anchor="ctr" marT="25400" marB="25400">
                    <a:solidFill>
                      <a:srgbClr val="FFFFFF"/>
                    </a:solidFill>
                  </a:tcPr>
                </a:tc>
                <a:tc>
                  <a:txBody>
                    <a:bodyPr/>
                    <a:lstStyle/>
                    <a:p>
                      <a:r>
                        <a:rPr sz="1050" b="0">
                          <a:solidFill>
                            <a:srgbClr val="1B1812"/>
                          </a:solidFill>
                          <a:latin typeface="Archivo"/>
                        </a:rPr>
                        <a:t>per active project · per stage-gate</a:t>
                      </a:r>
                    </a:p>
                  </a:txBody>
                  <a:tcPr anchor="ctr" marT="25400" marB="25400">
                    <a:solidFill>
                      <a:srgbClr val="FFFFFF"/>
                    </a:solidFill>
                  </a:tcPr>
                </a:tc>
              </a:tr>
              <a:tr h="402336">
                <a:tc>
                  <a:txBody>
                    <a:bodyPr/>
                    <a:lstStyle/>
                    <a:p>
                      <a:r>
                        <a:rPr sz="1050" b="1">
                          <a:solidFill>
                            <a:srgbClr val="005358"/>
                          </a:solidFill>
                          <a:latin typeface="Archivo"/>
                        </a:rPr>
                        <a:t>Offtake &amp; PPA</a:t>
                      </a:r>
                    </a:p>
                  </a:txBody>
                  <a:tcPr anchor="ctr" marT="25400" marB="25400">
                    <a:solidFill>
                      <a:srgbClr val="F5F3EF"/>
                    </a:solidFill>
                  </a:tcPr>
                </a:tc>
                <a:tc>
                  <a:txBody>
                    <a:bodyPr/>
                    <a:lstStyle/>
                    <a:p>
                      <a:r>
                        <a:rPr sz="1050" b="0">
                          <a:solidFill>
                            <a:srgbClr val="1B1812"/>
                          </a:solidFill>
                          <a:latin typeface="Archivo"/>
                        </a:rPr>
                        <a:t>Offtaker</a:t>
                      </a:r>
                    </a:p>
                  </a:txBody>
                  <a:tcPr anchor="ctr" marT="25400" marB="25400">
                    <a:solidFill>
                      <a:srgbClr val="F5F3EF"/>
                    </a:solidFill>
                  </a:tcPr>
                </a:tc>
                <a:tc>
                  <a:txBody>
                    <a:bodyPr/>
                    <a:lstStyle/>
                    <a:p>
                      <a:r>
                        <a:rPr sz="1050" b="0">
                          <a:solidFill>
                            <a:srgbClr val="1B1812"/>
                          </a:solidFill>
                          <a:latin typeface="Archivo"/>
                        </a:rPr>
                        <a:t>16</a:t>
                      </a:r>
                    </a:p>
                  </a:txBody>
                  <a:tcPr anchor="ctr" marT="25400" marB="25400">
                    <a:solidFill>
                      <a:srgbClr val="F5F3EF"/>
                    </a:solidFill>
                  </a:tcPr>
                </a:tc>
                <a:tc>
                  <a:txBody>
                    <a:bodyPr/>
                    <a:lstStyle/>
                    <a:p>
                      <a:r>
                        <a:rPr sz="1050" b="0">
                          <a:solidFill>
                            <a:srgbClr val="1B1812"/>
                          </a:solidFill>
                          <a:latin typeface="Archivo"/>
                        </a:rPr>
                        <a:t>L4–L5</a:t>
                      </a:r>
                    </a:p>
                  </a:txBody>
                  <a:tcPr anchor="ctr" marT="25400" marB="25400">
                    <a:solidFill>
                      <a:srgbClr val="F5F3EF"/>
                    </a:solidFill>
                  </a:tcPr>
                </a:tc>
                <a:tc>
                  <a:txBody>
                    <a:bodyPr/>
                    <a:lstStyle/>
                    <a:p>
                      <a:r>
                        <a:rPr sz="1050" b="0">
                          <a:solidFill>
                            <a:srgbClr val="1B1812"/>
                          </a:solidFill>
                          <a:latin typeface="Archivo"/>
                        </a:rPr>
                        <a:t>per MWh settled · per PPA</a:t>
                      </a:r>
                    </a:p>
                  </a:txBody>
                  <a:tcPr anchor="ctr" marT="25400" marB="25400">
                    <a:solidFill>
                      <a:srgbClr val="F5F3EF"/>
                    </a:solidFill>
                  </a:tcPr>
                </a:tc>
              </a:tr>
              <a:tr h="402336">
                <a:tc>
                  <a:txBody>
                    <a:bodyPr/>
                    <a:lstStyle/>
                    <a:p>
                      <a:r>
                        <a:rPr sz="1050" b="1">
                          <a:solidFill>
                            <a:srgbClr val="005358"/>
                          </a:solidFill>
                          <a:latin typeface="Archivo"/>
                        </a:rPr>
                        <a:t>Trading &amp; settlement</a:t>
                      </a:r>
                    </a:p>
                  </a:txBody>
                  <a:tcPr anchor="ctr" marT="25400" marB="25400">
                    <a:solidFill>
                      <a:srgbClr val="FFFFFF"/>
                    </a:solidFill>
                  </a:tcPr>
                </a:tc>
                <a:tc>
                  <a:txBody>
                    <a:bodyPr/>
                    <a:lstStyle/>
                    <a:p>
                      <a:r>
                        <a:rPr sz="1050" b="0">
                          <a:solidFill>
                            <a:srgbClr val="1B1812"/>
                          </a:solidFill>
                          <a:latin typeface="Archivo"/>
                        </a:rPr>
                        <a:t>Trader</a:t>
                      </a:r>
                    </a:p>
                  </a:txBody>
                  <a:tcPr anchor="ctr" marT="25400" marB="25400">
                    <a:solidFill>
                      <a:srgbClr val="FFFFFF"/>
                    </a:solidFill>
                  </a:tcPr>
                </a:tc>
                <a:tc>
                  <a:txBody>
                    <a:bodyPr/>
                    <a:lstStyle/>
                    <a:p>
                      <a:r>
                        <a:rPr sz="1050" b="0">
                          <a:solidFill>
                            <a:srgbClr val="1B1812"/>
                          </a:solidFill>
                          <a:latin typeface="Archivo"/>
                        </a:rPr>
                        <a:t>22</a:t>
                      </a:r>
                    </a:p>
                  </a:txBody>
                  <a:tcPr anchor="ctr" marT="25400" marB="25400">
                    <a:solidFill>
                      <a:srgbClr val="FFFFFF"/>
                    </a:solidFill>
                  </a:tcPr>
                </a:tc>
                <a:tc>
                  <a:txBody>
                    <a:bodyPr/>
                    <a:lstStyle/>
                    <a:p>
                      <a:r>
                        <a:rPr sz="1050" b="0">
                          <a:solidFill>
                            <a:srgbClr val="1B1812"/>
                          </a:solidFill>
                          <a:latin typeface="Archivo"/>
                        </a:rPr>
                        <a:t>L4–L5</a:t>
                      </a:r>
                    </a:p>
                  </a:txBody>
                  <a:tcPr anchor="ctr" marT="25400" marB="25400">
                    <a:solidFill>
                      <a:srgbClr val="FFFFFF"/>
                    </a:solidFill>
                  </a:tcPr>
                </a:tc>
                <a:tc>
                  <a:txBody>
                    <a:bodyPr/>
                    <a:lstStyle/>
                    <a:p>
                      <a:r>
                        <a:rPr sz="1050" b="0">
                          <a:solidFill>
                            <a:srgbClr val="1B1812"/>
                          </a:solidFill>
                          <a:latin typeface="Archivo"/>
                        </a:rPr>
                        <a:t>bps on notional · per settlement</a:t>
                      </a:r>
                    </a:p>
                  </a:txBody>
                  <a:tcPr anchor="ctr" marT="25400" marB="25400">
                    <a:solidFill>
                      <a:srgbClr val="FFFFFF"/>
                    </a:solidFill>
                  </a:tcPr>
                </a:tc>
              </a:tr>
              <a:tr h="402336">
                <a:tc>
                  <a:txBody>
                    <a:bodyPr/>
                    <a:lstStyle/>
                    <a:p>
                      <a:r>
                        <a:rPr sz="1050" b="1">
                          <a:solidFill>
                            <a:srgbClr val="005358"/>
                          </a:solidFill>
                          <a:latin typeface="Archivo"/>
                        </a:rPr>
                        <a:t>Carbon</a:t>
                      </a:r>
                    </a:p>
                  </a:txBody>
                  <a:tcPr anchor="ctr" marT="25400" marB="25400">
                    <a:solidFill>
                      <a:srgbClr val="F5F3EF"/>
                    </a:solidFill>
                  </a:tcPr>
                </a:tc>
                <a:tc>
                  <a:txBody>
                    <a:bodyPr/>
                    <a:lstStyle/>
                    <a:p>
                      <a:r>
                        <a:rPr sz="1050" b="0">
                          <a:solidFill>
                            <a:srgbClr val="1B1812"/>
                          </a:solidFill>
                          <a:latin typeface="Archivo"/>
                        </a:rPr>
                        <a:t>Carbon Fund</a:t>
                      </a:r>
                    </a:p>
                  </a:txBody>
                  <a:tcPr anchor="ctr" marT="25400" marB="25400">
                    <a:solidFill>
                      <a:srgbClr val="F5F3EF"/>
                    </a:solidFill>
                  </a:tcPr>
                </a:tc>
                <a:tc>
                  <a:txBody>
                    <a:bodyPr/>
                    <a:lstStyle/>
                    <a:p>
                      <a:r>
                        <a:rPr sz="1050" b="0">
                          <a:solidFill>
                            <a:srgbClr val="1B1812"/>
                          </a:solidFill>
                          <a:latin typeface="Archivo"/>
                        </a:rPr>
                        <a:t>21</a:t>
                      </a:r>
                    </a:p>
                  </a:txBody>
                  <a:tcPr anchor="ctr" marT="25400" marB="25400">
                    <a:solidFill>
                      <a:srgbClr val="F5F3EF"/>
                    </a:solidFill>
                  </a:tcPr>
                </a:tc>
                <a:tc>
                  <a:txBody>
                    <a:bodyPr/>
                    <a:lstStyle/>
                    <a:p>
                      <a:r>
                        <a:rPr sz="1050" b="0">
                          <a:solidFill>
                            <a:srgbClr val="1B1812"/>
                          </a:solidFill>
                          <a:latin typeface="Archivo"/>
                        </a:rPr>
                        <a:t>L4–L5</a:t>
                      </a:r>
                    </a:p>
                  </a:txBody>
                  <a:tcPr anchor="ctr" marT="25400" marB="25400">
                    <a:solidFill>
                      <a:srgbClr val="F5F3EF"/>
                    </a:solidFill>
                  </a:tcPr>
                </a:tc>
                <a:tc>
                  <a:txBody>
                    <a:bodyPr/>
                    <a:lstStyle/>
                    <a:p>
                      <a:r>
                        <a:rPr sz="1050" b="0">
                          <a:solidFill>
                            <a:srgbClr val="1B1812"/>
                          </a:solidFill>
                          <a:latin typeface="Archivo"/>
                        </a:rPr>
                        <a:t>per credit issued / retired</a:t>
                      </a:r>
                    </a:p>
                  </a:txBody>
                  <a:tcPr anchor="ctr" marT="25400" marB="25400">
                    <a:solidFill>
                      <a:srgbClr val="F5F3EF"/>
                    </a:solidFill>
                  </a:tcPr>
                </a:tc>
              </a:tr>
              <a:tr h="402336">
                <a:tc>
                  <a:txBody>
                    <a:bodyPr/>
                    <a:lstStyle/>
                    <a:p>
                      <a:r>
                        <a:rPr sz="1050" b="1">
                          <a:solidFill>
                            <a:srgbClr val="005358"/>
                          </a:solidFill>
                          <a:latin typeface="Archivo"/>
                        </a:rPr>
                        <a:t>Grid operations</a:t>
                      </a:r>
                    </a:p>
                  </a:txBody>
                  <a:tcPr anchor="ctr" marT="25400" marB="25400">
                    <a:solidFill>
                      <a:srgbClr val="FFFFFF"/>
                    </a:solidFill>
                  </a:tcPr>
                </a:tc>
                <a:tc>
                  <a:txBody>
                    <a:bodyPr/>
                    <a:lstStyle/>
                    <a:p>
                      <a:r>
                        <a:rPr sz="1050" b="0">
                          <a:solidFill>
                            <a:srgbClr val="1B1812"/>
                          </a:solidFill>
                          <a:latin typeface="Archivo"/>
                        </a:rPr>
                        <a:t>Grid Operator</a:t>
                      </a:r>
                    </a:p>
                  </a:txBody>
                  <a:tcPr anchor="ctr" marT="25400" marB="25400">
                    <a:solidFill>
                      <a:srgbClr val="FFFFFF"/>
                    </a:solidFill>
                  </a:tcPr>
                </a:tc>
                <a:tc>
                  <a:txBody>
                    <a:bodyPr/>
                    <a:lstStyle/>
                    <a:p>
                      <a:r>
                        <a:rPr sz="1050" b="0">
                          <a:solidFill>
                            <a:srgbClr val="1B1812"/>
                          </a:solidFill>
                          <a:latin typeface="Archivo"/>
                        </a:rPr>
                        <a:t>18</a:t>
                      </a:r>
                    </a:p>
                  </a:txBody>
                  <a:tcPr anchor="ctr" marT="25400" marB="25400">
                    <a:solidFill>
                      <a:srgbClr val="FFFFFF"/>
                    </a:solidFill>
                  </a:tcPr>
                </a:tc>
                <a:tc>
                  <a:txBody>
                    <a:bodyPr/>
                    <a:lstStyle/>
                    <a:p>
                      <a:r>
                        <a:rPr sz="1050" b="0">
                          <a:solidFill>
                            <a:srgbClr val="1B1812"/>
                          </a:solidFill>
                          <a:latin typeface="Archivo"/>
                        </a:rPr>
                        <a:t>L4–L5</a:t>
                      </a:r>
                    </a:p>
                  </a:txBody>
                  <a:tcPr anchor="ctr" marT="25400" marB="25400">
                    <a:solidFill>
                      <a:srgbClr val="FFFFFF"/>
                    </a:solidFill>
                  </a:tcPr>
                </a:tc>
                <a:tc>
                  <a:txBody>
                    <a:bodyPr/>
                    <a:lstStyle/>
                    <a:p>
                      <a:r>
                        <a:rPr sz="1050" b="0">
                          <a:solidFill>
                            <a:srgbClr val="1B1812"/>
                          </a:solidFill>
                          <a:latin typeface="Archivo"/>
                        </a:rPr>
                        <a:t>per connection · per MW dispatched</a:t>
                      </a:r>
                    </a:p>
                  </a:txBody>
                  <a:tcPr anchor="ctr" marT="25400" marB="25400">
                    <a:solidFill>
                      <a:srgbClr val="FFFFFF"/>
                    </a:solidFill>
                  </a:tcPr>
                </a:tc>
              </a:tr>
              <a:tr h="402336">
                <a:tc>
                  <a:txBody>
                    <a:bodyPr/>
                    <a:lstStyle/>
                    <a:p>
                      <a:r>
                        <a:rPr sz="1050" b="1">
                          <a:solidFill>
                            <a:srgbClr val="005358"/>
                          </a:solidFill>
                          <a:latin typeface="Archivo"/>
                        </a:rPr>
                        <a:t>Lending &amp; finance</a:t>
                      </a:r>
                    </a:p>
                  </a:txBody>
                  <a:tcPr anchor="ctr" marT="25400" marB="25400">
                    <a:solidFill>
                      <a:srgbClr val="F5F3EF"/>
                    </a:solidFill>
                  </a:tcPr>
                </a:tc>
                <a:tc>
                  <a:txBody>
                    <a:bodyPr/>
                    <a:lstStyle/>
                    <a:p>
                      <a:r>
                        <a:rPr sz="1050" b="0">
                          <a:solidFill>
                            <a:srgbClr val="1B1812"/>
                          </a:solidFill>
                          <a:latin typeface="Archivo"/>
                        </a:rPr>
                        <a:t>Lender</a:t>
                      </a:r>
                    </a:p>
                  </a:txBody>
                  <a:tcPr anchor="ctr" marT="25400" marB="25400">
                    <a:solidFill>
                      <a:srgbClr val="F5F3EF"/>
                    </a:solidFill>
                  </a:tcPr>
                </a:tc>
                <a:tc>
                  <a:txBody>
                    <a:bodyPr/>
                    <a:lstStyle/>
                    <a:p>
                      <a:r>
                        <a:rPr sz="1050" b="0">
                          <a:solidFill>
                            <a:srgbClr val="1B1812"/>
                          </a:solidFill>
                          <a:latin typeface="Archivo"/>
                        </a:rPr>
                        <a:t>17</a:t>
                      </a:r>
                    </a:p>
                  </a:txBody>
                  <a:tcPr anchor="ctr" marT="25400" marB="25400">
                    <a:solidFill>
                      <a:srgbClr val="F5F3EF"/>
                    </a:solidFill>
                  </a:tcPr>
                </a:tc>
                <a:tc>
                  <a:txBody>
                    <a:bodyPr/>
                    <a:lstStyle/>
                    <a:p>
                      <a:r>
                        <a:rPr sz="1050" b="0">
                          <a:solidFill>
                            <a:srgbClr val="1B1812"/>
                          </a:solidFill>
                          <a:latin typeface="Archivo"/>
                        </a:rPr>
                        <a:t>L4–L5</a:t>
                      </a:r>
                    </a:p>
                  </a:txBody>
                  <a:tcPr anchor="ctr" marT="25400" marB="25400">
                    <a:solidFill>
                      <a:srgbClr val="F5F3EF"/>
                    </a:solidFill>
                  </a:tcPr>
                </a:tc>
                <a:tc>
                  <a:txBody>
                    <a:bodyPr/>
                    <a:lstStyle/>
                    <a:p>
                      <a:r>
                        <a:rPr sz="1050" b="0">
                          <a:solidFill>
                            <a:srgbClr val="1B1812"/>
                          </a:solidFill>
                          <a:latin typeface="Archivo"/>
                        </a:rPr>
                        <a:t>flat per drawdown · bps on facility</a:t>
                      </a:r>
                    </a:p>
                  </a:txBody>
                  <a:tcPr anchor="ctr" marT="25400" marB="25400">
                    <a:solidFill>
                      <a:srgbClr val="F5F3EF"/>
                    </a:solidFill>
                  </a:tcPr>
                </a:tc>
              </a:tr>
              <a:tr h="402336">
                <a:tc>
                  <a:txBody>
                    <a:bodyPr/>
                    <a:lstStyle/>
                    <a:p>
                      <a:r>
                        <a:rPr sz="1050" b="1">
                          <a:solidFill>
                            <a:srgbClr val="005358"/>
                          </a:solidFill>
                          <a:latin typeface="Archivo"/>
                        </a:rPr>
                        <a:t>Asset O&amp;M &amp; service</a:t>
                      </a:r>
                    </a:p>
                  </a:txBody>
                  <a:tcPr anchor="ctr" marT="25400" marB="25400">
                    <a:solidFill>
                      <a:srgbClr val="FFFFFF"/>
                    </a:solidFill>
                  </a:tcPr>
                </a:tc>
                <a:tc>
                  <a:txBody>
                    <a:bodyPr/>
                    <a:lstStyle/>
                    <a:p>
                      <a:r>
                        <a:rPr sz="1050" b="0">
                          <a:solidFill>
                            <a:srgbClr val="1B1812"/>
                          </a:solidFill>
                          <a:latin typeface="Archivo"/>
                        </a:rPr>
                        <a:t>ESCO / OEM</a:t>
                      </a:r>
                    </a:p>
                  </a:txBody>
                  <a:tcPr anchor="ctr" marT="25400" marB="25400">
                    <a:solidFill>
                      <a:srgbClr val="FFFFFF"/>
                    </a:solidFill>
                  </a:tcPr>
                </a:tc>
                <a:tc>
                  <a:txBody>
                    <a:bodyPr/>
                    <a:lstStyle/>
                    <a:p>
                      <a:r>
                        <a:rPr sz="1050" b="0">
                          <a:solidFill>
                            <a:srgbClr val="1B1812"/>
                          </a:solidFill>
                          <a:latin typeface="Archivo"/>
                        </a:rPr>
                        <a:t>25</a:t>
                      </a:r>
                    </a:p>
                  </a:txBody>
                  <a:tcPr anchor="ctr" marT="25400" marB="25400">
                    <a:solidFill>
                      <a:srgbClr val="FFFFFF"/>
                    </a:solidFill>
                  </a:tcPr>
                </a:tc>
                <a:tc>
                  <a:txBody>
                    <a:bodyPr/>
                    <a:lstStyle/>
                    <a:p>
                      <a:r>
                        <a:rPr sz="1050" b="0">
                          <a:solidFill>
                            <a:srgbClr val="1B1812"/>
                          </a:solidFill>
                          <a:latin typeface="Archivo"/>
                        </a:rPr>
                        <a:t>L3–L4</a:t>
                      </a:r>
                    </a:p>
                  </a:txBody>
                  <a:tcPr anchor="ctr" marT="25400" marB="25400">
                    <a:solidFill>
                      <a:srgbClr val="FFFFFF"/>
                    </a:solidFill>
                  </a:tcPr>
                </a:tc>
                <a:tc>
                  <a:txBody>
                    <a:bodyPr/>
                    <a:lstStyle/>
                    <a:p>
                      <a:r>
                        <a:rPr sz="1050" b="0">
                          <a:solidFill>
                            <a:srgbClr val="1B1812"/>
                          </a:solidFill>
                          <a:latin typeface="Archivo"/>
                        </a:rPr>
                        <a:t>per active facility · per work order</a:t>
                      </a:r>
                    </a:p>
                  </a:txBody>
                  <a:tcPr anchor="ctr" marT="25400" marB="25400">
                    <a:solidFill>
                      <a:srgbClr val="FFFFFF"/>
                    </a:solidFill>
                  </a:tcPr>
                </a:tc>
              </a:tr>
              <a:tr h="402336">
                <a:tc>
                  <a:txBody>
                    <a:bodyPr/>
                    <a:lstStyle/>
                    <a:p>
                      <a:r>
                        <a:rPr sz="1050" b="1">
                          <a:solidFill>
                            <a:srgbClr val="005358"/>
                          </a:solidFill>
                          <a:latin typeface="Archivo"/>
                        </a:rPr>
                        <a:t>Regulation</a:t>
                      </a:r>
                    </a:p>
                  </a:txBody>
                  <a:tcPr anchor="ctr" marT="25400" marB="25400">
                    <a:solidFill>
                      <a:srgbClr val="F5F3EF"/>
                    </a:solidFill>
                  </a:tcPr>
                </a:tc>
                <a:tc>
                  <a:txBody>
                    <a:bodyPr/>
                    <a:lstStyle/>
                    <a:p>
                      <a:r>
                        <a:rPr sz="1050" b="0">
                          <a:solidFill>
                            <a:srgbClr val="1B1812"/>
                          </a:solidFill>
                          <a:latin typeface="Archivo"/>
                        </a:rPr>
                        <a:t>Regulator</a:t>
                      </a:r>
                    </a:p>
                  </a:txBody>
                  <a:tcPr anchor="ctr" marT="25400" marB="25400">
                    <a:solidFill>
                      <a:srgbClr val="F5F3EF"/>
                    </a:solidFill>
                  </a:tcPr>
                </a:tc>
                <a:tc>
                  <a:txBody>
                    <a:bodyPr/>
                    <a:lstStyle/>
                    <a:p>
                      <a:r>
                        <a:rPr sz="1050" b="0">
                          <a:solidFill>
                            <a:srgbClr val="1B1812"/>
                          </a:solidFill>
                          <a:latin typeface="Archivo"/>
                        </a:rPr>
                        <a:t>18</a:t>
                      </a:r>
                    </a:p>
                  </a:txBody>
                  <a:tcPr anchor="ctr" marT="25400" marB="25400">
                    <a:solidFill>
                      <a:srgbClr val="F5F3EF"/>
                    </a:solidFill>
                  </a:tcPr>
                </a:tc>
                <a:tc>
                  <a:txBody>
                    <a:bodyPr/>
                    <a:lstStyle/>
                    <a:p>
                      <a:r>
                        <a:rPr sz="1050" b="0">
                          <a:solidFill>
                            <a:srgbClr val="1B1812"/>
                          </a:solidFill>
                          <a:latin typeface="Archivo"/>
                        </a:rPr>
                        <a:t>L5</a:t>
                      </a:r>
                    </a:p>
                  </a:txBody>
                  <a:tcPr anchor="ctr" marT="25400" marB="25400">
                    <a:solidFill>
                      <a:srgbClr val="F5F3EF"/>
                    </a:solidFill>
                  </a:tcPr>
                </a:tc>
                <a:tc>
                  <a:txBody>
                    <a:bodyPr/>
                    <a:lstStyle/>
                    <a:p>
                      <a:r>
                        <a:rPr sz="1050" b="0">
                          <a:solidFill>
                            <a:srgbClr val="1B1812"/>
                          </a:solidFill>
                          <a:latin typeface="Archivo"/>
                        </a:rPr>
                        <a:t>per certified export · per case</a:t>
                      </a:r>
                    </a:p>
                  </a:txBody>
                  <a:tcPr anchor="ctr" marT="25400" marB="25400">
                    <a:solidFill>
                      <a:srgbClr val="F5F3EF"/>
                    </a:solidFill>
                  </a:tcPr>
                </a:tc>
              </a:tr>
              <a:tr h="402336">
                <a:tc>
                  <a:txBody>
                    <a:bodyPr/>
                    <a:lstStyle/>
                    <a:p>
                      <a:r>
                        <a:rPr sz="1050" b="1">
                          <a:solidFill>
                            <a:srgbClr val="005358"/>
                          </a:solidFill>
                          <a:latin typeface="Archivo"/>
                        </a:rPr>
                        <a:t>TOTAL — 8 families</a:t>
                      </a:r>
                    </a:p>
                  </a:txBody>
                  <a:tcPr anchor="ctr" marT="25400" marB="25400">
                    <a:solidFill>
                      <a:srgbClr val="FFFFFF"/>
                    </a:solidFill>
                  </a:tcPr>
                </a:tc>
                <a:tc>
                  <a:txBody>
                    <a:bodyPr/>
                    <a:lstStyle/>
                    <a:p>
                      <a:r>
                        <a:rPr sz="1050" b="0">
                          <a:solidFill>
                            <a:srgbClr val="1B1812"/>
                          </a:solidFill>
                          <a:latin typeface="Archivo"/>
                        </a:rPr>
                        <a:t>11 roles</a:t>
                      </a:r>
                    </a:p>
                  </a:txBody>
                  <a:tcPr anchor="ctr" marT="25400" marB="25400">
                    <a:solidFill>
                      <a:srgbClr val="FFFFFF"/>
                    </a:solidFill>
                  </a:tcPr>
                </a:tc>
                <a:tc>
                  <a:txBody>
                    <a:bodyPr/>
                    <a:lstStyle/>
                    <a:p>
                      <a:r>
                        <a:rPr sz="1050" b="0">
                          <a:solidFill>
                            <a:srgbClr val="1B1812"/>
                          </a:solidFill>
                          <a:latin typeface="Archivo"/>
                        </a:rPr>
                        <a:t>207</a:t>
                      </a:r>
                    </a:p>
                  </a:txBody>
                  <a:tcPr anchor="ctr" marT="25400" marB="25400">
                    <a:solidFill>
                      <a:srgbClr val="FFFFFF"/>
                    </a:solidFill>
                  </a:tcPr>
                </a:tc>
                <a:tc>
                  <a:txBody>
                    <a:bodyPr/>
                    <a:lstStyle/>
                    <a:p>
                      <a:r>
                        <a:rPr sz="1050" b="0">
                          <a:solidFill>
                            <a:srgbClr val="1B1812"/>
                          </a:solidFill>
                          <a:latin typeface="Archivo"/>
                        </a:rPr>
                        <a:t>L3–L5</a:t>
                      </a:r>
                    </a:p>
                  </a:txBody>
                  <a:tcPr anchor="ctr" marT="25400" marB="25400">
                    <a:solidFill>
                      <a:srgbClr val="FFFFFF"/>
                    </a:solidFill>
                  </a:tcPr>
                </a:tc>
                <a:tc>
                  <a:txBody>
                    <a:bodyPr/>
                    <a:lstStyle/>
                    <a:p>
                      <a:r>
                        <a:rPr sz="1050" b="0">
                          <a:solidFill>
                            <a:srgbClr val="1B1812"/>
                          </a:solidFill>
                          <a:latin typeface="Archivo"/>
                        </a:rPr>
                        <a:t>seat + transaction + value</a:t>
                      </a:r>
                    </a:p>
                  </a:txBody>
                  <a:tcPr anchor="ctr" marT="25400" marB="25400">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1828800"/>
            <a:ext cx="10972800" cy="365760"/>
          </a:xfrm>
          <a:prstGeom prst="rect">
            <a:avLst/>
          </a:prstGeom>
          <a:noFill/>
        </p:spPr>
        <p:txBody>
          <a:bodyPr wrap="square" anchor="t" lIns="25400" rIns="25400" tIns="25400" bIns="25400">
            <a:spAutoFit/>
          </a:bodyPr>
          <a:lstStyle/>
          <a:p>
            <a:pPr algn="l">
              <a:spcBef>
                <a:spcPts val="0"/>
              </a:spcBef>
              <a:spcAft>
                <a:spcPts val="400"/>
              </a:spcAft>
            </a:pPr>
            <a:r>
              <a:rPr sz="1300" b="1">
                <a:solidFill>
                  <a:srgbClr val="D18E35"/>
                </a:solidFill>
                <a:latin typeface="Archivo"/>
              </a:rPr>
              <a:t>PART 2 · USER FLOWS</a:t>
            </a:r>
          </a:p>
        </p:txBody>
      </p:sp>
      <p:sp>
        <p:nvSpPr>
          <p:cNvPr id="6" name="TextBox 5"/>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Every User Journey</a:t>
            </a:r>
          </a:p>
        </p:txBody>
      </p:sp>
      <p:sp>
        <p:nvSpPr>
          <p:cNvPr id="7" name="TextBox 6"/>
          <p:cNvSpPr txBox="1"/>
          <p:nvPr/>
        </p:nvSpPr>
        <p:spPr>
          <a:xfrm>
            <a:off x="640080" y="3456432"/>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All 360 journeys the platform can run, by role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IPP Developer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76 journeys across 9 groups  ·  metered: per active project · per stage-gate</a:t>
            </a:r>
          </a:p>
          <a:p>
            <a:pPr algn="l">
              <a:spcBef>
                <a:spcPts val="0"/>
              </a:spcBef>
              <a:spcAft>
                <a:spcPts val="400"/>
              </a:spcAft>
            </a:pPr>
            <a:r>
              <a:rPr sz="1150" b="0">
                <a:solidFill>
                  <a:srgbClr val="FFFFFF"/>
                </a:solidFill>
                <a:latin typeface="Archivo"/>
              </a:rPr>
              <a:t>Project Controls  ·  Construction  ·  Documents  ·  Finance  ·  Risk &amp; Quality  ·  Regulatory Compliance  ·  Safety &amp; Grid  ·  Predictive ML  ·  Environmental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Project Controls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6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294436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My projects</a:t>
                      </a:r>
                    </a:p>
                    <a:p>
                      <a:pPr>
                        <a:spcBef>
                          <a:spcPts val="0"/>
                        </a:spcBef>
                        <a:spcAft>
                          <a:spcPts val="0"/>
                        </a:spcAft>
                      </a:pPr>
                      <a:r>
                        <a:rPr sz="750" b="0">
                          <a:solidFill>
                            <a:srgbClr val="504D46"/>
                          </a:solidFill>
                          <a:latin typeface="Archivo"/>
                        </a:rPr>
                        <a:t>Active project portfolio — status, phase, health KPIs.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Milestones</a:t>
                      </a:r>
                    </a:p>
                    <a:p>
                      <a:pPr>
                        <a:spcBef>
                          <a:spcPts val="0"/>
                        </a:spcBef>
                        <a:spcAft>
                          <a:spcPts val="0"/>
                        </a:spcAft>
                      </a:pPr>
                      <a:r>
                        <a:rPr sz="750" b="0">
                          <a:solidFill>
                            <a:srgbClr val="504D46"/>
                          </a:solidFill>
                          <a:latin typeface="Archivo"/>
                        </a:rPr>
                        <a:t>Project milestone tracking with variance analysis.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Schedule pulse</a:t>
                      </a:r>
                    </a:p>
                    <a:p>
                      <a:pPr>
                        <a:spcBef>
                          <a:spcPts val="0"/>
                        </a:spcBef>
                        <a:spcAft>
                          <a:spcPts val="0"/>
                        </a:spcAft>
                      </a:pPr>
                      <a:r>
                        <a:rPr sz="750" b="0">
                          <a:solidFill>
                            <a:srgbClr val="504D46"/>
                          </a:solidFill>
                          <a:latin typeface="Archivo"/>
                        </a:rPr>
                        <a:t>Critical path summary and schedule health.</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WBS &amp; Gantt</a:t>
                      </a:r>
                    </a:p>
                    <a:p>
                      <a:pPr>
                        <a:spcBef>
                          <a:spcPts val="0"/>
                        </a:spcBef>
                        <a:spcAft>
                          <a:spcPts val="0"/>
                        </a:spcAft>
                      </a:pPr>
                      <a:r>
                        <a:rPr sz="750" b="0">
                          <a:solidFill>
                            <a:srgbClr val="504D46"/>
                          </a:solidFill>
                          <a:latin typeface="Archivo"/>
                        </a:rPr>
                        <a:t>Work breakdown structure with CPM Gantt.</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planned → in_progress → delayed → completed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ipp_schedule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Cost &amp; EVM</a:t>
                      </a:r>
                    </a:p>
                    <a:p>
                      <a:pPr>
                        <a:spcBef>
                          <a:spcPts val="0"/>
                        </a:spcBef>
                        <a:spcAft>
                          <a:spcPts val="0"/>
                        </a:spcAft>
                      </a:pPr>
                      <a:r>
                        <a:rPr sz="750" b="0">
                          <a:solidFill>
                            <a:srgbClr val="504D46"/>
                          </a:solidFill>
                          <a:latin typeface="Archivo"/>
                        </a:rPr>
                        <a:t>Earned value management — CPI, SPI, EAC.</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approved → monitoring → variance_review → closed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ipp_evm</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Milestone variance</a:t>
                      </a:r>
                    </a:p>
                    <a:p>
                      <a:pPr>
                        <a:spcBef>
                          <a:spcPts val="0"/>
                        </a:spcBef>
                        <a:spcAft>
                          <a:spcPts val="0"/>
                        </a:spcAft>
                      </a:pPr>
                      <a:r>
                        <a:rPr sz="750" b="0">
                          <a:solidFill>
                            <a:srgbClr val="504D46"/>
                          </a:solidFill>
                          <a:latin typeface="Archivo"/>
                        </a:rPr>
                        <a:t>Formal milestone variance reports (W207).</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critical_delay → dfi_accepted → dfi_queries → dfi_queries_res…</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milestone_variance_report</a:t>
                      </a:r>
                    </a:p>
                  </a:txBody>
                  <a:tcPr anchor="ctr" marT="25400" marB="25400" marL="50800" marR="50800">
                    <a:solidFill>
                      <a:srgbClr val="F5F3E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Construction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Procurement / RFPs</a:t>
                      </a:r>
                    </a:p>
                    <a:p>
                      <a:pPr>
                        <a:spcBef>
                          <a:spcPts val="0"/>
                        </a:spcBef>
                        <a:spcAft>
                          <a:spcPts val="0"/>
                        </a:spcAft>
                      </a:pPr>
                      <a:r>
                        <a:rPr sz="750" b="0">
                          <a:solidFill>
                            <a:srgbClr val="504D46"/>
                          </a:solidFill>
                          <a:latin typeface="Archivo"/>
                        </a:rPr>
                        <a:t>REIPPPP RFP and procurement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issued → evaluation → awarded → completed → cancelled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procurement_rfp</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Construction / COD</a:t>
                      </a:r>
                    </a:p>
                    <a:p>
                      <a:pPr>
                        <a:spcBef>
                          <a:spcPts val="0"/>
                        </a:spcBef>
                        <a:spcAft>
                          <a:spcPts val="0"/>
                        </a:spcAft>
                      </a:pPr>
                      <a:r>
                        <a:rPr sz="750" b="0">
                          <a:solidFill>
                            <a:srgbClr val="504D46"/>
                          </a:solidFill>
                          <a:latin typeface="Archivo"/>
                        </a:rPr>
                        <a:t>NERSA §C-5 construction and COD workflow.</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design → procurement → construction → mechanical_completion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cod_chain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Subcontractors</a:t>
                      </a:r>
                    </a:p>
                    <a:p>
                      <a:pPr>
                        <a:spcBef>
                          <a:spcPts val="0"/>
                        </a:spcBef>
                        <a:spcAft>
                          <a:spcPts val="0"/>
                        </a:spcAft>
                      </a:pPr>
                      <a:r>
                        <a:rPr sz="750" b="0">
                          <a:solidFill>
                            <a:srgbClr val="504D46"/>
                          </a:solidFill>
                          <a:latin typeface="Archivo"/>
                        </a:rPr>
                        <a:t>Subcontractor register and compliance.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closed → demobilized → good_standing → inducted → mobilized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ipp_subcontractor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Daily field report</a:t>
                      </a:r>
                    </a:p>
                    <a:p>
                      <a:pPr>
                        <a:spcBef>
                          <a:spcPts val="0"/>
                        </a:spcBef>
                        <a:spcAft>
                          <a:spcPts val="0"/>
                        </a:spcAft>
                      </a:pPr>
                      <a:r>
                        <a:rPr sz="750" b="0">
                          <a:solidFill>
                            <a:srgbClr val="504D46"/>
                          </a:solidFill>
                          <a:latin typeface="Archivo"/>
                        </a:rPr>
                        <a:t>Construction daily field reports.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archived → corrected → distributed → drafted → ent…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dfr</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Site diary</a:t>
                      </a:r>
                    </a:p>
                    <a:p>
                      <a:pPr>
                        <a:spcBef>
                          <a:spcPts val="0"/>
                        </a:spcBef>
                        <a:spcAft>
                          <a:spcPts val="0"/>
                        </a:spcAft>
                      </a:pPr>
                      <a:r>
                        <a:rPr sz="750" b="0">
                          <a:solidFill>
                            <a:srgbClr val="504D46"/>
                          </a:solidFill>
                          <a:latin typeface="Archivo"/>
                        </a:rPr>
                        <a:t>Site diary and inspection records (W143).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correction_accepted → countersigned → disputed → 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ipp_construction_diary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Punch list</a:t>
                      </a:r>
                    </a:p>
                    <a:p>
                      <a:pPr>
                        <a:spcBef>
                          <a:spcPts val="0"/>
                        </a:spcBef>
                        <a:spcAft>
                          <a:spcPts val="0"/>
                        </a:spcAft>
                      </a:pPr>
                      <a:r>
                        <a:rPr sz="750" b="0">
                          <a:solidFill>
                            <a:srgbClr val="504D46"/>
                          </a:solidFill>
                          <a:latin typeface="Archivo"/>
                        </a:rPr>
                        <a:t>Pre-COD punch list items and closure.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accepted → assessed → assigned → closed → identified → in_rem…</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punch_list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Material inspections</a:t>
                      </a:r>
                    </a:p>
                    <a:p>
                      <a:pPr>
                        <a:spcBef>
                          <a:spcPts val="0"/>
                        </a:spcBef>
                        <a:spcAft>
                          <a:spcPts val="0"/>
                        </a:spcAft>
                      </a:pPr>
                      <a:r>
                        <a:rPr sz="750" b="0">
                          <a:solidFill>
                            <a:srgbClr val="504D46"/>
                          </a:solidFill>
                          <a:latin typeface="Archivo"/>
                        </a:rPr>
                        <a:t>Material inspection request records.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conditional_approval → delivered → delivery_notifi…</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ipp_mir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Handover dossier</a:t>
                      </a:r>
                    </a:p>
                    <a:p>
                      <a:pPr>
                        <a:spcBef>
                          <a:spcPts val="0"/>
                        </a:spcBef>
                        <a:spcAft>
                          <a:spcPts val="0"/>
                        </a:spcAft>
                      </a:pPr>
                      <a:r>
                        <a:rPr sz="750" b="0">
                          <a:solidFill>
                            <a:srgbClr val="504D46"/>
                          </a:solidFill>
                          <a:latin typeface="Archivo"/>
                        </a:rPr>
                        <a:t>O&amp;M handover documentation package.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archived → dossier_compiled → operations_owned → p…</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handover_dossier</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Change orders</a:t>
                      </a:r>
                    </a:p>
                    <a:p>
                      <a:pPr>
                        <a:spcBef>
                          <a:spcPts val="0"/>
                        </a:spcBef>
                        <a:spcAft>
                          <a:spcPts val="0"/>
                        </a:spcAft>
                      </a:pPr>
                      <a:r>
                        <a:rPr sz="750" b="0">
                          <a:solidFill>
                            <a:srgbClr val="504D46"/>
                          </a:solidFill>
                          <a:latin typeface="Archivo"/>
                        </a:rPr>
                        <a:t>Project change-order / variation control (W81).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cancelled → deferred → disputed → draft → impact_a…</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project_change_order</a:t>
                      </a:r>
                    </a:p>
                  </a:txBody>
                  <a:tcPr anchor="ctr" marT="25400" marB="25400" marL="50800" marR="508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Construction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Submittals / RFIs</a:t>
                      </a:r>
                    </a:p>
                    <a:p>
                      <a:pPr>
                        <a:spcBef>
                          <a:spcPts val="0"/>
                        </a:spcBef>
                        <a:spcAft>
                          <a:spcPts val="0"/>
                        </a:spcAft>
                      </a:pPr>
                      <a:r>
                        <a:rPr sz="750" b="0">
                          <a:solidFill>
                            <a:srgbClr val="504D46"/>
                          </a:solidFill>
                          <a:latin typeface="Archivo"/>
                        </a:rPr>
                        <a:t>EPC submittal and RFI document control (W96).</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clarification_requested → closed_clean → distribut…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submittal_rfi</a:t>
                      </a:r>
                    </a:p>
                  </a:txBody>
                  <a:tcPr anchor="ctr" marT="25400" marB="25400" marL="50800" marR="508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Documents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Document control</a:t>
                      </a:r>
                    </a:p>
                    <a:p>
                      <a:pPr>
                        <a:spcBef>
                          <a:spcPts val="0"/>
                        </a:spcBef>
                        <a:spcAft>
                          <a:spcPts val="0"/>
                        </a:spcAft>
                      </a:pPr>
                      <a:r>
                        <a:rPr sz="750" b="0">
                          <a:solidFill>
                            <a:srgbClr val="504D46"/>
                          </a:solidFill>
                          <a:latin typeface="Archivo"/>
                        </a:rPr>
                        <a:t>Project document register and revision control.</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under_review → approved → superseded → rejected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ipp_doc_control</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Submittals</a:t>
                      </a:r>
                    </a:p>
                    <a:p>
                      <a:pPr>
                        <a:spcBef>
                          <a:spcPts val="0"/>
                        </a:spcBef>
                        <a:spcAft>
                          <a:spcPts val="0"/>
                        </a:spcAft>
                      </a:pPr>
                      <a:r>
                        <a:rPr sz="750" b="0">
                          <a:solidFill>
                            <a:srgbClr val="504D46"/>
                          </a:solidFill>
                          <a:latin typeface="Archivo"/>
                        </a:rPr>
                        <a:t>EPC submittal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assigned_to_reviewer → closed_out → contractor_dra…</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ipp_submittal</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RFIs</a:t>
                      </a:r>
                    </a:p>
                    <a:p>
                      <a:pPr>
                        <a:spcBef>
                          <a:spcPts val="0"/>
                        </a:spcBef>
                        <a:spcAft>
                          <a:spcPts val="0"/>
                        </a:spcAft>
                      </a:pPr>
                      <a:r>
                        <a:rPr sz="750" b="0">
                          <a:solidFill>
                            <a:srgbClr val="504D46"/>
                          </a:solidFill>
                          <a:latin typeface="Archivo"/>
                        </a:rPr>
                        <a:t>Requests for information.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answer_returned → archived → assigned_to_responder → clarific…</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ipp_rfi</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Technical queries</a:t>
                      </a:r>
                    </a:p>
                    <a:p>
                      <a:pPr>
                        <a:spcBef>
                          <a:spcPts val="0"/>
                        </a:spcBef>
                        <a:spcAft>
                          <a:spcPts val="0"/>
                        </a:spcAft>
                      </a:pPr>
                      <a:r>
                        <a:rPr sz="750" b="0">
                          <a:solidFill>
                            <a:srgbClr val="504D46"/>
                          </a:solidFill>
                          <a:latin typeface="Archivo"/>
                        </a:rPr>
                        <a:t>Engineering technical query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allocated → closed → design_change_required →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ipp_tq</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Site instructions</a:t>
                      </a:r>
                    </a:p>
                    <a:p>
                      <a:pPr>
                        <a:spcBef>
                          <a:spcPts val="0"/>
                        </a:spcBef>
                        <a:spcAft>
                          <a:spcPts val="0"/>
                        </a:spcAft>
                      </a:pPr>
                      <a:r>
                        <a:rPr sz="750" b="0">
                          <a:solidFill>
                            <a:srgbClr val="504D46"/>
                          </a:solidFill>
                          <a:latin typeface="Archivo"/>
                        </a:rPr>
                        <a:t>Engineer site instructions (W144).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closed → completed → dispute_resolved → disput…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site_instruction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DLP defects</a:t>
                      </a:r>
                    </a:p>
                    <a:p>
                      <a:pPr>
                        <a:spcBef>
                          <a:spcPts val="0"/>
                        </a:spcBef>
                        <a:spcAft>
                          <a:spcPts val="0"/>
                        </a:spcAft>
                      </a:pPr>
                      <a:r>
                        <a:rPr sz="750" b="0">
                          <a:solidFill>
                            <a:srgbClr val="504D46"/>
                          </a:solidFill>
                          <a:latin typeface="Archivo"/>
                        </a:rPr>
                        <a:t>Defects liability period tracking (W145).</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cancelled → closed → disputed → escalated_to_n…</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dlp_defect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Variation orders</a:t>
                      </a:r>
                    </a:p>
                    <a:p>
                      <a:pPr>
                        <a:spcBef>
                          <a:spcPts val="0"/>
                        </a:spcBef>
                        <a:spcAft>
                          <a:spcPts val="0"/>
                        </a:spcAft>
                      </a:pPr>
                      <a:r>
                        <a:rPr sz="750" b="0">
                          <a:solidFill>
                            <a:srgbClr val="504D46"/>
                          </a:solidFill>
                          <a:latin typeface="Archivo"/>
                        </a:rPr>
                        <a:t>Variation order chain (W146).</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adjudicated → approved → cancelled → completed…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variation_order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Payment certificates</a:t>
                      </a:r>
                    </a:p>
                    <a:p>
                      <a:pPr>
                        <a:spcBef>
                          <a:spcPts val="0"/>
                        </a:spcBef>
                        <a:spcAft>
                          <a:spcPts val="0"/>
                        </a:spcAft>
                      </a:pPr>
                      <a:r>
                        <a:rPr sz="750" b="0">
                          <a:solidFill>
                            <a:srgbClr val="504D46"/>
                          </a:solidFill>
                          <a:latin typeface="Archivo"/>
                        </a:rPr>
                        <a:t>Progress payment certificates (W147).</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adjudicated → assessed → certified → disputed → draft → final…</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ipp_payment_cert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Final completion</a:t>
                      </a:r>
                    </a:p>
                    <a:p>
                      <a:pPr>
                        <a:spcBef>
                          <a:spcPts val="0"/>
                        </a:spcBef>
                        <a:spcAft>
                          <a:spcPts val="0"/>
                        </a:spcAft>
                      </a:pPr>
                      <a:r>
                        <a:rPr sz="750" b="0">
                          <a:solidFill>
                            <a:srgbClr val="504D46"/>
                          </a:solidFill>
                          <a:latin typeface="Archivo"/>
                        </a:rPr>
                        <a:t>Final completion certificate (W148).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adjudicated → application_submitted → defects_outstanding → 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ipp_final_completion</a:t>
                      </a:r>
                    </a:p>
                  </a:txBody>
                  <a:tcPr anchor="ctr" marT="25400" marB="25400" marL="50800" marR="508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Documents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O&amp;M handover</a:t>
                      </a:r>
                    </a:p>
                    <a:p>
                      <a:pPr>
                        <a:spcBef>
                          <a:spcPts val="0"/>
                        </a:spcBef>
                        <a:spcAft>
                          <a:spcPts val="0"/>
                        </a:spcAft>
                      </a:pPr>
                      <a:r>
                        <a:rPr sz="750" b="0">
                          <a:solidFill>
                            <a:srgbClr val="504D46"/>
                          </a:solidFill>
                          <a:latin typeface="Archivo"/>
                        </a:rPr>
                        <a:t>O&amp;M handover package (W149).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accepted → archived → compilation → conditional_acceptance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ipp_om_handover</a:t>
                      </a:r>
                    </a:p>
                  </a:txBody>
                  <a:tcPr anchor="ctr" marT="25400" marB="25400" marL="50800" marR="50800">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Finance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Insurance</a:t>
                      </a:r>
                    </a:p>
                    <a:p>
                      <a:pPr>
                        <a:spcBef>
                          <a:spcPts val="0"/>
                        </a:spcBef>
                        <a:spcAft>
                          <a:spcPts val="0"/>
                        </a:spcAft>
                      </a:pPr>
                      <a:r>
                        <a:rPr sz="750" b="0">
                          <a:solidFill>
                            <a:srgbClr val="504D46"/>
                          </a:solidFill>
                          <a:latin typeface="Archivo"/>
                        </a:rPr>
                        <a:t>Active insurance policies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Insurance claims</a:t>
                      </a:r>
                    </a:p>
                    <a:p>
                      <a:pPr>
                        <a:spcBef>
                          <a:spcPts val="0"/>
                        </a:spcBef>
                        <a:spcAft>
                          <a:spcPts val="0"/>
                        </a:spcAft>
                      </a:pPr>
                      <a:r>
                        <a:rPr sz="750" b="0">
                          <a:solidFill>
                            <a:srgbClr val="504D46"/>
                          </a:solidFill>
                          <a:latin typeface="Archivo"/>
                        </a:rPr>
                        <a:t>FSCA Section 38 insurance claim workflow.</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under_review → investigating → settled → rejected…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insurance_claim</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Bonds</a:t>
                      </a:r>
                    </a:p>
                    <a:p>
                      <a:pPr>
                        <a:spcBef>
                          <a:spcPts val="0"/>
                        </a:spcBef>
                        <a:spcAft>
                          <a:spcPts val="0"/>
                        </a:spcAft>
                      </a:pPr>
                      <a:r>
                        <a:rPr sz="750" b="0">
                          <a:solidFill>
                            <a:srgbClr val="504D46"/>
                          </a:solidFill>
                          <a:latin typeface="Archivo"/>
                        </a:rPr>
                        <a:t>Performance bonds and expiry countdown.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call_pending → expired → forfeited → released → repl…</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ipp_performance_bonds</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Progress claims</a:t>
                      </a:r>
                    </a:p>
                    <a:p>
                      <a:pPr>
                        <a:spcBef>
                          <a:spcPts val="0"/>
                        </a:spcBef>
                        <a:spcAft>
                          <a:spcPts val="0"/>
                        </a:spcAft>
                      </a:pPr>
                      <a:r>
                        <a:rPr sz="750" b="0">
                          <a:solidFill>
                            <a:srgbClr val="504D46"/>
                          </a:solidFill>
                          <a:latin typeface="Archivo"/>
                        </a:rPr>
                        <a:t>Progress claim certification chain.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closed → disputed → engineer_certified → final_acc…</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ipp_progress_claim</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Conditions Precedent</a:t>
                      </a:r>
                    </a:p>
                    <a:p>
                      <a:pPr>
                        <a:spcBef>
                          <a:spcPts val="0"/>
                        </a:spcBef>
                        <a:spcAft>
                          <a:spcPts val="0"/>
                        </a:spcAft>
                      </a:pPr>
                      <a:r>
                        <a:rPr sz="750" b="0">
                          <a:solidFill>
                            <a:srgbClr val="504D46"/>
                          </a:solidFill>
                          <a:latin typeface="Archivo"/>
                        </a:rPr>
                        <a:t>Financial close CP tracker (W192).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conditional_pass → cure_underway → documented → identified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cp_tracker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Drawdown requests</a:t>
                      </a:r>
                    </a:p>
                    <a:p>
                      <a:pPr>
                        <a:spcBef>
                          <a:spcPts val="0"/>
                        </a:spcBef>
                        <a:spcAft>
                          <a:spcPts val="0"/>
                        </a:spcAft>
                      </a:pPr>
                      <a:r>
                        <a:rPr sz="750" b="0">
                          <a:solidFill>
                            <a:srgbClr val="504D46"/>
                          </a:solidFill>
                          <a:latin typeface="Archivo"/>
                        </a:rPr>
                        <a:t>SARB IE-gated drawdown chain (W21).</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ie_review → lender_review → approved → disbursed → re…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drawdown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Green bond reports</a:t>
                      </a:r>
                    </a:p>
                    <a:p>
                      <a:pPr>
                        <a:spcBef>
                          <a:spcPts val="0"/>
                        </a:spcBef>
                        <a:spcAft>
                          <a:spcPts val="0"/>
                        </a:spcAft>
                      </a:pPr>
                      <a:r>
                        <a:rPr sz="750" b="0">
                          <a:solidFill>
                            <a:srgbClr val="504D46"/>
                          </a:solidFill>
                          <a:latin typeface="Archivo"/>
                        </a:rPr>
                        <a:t>Green bond framework reports (W202).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board_approval → data_gathering → deficiency_noted…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green_bond_report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DSCR reports</a:t>
                      </a:r>
                    </a:p>
                    <a:p>
                      <a:pPr>
                        <a:spcBef>
                          <a:spcPts val="0"/>
                        </a:spcBef>
                        <a:spcAft>
                          <a:spcPts val="0"/>
                        </a:spcAft>
                      </a:pPr>
                      <a:r>
                        <a:rPr sz="750" b="0">
                          <a:solidFill>
                            <a:srgbClr val="504D46"/>
                          </a:solidFill>
                          <a:latin typeface="Archivo"/>
                        </a:rPr>
                        <a:t>Debt service coverage ratio reports (W212).</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accepted → calculation → covenant_breach → data_gathering → 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dscr_report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Credit insurance</a:t>
                      </a:r>
                    </a:p>
                    <a:p>
                      <a:pPr>
                        <a:spcBef>
                          <a:spcPts val="0"/>
                        </a:spcBef>
                        <a:spcAft>
                          <a:spcPts val="0"/>
                        </a:spcAft>
                      </a:pPr>
                      <a:r>
                        <a:rPr sz="750" b="0">
                          <a:solidFill>
                            <a:srgbClr val="504D46"/>
                          </a:solidFill>
                          <a:latin typeface="Archivo"/>
                        </a:rPr>
                        <a:t>Credit insurance facility (W218).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application → bound → cancelled → claim_assessed → c…</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credit_insurance</a:t>
                      </a:r>
                    </a:p>
                  </a:txBody>
                  <a:tcPr anchor="ctr" marT="25400" marB="25400" marL="50800" marR="5080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Finance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Take-or-pay claims</a:t>
                      </a:r>
                    </a:p>
                    <a:p>
                      <a:pPr>
                        <a:spcBef>
                          <a:spcPts val="0"/>
                        </a:spcBef>
                        <a:spcAft>
                          <a:spcPts val="0"/>
                        </a:spcAft>
                      </a:pPr>
                      <a:r>
                        <a:rPr sz="750" b="0">
                          <a:solidFill>
                            <a:srgbClr val="504D46"/>
                          </a:solidFill>
                          <a:latin typeface="Archivo"/>
                        </a:rPr>
                        <a:t>Generator take-or-pay claim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arbitrated → claim_prepared → claim_submitted → classificatio…</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curtailment_claim  ◆</a:t>
                      </a:r>
                    </a:p>
                  </a:txBody>
                  <a:tcPr anchor="ctr" marT="25400" marB="25400" marL="50800" marR="50800">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Risk &amp; Quality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Stage gates</a:t>
                      </a:r>
                    </a:p>
                    <a:p>
                      <a:pPr>
                        <a:spcBef>
                          <a:spcPts val="0"/>
                        </a:spcBef>
                        <a:spcAft>
                          <a:spcPts val="0"/>
                        </a:spcAft>
                      </a:pPr>
                      <a:r>
                        <a:rPr sz="750" b="0">
                          <a:solidFill>
                            <a:srgbClr val="504D46"/>
                          </a:solidFill>
                          <a:latin typeface="Archivo"/>
                        </a:rPr>
                        <a:t>DG0–DG4 development gate reviews.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dg0_pending → dg1_pending → dg2_pending → dg3_pending → dg4_p…</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stage_gate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Risk register</a:t>
                      </a:r>
                    </a:p>
                    <a:p>
                      <a:pPr>
                        <a:spcBef>
                          <a:spcPts val="0"/>
                        </a:spcBef>
                        <a:spcAft>
                          <a:spcPts val="0"/>
                        </a:spcAft>
                      </a:pPr>
                      <a:r>
                        <a:rPr sz="750" b="0">
                          <a:solidFill>
                            <a:srgbClr val="504D46"/>
                          </a:solidFill>
                          <a:latin typeface="Archivo"/>
                        </a:rPr>
                        <a:t>Project risk register — severity × likelihood.</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Issues log</a:t>
                      </a:r>
                    </a:p>
                    <a:p>
                      <a:pPr>
                        <a:spcBef>
                          <a:spcPts val="0"/>
                        </a:spcBef>
                        <a:spcAft>
                          <a:spcPts val="0"/>
                        </a:spcAft>
                      </a:pPr>
                      <a:r>
                        <a:rPr sz="750" b="0">
                          <a:solidFill>
                            <a:srgbClr val="504D46"/>
                          </a:solidFill>
                          <a:latin typeface="Archivo"/>
                        </a:rPr>
                        <a:t>Open issues log and resolution tracking.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Stakeholder register</a:t>
                      </a:r>
                    </a:p>
                    <a:p>
                      <a:pPr>
                        <a:spcBef>
                          <a:spcPts val="0"/>
                        </a:spcBef>
                        <a:spcAft>
                          <a:spcPts val="0"/>
                        </a:spcAft>
                      </a:pPr>
                      <a:r>
                        <a:rPr sz="750" b="0">
                          <a:solidFill>
                            <a:srgbClr val="504D46"/>
                          </a:solidFill>
                          <a:latin typeface="Archivo"/>
                        </a:rPr>
                        <a:t>Stakeholder map and engagement log.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ITP / Quality plan</a:t>
                      </a:r>
                    </a:p>
                    <a:p>
                      <a:pPr>
                        <a:spcBef>
                          <a:spcPts val="0"/>
                        </a:spcBef>
                        <a:spcAft>
                          <a:spcPts val="0"/>
                        </a:spcAft>
                      </a:pPr>
                      <a:r>
                        <a:rPr sz="750" b="0">
                          <a:solidFill>
                            <a:srgbClr val="504D46"/>
                          </a:solidFill>
                          <a:latin typeface="Archivo"/>
                        </a:rPr>
                        <a:t>Inspection and test plan.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archived → corrective_action → failed → in_inspect…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itp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Risk analysis (EMV)</a:t>
                      </a:r>
                    </a:p>
                    <a:p>
                      <a:pPr>
                        <a:spcBef>
                          <a:spcPts val="0"/>
                        </a:spcBef>
                        <a:spcAft>
                          <a:spcPts val="0"/>
                        </a:spcAft>
                      </a:pPr>
                      <a:r>
                        <a:rPr sz="750" b="0">
                          <a:solidFill>
                            <a:srgbClr val="504D46"/>
                          </a:solidFill>
                          <a:latin typeface="Archivo"/>
                        </a:rPr>
                        <a:t>Quantitative risk EMV/SRA analysis.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accepted → assessed → cancelled → closed → escalated → identi…</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project_risk</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Non-conformance</a:t>
                      </a:r>
                    </a:p>
                    <a:p>
                      <a:pPr>
                        <a:spcBef>
                          <a:spcPts val="0"/>
                        </a:spcBef>
                        <a:spcAft>
                          <a:spcPts val="0"/>
                        </a:spcAft>
                      </a:pPr>
                      <a:r>
                        <a:rPr sz="750" b="0">
                          <a:solidFill>
                            <a:srgbClr val="504D46"/>
                          </a:solidFill>
                          <a:latin typeface="Archivo"/>
                        </a:rPr>
                        <a:t>NCR log and corrective actions.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accepted_as_is → acknowledged → closed → corrective_action_pl…</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ncr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Lessons learned</a:t>
                      </a:r>
                    </a:p>
                    <a:p>
                      <a:pPr>
                        <a:spcBef>
                          <a:spcPts val="0"/>
                        </a:spcBef>
                        <a:spcAft>
                          <a:spcPts val="0"/>
                        </a:spcAft>
                      </a:pPr>
                      <a:r>
                        <a:rPr sz="750" b="0">
                          <a:solidFill>
                            <a:srgbClr val="504D46"/>
                          </a:solidFill>
                          <a:latin typeface="Archivo"/>
                        </a:rPr>
                        <a:t>Project lessons learned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REIPPPP, milestone-variance, DSCR and generation reports with pivots a</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Risk &amp; Quality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2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126187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Annual compliance report</a:t>
                      </a:r>
                    </a:p>
                    <a:p>
                      <a:pPr>
                        <a:spcBef>
                          <a:spcPts val="0"/>
                        </a:spcBef>
                        <a:spcAft>
                          <a:spcPts val="0"/>
                        </a:spcAft>
                      </a:pPr>
                      <a:r>
                        <a:rPr sz="750" b="0">
                          <a:solidFill>
                            <a:srgbClr val="504D46"/>
                          </a:solidFill>
                          <a:latin typeface="Archivo"/>
                        </a:rPr>
                        <a:t>NERSA annual compliance report (W159) with CSV / PDF export.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chain, certified exports and milestone-evidence 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Regulatory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8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378561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Licence obligations</a:t>
                      </a:r>
                    </a:p>
                    <a:p>
                      <a:pPr>
                        <a:spcBef>
                          <a:spcPts val="0"/>
                        </a:spcBef>
                        <a:spcAft>
                          <a:spcPts val="0"/>
                        </a:spcAft>
                      </a:pPr>
                      <a:r>
                        <a:rPr sz="750" b="0">
                          <a:solidFill>
                            <a:srgbClr val="504D46"/>
                          </a:solidFill>
                          <a:latin typeface="Archivo"/>
                        </a:rPr>
                        <a:t>NERSA licence obligation register (W193).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assessed_compliant → assessed_non_compliant → assessment_due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licence_obligation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ED commitments</a:t>
                      </a:r>
                    </a:p>
                    <a:p>
                      <a:pPr>
                        <a:spcBef>
                          <a:spcPts val="0"/>
                        </a:spcBef>
                        <a:spcAft>
                          <a:spcPts val="0"/>
                        </a:spcAft>
                      </a:pPr>
                      <a:r>
                        <a:rPr sz="750" b="0">
                          <a:solidFill>
                            <a:srgbClr val="504D46"/>
                          </a:solidFill>
                          <a:latin typeface="Archivo"/>
                        </a:rPr>
                        <a:t>REIPPPP economic development commitments (W27).</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scheduled → active → under_review → compliant → breach → cure…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ed_commitment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Local content &amp; SED</a:t>
                      </a:r>
                    </a:p>
                    <a:p>
                      <a:pPr>
                        <a:spcBef>
                          <a:spcPts val="0"/>
                        </a:spcBef>
                        <a:spcAft>
                          <a:spcPts val="0"/>
                        </a:spcAft>
                      </a:pPr>
                      <a:r>
                        <a:rPr sz="750" b="0">
                          <a:solidFill>
                            <a:srgbClr val="504D46"/>
                          </a:solidFill>
                          <a:latin typeface="Archivo"/>
                        </a:rPr>
                        <a:t>Local content and SED compliance (W174).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clarification_requested → clarification_submitted → completen…</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ipp_lcr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BBBEE verification</a:t>
                      </a:r>
                    </a:p>
                    <a:p>
                      <a:pPr>
                        <a:spcBef>
                          <a:spcPts val="0"/>
                        </a:spcBef>
                        <a:spcAft>
                          <a:spcPts val="0"/>
                        </a:spcAft>
                      </a:pPr>
                      <a:r>
                        <a:rPr sz="750" b="0">
                          <a:solidFill>
                            <a:srgbClr val="504D46"/>
                          </a:solidFill>
                          <a:latin typeface="Archivo"/>
                        </a:rPr>
                        <a:t>Annual BBBEE verification (W182).</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agency_assessment → agency_engagement → bbbee_non_compliant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ipp_bbbee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REIPPPP progress report</a:t>
                      </a:r>
                    </a:p>
                    <a:p>
                      <a:pPr>
                        <a:spcBef>
                          <a:spcPts val="0"/>
                        </a:spcBef>
                        <a:spcAft>
                          <a:spcPts val="0"/>
                        </a:spcAft>
                      </a:pPr>
                      <a:r>
                        <a:rPr sz="750" b="0">
                          <a:solidFill>
                            <a:srgbClr val="504D46"/>
                          </a:solidFill>
                          <a:latin typeface="Archivo"/>
                        </a:rPr>
                        <a:t>Annual REIPPPP progress report (W185).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acknowledgement_pending → board_approval → data_collection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ipp_rpr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NERSA licence return</a:t>
                      </a:r>
                    </a:p>
                    <a:p>
                      <a:pPr>
                        <a:spcBef>
                          <a:spcPts val="0"/>
                        </a:spcBef>
                        <a:spcAft>
                          <a:spcPts val="0"/>
                        </a:spcAft>
                      </a:pPr>
                      <a:r>
                        <a:rPr sz="750" b="0">
                          <a:solidFill>
                            <a:srgbClr val="504D46"/>
                          </a:solidFill>
                          <a:latin typeface="Archivo"/>
                        </a:rPr>
                        <a:t>Annual NERSA licence return (W184).</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acknowledgement_pending → board_approval → clarification_requ…</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ipp_anr</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Annual audit</a:t>
                      </a:r>
                    </a:p>
                    <a:p>
                      <a:pPr>
                        <a:spcBef>
                          <a:spcPts val="0"/>
                        </a:spcBef>
                        <a:spcAft>
                          <a:spcPts val="0"/>
                        </a:spcAft>
                      </a:pPr>
                      <a:r>
                        <a:rPr sz="750" b="0">
                          <a:solidFill>
                            <a:srgbClr val="504D46"/>
                          </a:solidFill>
                          <a:latin typeface="Archivo"/>
                        </a:rPr>
                        <a:t>Financial statements and audit (W189).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audit_completed → audit_cycle_opened → audit_fieldwork → audi…</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ipp_aud</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CBT/SED DMRE report</a:t>
                      </a:r>
                    </a:p>
                    <a:p>
                      <a:pPr>
                        <a:spcBef>
                          <a:spcPts val="0"/>
                        </a:spcBef>
                        <a:spcAft>
                          <a:spcPts val="0"/>
                        </a:spcAft>
                      </a:pPr>
                      <a:r>
                        <a:rPr sz="750" b="0">
                          <a:solidFill>
                            <a:srgbClr val="504D46"/>
                          </a:solidFill>
                          <a:latin typeface="Archivo"/>
                        </a:rPr>
                        <a:t>CBT/SED DMRE report review (W230).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cbt_sed_report  ◆</a:t>
                      </a:r>
                    </a:p>
                  </a:txBody>
                  <a:tcPr anchor="ctr" marT="25400" marB="25400" marL="50800" marR="50800">
                    <a:solidFill>
                      <a:srgbClr val="F5F3E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Safety &amp; Grid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HSE incidents</a:t>
                      </a:r>
                    </a:p>
                    <a:p>
                      <a:pPr>
                        <a:spcBef>
                          <a:spcPts val="0"/>
                        </a:spcBef>
                        <a:spcAft>
                          <a:spcPts val="0"/>
                        </a:spcAft>
                      </a:pPr>
                      <a:r>
                        <a:rPr sz="750" b="0">
                          <a:solidFill>
                            <a:srgbClr val="504D46"/>
                          </a:solidFill>
                          <a:latin typeface="Archivo"/>
                        </a:rPr>
                        <a:t>OHSA s24/NEMA s30 incident chain (W25).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reported → investigating → authority_notified → remediation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hse_incident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Cyber incidents</a:t>
                      </a:r>
                    </a:p>
                    <a:p>
                      <a:pPr>
                        <a:spcBef>
                          <a:spcPts val="0"/>
                        </a:spcBef>
                        <a:spcAft>
                          <a:spcPts val="0"/>
                        </a:spcAft>
                      </a:pPr>
                      <a:r>
                        <a:rPr sz="750" b="0">
                          <a:solidFill>
                            <a:srgbClr val="504D46"/>
                          </a:solidFill>
                          <a:latin typeface="Archivo"/>
                        </a:rPr>
                        <a:t>POPIA s22 cyber incident chain (W26).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closed → contained → detected → escalated → false_alarm → inv…</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cyber_incident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Planned outages</a:t>
                      </a:r>
                    </a:p>
                    <a:p>
                      <a:pPr>
                        <a:spcBef>
                          <a:spcPts val="0"/>
                        </a:spcBef>
                        <a:spcAft>
                          <a:spcPts val="0"/>
                        </a:spcAft>
                      </a:pPr>
                      <a:r>
                        <a:rPr sz="750" b="0">
                          <a:solidFill>
                            <a:srgbClr val="504D46"/>
                          </a:solidFill>
                          <a:latin typeface="Archivo"/>
                        </a:rPr>
                        <a:t>NERSA Grid Code planned outage chain (W18).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cancelled → closed → draft → in_progress → notifie…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planned_outage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Grid connection</a:t>
                      </a:r>
                    </a:p>
                    <a:p>
                      <a:pPr>
                        <a:spcBef>
                          <a:spcPts val="0"/>
                        </a:spcBef>
                        <a:spcAft>
                          <a:spcPts val="0"/>
                        </a:spcAft>
                      </a:pPr>
                      <a:r>
                        <a:rPr sz="750" b="0">
                          <a:solidFill>
                            <a:srgbClr val="504D46"/>
                          </a:solidFill>
                          <a:latin typeface="Archivo"/>
                        </a:rPr>
                        <a:t>NERSA Grid Code C-1 connection agreement (W28).</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application_filed → connection_agreement_drafted → constructi…</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gca_connection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Method statements</a:t>
                      </a:r>
                    </a:p>
                    <a:p>
                      <a:pPr>
                        <a:spcBef>
                          <a:spcPts val="0"/>
                        </a:spcBef>
                        <a:spcAft>
                          <a:spcPts val="0"/>
                        </a:spcAft>
                      </a:pPr>
                      <a:r>
                        <a:rPr sz="750" b="0">
                          <a:solidFill>
                            <a:srgbClr val="504D46"/>
                          </a:solidFill>
                          <a:latin typeface="Archivo"/>
                        </a:rPr>
                        <a:t>Construction method statement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approved → archived → closed → drafted → rejected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ipp_method_statement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Warranty / RMA</a:t>
                      </a:r>
                    </a:p>
                    <a:p>
                      <a:pPr>
                        <a:spcBef>
                          <a:spcPts val="0"/>
                        </a:spcBef>
                        <a:spcAft>
                          <a:spcPts val="0"/>
                        </a:spcAft>
                      </a:pPr>
                      <a:r>
                        <a:rPr sz="750" b="0">
                          <a:solidFill>
                            <a:srgbClr val="504D46"/>
                          </a:solidFill>
                          <a:latin typeface="Archivo"/>
                        </a:rPr>
                        <a:t>OEM warranty and RMA claims (W15).</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approved → closed → denied → disputed → fulfil…</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warranty_claim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Grid export curtailments</a:t>
                      </a:r>
                    </a:p>
                    <a:p>
                      <a:pPr>
                        <a:spcBef>
                          <a:spcPts val="0"/>
                        </a:spcBef>
                        <a:spcAft>
                          <a:spcPts val="0"/>
                        </a:spcAft>
                      </a:pPr>
                      <a:r>
                        <a:rPr sz="750" b="0">
                          <a:solidFill>
                            <a:srgbClr val="504D46"/>
                          </a:solidFill>
                          <a:latin typeface="Archivo"/>
                        </a:rPr>
                        <a:t>Grid export curtailment claims (W221).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arbitration → cancelled → claim_prepared → claim_submitted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export_curtailment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GTIA</a:t>
                      </a:r>
                    </a:p>
                    <a:p>
                      <a:pPr>
                        <a:spcBef>
                          <a:spcPts val="0"/>
                        </a:spcBef>
                        <a:spcAft>
                          <a:spcPts val="0"/>
                        </a:spcAft>
                      </a:pPr>
                      <a:r>
                        <a:rPr sz="750" b="0">
                          <a:solidFill>
                            <a:srgbClr val="504D46"/>
                          </a:solidFill>
                          <a:latin typeface="Archivo"/>
                        </a:rPr>
                        <a:t>Grid Technical Interface Agreement — protection and SCADA settings wit</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Community</a:t>
                      </a:r>
                    </a:p>
                    <a:p>
                      <a:pPr>
                        <a:spcBef>
                          <a:spcPts val="0"/>
                        </a:spcBef>
                        <a:spcAft>
                          <a:spcPts val="0"/>
                        </a:spcAft>
                      </a:pPr>
                      <a:r>
                        <a:rPr sz="750" b="0">
                          <a:solidFill>
                            <a:srgbClr val="504D46"/>
                          </a:solidFill>
                          <a:latin typeface="Archivo"/>
                        </a:rPr>
                        <a:t>Per-project ED/SED commitments, stakeholder register and engagement lo</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Predictive ML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7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336499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Inverter integrations</a:t>
                      </a:r>
                    </a:p>
                    <a:p>
                      <a:pPr>
                        <a:spcBef>
                          <a:spcPts val="0"/>
                        </a:spcBef>
                        <a:spcAft>
                          <a:spcPts val="0"/>
                        </a:spcAft>
                      </a:pPr>
                      <a:r>
                        <a:rPr sz="750" b="0">
                          <a:solidFill>
                            <a:srgbClr val="504D46"/>
                          </a:solidFill>
                          <a:latin typeface="Archivo"/>
                        </a:rPr>
                        <a:t>Connect generation assets — Solax and other inverter credentials, live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SCADA connectors</a:t>
                      </a:r>
                    </a:p>
                    <a:p>
                      <a:pPr>
                        <a:spcBef>
                          <a:spcPts val="0"/>
                        </a:spcBef>
                        <a:spcAft>
                          <a:spcPts val="0"/>
                        </a:spcAft>
                      </a:pPr>
                      <a:r>
                        <a:rPr sz="750" b="0">
                          <a:solidFill>
                            <a:srgbClr val="504D46"/>
                          </a:solidFill>
                          <a:latin typeface="Archivo"/>
                        </a:rPr>
                        <a:t>SCADA telemetry connector — real-time plant measurement ingestion.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MQTT / OPC-UA</a:t>
                      </a:r>
                    </a:p>
                    <a:p>
                      <a:pPr>
                        <a:spcBef>
                          <a:spcPts val="0"/>
                        </a:spcBef>
                        <a:spcAft>
                          <a:spcPts val="0"/>
                        </a:spcAft>
                      </a:pPr>
                      <a:r>
                        <a:rPr sz="750" b="0">
                          <a:solidFill>
                            <a:srgbClr val="504D46"/>
                          </a:solidFill>
                          <a:latin typeface="Archivo"/>
                        </a:rPr>
                        <a:t>Industrial MQTT / OPC-UA telemetry connector configuration.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Anomaly detection</a:t>
                      </a:r>
                    </a:p>
                    <a:p>
                      <a:pPr>
                        <a:spcBef>
                          <a:spcPts val="0"/>
                        </a:spcBef>
                        <a:spcAft>
                          <a:spcPts val="0"/>
                        </a:spcAft>
                      </a:pPr>
                      <a:r>
                        <a:rPr sz="750" b="0">
                          <a:solidFill>
                            <a:srgbClr val="504D46"/>
                          </a:solidFill>
                          <a:latin typeface="Archivo"/>
                        </a:rPr>
                        <a:t>Predictive anomaly-detection ML on plant telemetry.</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RUL prediction</a:t>
                      </a:r>
                    </a:p>
                    <a:p>
                      <a:pPr>
                        <a:spcBef>
                          <a:spcPts val="0"/>
                        </a:spcBef>
                        <a:spcAft>
                          <a:spcPts val="0"/>
                        </a:spcAft>
                      </a:pPr>
                      <a:r>
                        <a:rPr sz="750" b="0">
                          <a:solidFill>
                            <a:srgbClr val="504D46"/>
                          </a:solidFill>
                          <a:latin typeface="Archivo"/>
                        </a:rPr>
                        <a:t>Remaining-useful-life prediction for plant assets.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Fault fingerprint</a:t>
                      </a:r>
                    </a:p>
                    <a:p>
                      <a:pPr>
                        <a:spcBef>
                          <a:spcPts val="0"/>
                        </a:spcBef>
                        <a:spcAft>
                          <a:spcPts val="0"/>
                        </a:spcAft>
                      </a:pPr>
                      <a:r>
                        <a:rPr sz="750" b="0">
                          <a:solidFill>
                            <a:srgbClr val="504D46"/>
                          </a:solidFill>
                          <a:latin typeface="Archivo"/>
                        </a:rPr>
                        <a:t>Physics-based fault-fingerprint ML diagnostics.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Invite partners</a:t>
                      </a:r>
                    </a:p>
                    <a:p>
                      <a:pPr>
                        <a:spcBef>
                          <a:spcPts val="0"/>
                        </a:spcBef>
                        <a:spcAft>
                          <a:spcPts val="0"/>
                        </a:spcAft>
                      </a:pPr>
                      <a:r>
                        <a:rPr sz="750" b="0">
                          <a:solidFill>
                            <a:srgbClr val="504D46"/>
                          </a:solidFill>
                          <a:latin typeface="Archivo"/>
                        </a:rPr>
                        <a:t>Invite lenders, offtakers and carbon funds to your projects via a dire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DEVELOPER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Environmental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active project · per stage-gate</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EA amendment</a:t>
                      </a:r>
                    </a:p>
                    <a:p>
                      <a:pPr>
                        <a:spcBef>
                          <a:spcPts val="0"/>
                        </a:spcBef>
                        <a:spcAft>
                          <a:spcPts val="0"/>
                        </a:spcAft>
                      </a:pPr>
                      <a:r>
                        <a:rPr sz="750" b="0">
                          <a:solidFill>
                            <a:srgbClr val="504D46"/>
                          </a:solidFill>
                          <a:latin typeface="Archivo"/>
                        </a:rPr>
                        <a:t>Environmental authorisation amendment (W169).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amendment_granted → amendment_refused → application_in_prepar…</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ipp_eam</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Water use licence</a:t>
                      </a:r>
                    </a:p>
                    <a:p>
                      <a:pPr>
                        <a:spcBef>
                          <a:spcPts val="0"/>
                        </a:spcBef>
                        <a:spcAft>
                          <a:spcPts val="0"/>
                        </a:spcAft>
                      </a:pPr>
                      <a:r>
                        <a:rPr sz="750" b="0">
                          <a:solidFill>
                            <a:srgbClr val="504D46"/>
                          </a:solidFill>
                          <a:latin typeface="Archivo"/>
                        </a:rPr>
                        <a:t>DWAF water use licence (W170).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application_preparation → application_submitted → dws_complet…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ipp_wul</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Heritage assessment</a:t>
                      </a:r>
                    </a:p>
                    <a:p>
                      <a:pPr>
                        <a:spcBef>
                          <a:spcPts val="0"/>
                        </a:spcBef>
                        <a:spcAft>
                          <a:spcPts val="0"/>
                        </a:spcAft>
                      </a:pPr>
                      <a:r>
                        <a:rPr sz="750" b="0">
                          <a:solidFill>
                            <a:srgbClr val="504D46"/>
                          </a:solidFill>
                          <a:latin typeface="Archivo"/>
                        </a:rPr>
                        <a:t>SAHRA heritage resources assessment (W171).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desktop_study → field_survey → final_review → heritage_watchl…</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ipp_hra</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Atmospheric emission</a:t>
                      </a:r>
                    </a:p>
                    <a:p>
                      <a:pPr>
                        <a:spcBef>
                          <a:spcPts val="0"/>
                        </a:spcBef>
                        <a:spcAft>
                          <a:spcPts val="0"/>
                        </a:spcAft>
                      </a:pPr>
                      <a:r>
                        <a:rPr sz="750" b="0">
                          <a:solidFill>
                            <a:srgbClr val="504D46"/>
                          </a:solidFill>
                          <a:latin typeface="Archivo"/>
                        </a:rPr>
                        <a:t>DEA atmospheric emission licence (W172).</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ael_granted → ael_lapsed → ael_refused → ael_triggered → appl…</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ipp_ael</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Environmental monitoring</a:t>
                      </a:r>
                    </a:p>
                    <a:p>
                      <a:pPr>
                        <a:spcBef>
                          <a:spcPts val="0"/>
                        </a:spcBef>
                        <a:spcAft>
                          <a:spcPts val="0"/>
                        </a:spcAft>
                      </a:pPr>
                      <a:r>
                        <a:rPr sz="750" b="0">
                          <a:solidFill>
                            <a:srgbClr val="504D46"/>
                          </a:solidFill>
                          <a:latin typeface="Archivo"/>
                        </a:rPr>
                        <a:t>EMP compliance monitoring reports.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cancelled → closed → compliance_assessed → corrective_action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ipp_env_monitoring</a:t>
                      </a:r>
                    </a:p>
                  </a:txBody>
                  <a:tcPr anchor="ctr" marT="25400" marB="25400" marL="50800" marR="50800">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Trader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28 journeys across 4 groups  ·  metered: bps on notional · per settlement</a:t>
            </a:r>
          </a:p>
          <a:p>
            <a:pPr algn="l">
              <a:spcBef>
                <a:spcPts val="0"/>
              </a:spcBef>
              <a:spcAft>
                <a:spcPts val="400"/>
              </a:spcAft>
            </a:pPr>
            <a:r>
              <a:rPr sz="1150" b="0">
                <a:solidFill>
                  <a:srgbClr val="FFFFFF"/>
                </a:solidFill>
                <a:latin typeface="Archivo"/>
              </a:rPr>
              <a:t>Active Trading  ·  Risk &amp; Margin  ·  Post-trade &amp; Settlement  ·  Compliance &amp; Reporting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Active Trading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bps on notional · per settlement</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Open orders</a:t>
                      </a:r>
                    </a:p>
                    <a:p>
                      <a:pPr>
                        <a:spcBef>
                          <a:spcPts val="0"/>
                        </a:spcBef>
                        <a:spcAft>
                          <a:spcPts val="0"/>
                        </a:spcAft>
                      </a:pPr>
                      <a:r>
                        <a:rPr sz="750" b="0">
                          <a:solidFill>
                            <a:srgbClr val="504D46"/>
                          </a:solidFill>
                          <a:latin typeface="Archivo"/>
                        </a:rPr>
                        <a:t>Live order book — GTC/IOC/FOK orders.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Positions</a:t>
                      </a:r>
                    </a:p>
                    <a:p>
                      <a:pPr>
                        <a:spcBef>
                          <a:spcPts val="0"/>
                        </a:spcBef>
                        <a:spcAft>
                          <a:spcPts val="0"/>
                        </a:spcAft>
                      </a:pPr>
                      <a:r>
                        <a:rPr sz="750" b="0">
                          <a:solidFill>
                            <a:srgbClr val="504D46"/>
                          </a:solidFill>
                          <a:latin typeface="Archivo"/>
                        </a:rPr>
                        <a:t>Real-time position marks across energy types.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Trade blotter</a:t>
                      </a:r>
                    </a:p>
                    <a:p>
                      <a:pPr>
                        <a:spcBef>
                          <a:spcPts val="0"/>
                        </a:spcBef>
                        <a:spcAft>
                          <a:spcPts val="0"/>
                        </a:spcAft>
                      </a:pPr>
                      <a:r>
                        <a:rPr sz="750" b="0">
                          <a:solidFill>
                            <a:srgbClr val="504D46"/>
                          </a:solidFill>
                          <a:latin typeface="Archivo"/>
                        </a:rPr>
                        <a:t>Executed trades with P&amp;L attribution.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Rejections</a:t>
                      </a:r>
                    </a:p>
                    <a:p>
                      <a:pPr>
                        <a:spcBef>
                          <a:spcPts val="0"/>
                        </a:spcBef>
                        <a:spcAft>
                          <a:spcPts val="0"/>
                        </a:spcAft>
                      </a:pPr>
                      <a:r>
                        <a:rPr sz="750" b="0">
                          <a:solidFill>
                            <a:srgbClr val="504D46"/>
                          </a:solidFill>
                          <a:latin typeface="Archivo"/>
                        </a:rPr>
                        <a:t>Pre-trade guard rejections with explainer.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Risk &amp; Margin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bps on notional · per settlement</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Risk dashboard</a:t>
                      </a:r>
                    </a:p>
                    <a:p>
                      <a:pPr>
                        <a:spcBef>
                          <a:spcPts val="0"/>
                        </a:spcBef>
                        <a:spcAft>
                          <a:spcPts val="0"/>
                        </a:spcAft>
                      </a:pPr>
                      <a:r>
                        <a:rPr sz="750" b="0">
                          <a:solidFill>
                            <a:srgbClr val="504D46"/>
                          </a:solidFill>
                          <a:latin typeface="Archivo"/>
                        </a:rPr>
                        <a:t>Daily VaR, scenarios, exposure limits.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Margin calls</a:t>
                      </a:r>
                    </a:p>
                    <a:p>
                      <a:pPr>
                        <a:spcBef>
                          <a:spcPts val="0"/>
                        </a:spcBef>
                        <a:spcAft>
                          <a:spcPts val="0"/>
                        </a:spcAft>
                      </a:pPr>
                      <a:r>
                        <a:rPr sz="750" b="0">
                          <a:solidFill>
                            <a:srgbClr val="504D46"/>
                          </a:solidFill>
                          <a:latin typeface="Archivo"/>
                        </a:rPr>
                        <a:t>IM/VM margin call lifecycle.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issued → acknowledged → disputed → met → defaulted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Position limits</a:t>
                      </a:r>
                    </a:p>
                    <a:p>
                      <a:pPr>
                        <a:spcBef>
                          <a:spcPts val="0"/>
                        </a:spcBef>
                        <a:spcAft>
                          <a:spcPts val="0"/>
                        </a:spcAft>
                      </a:pPr>
                      <a:r>
                        <a:rPr sz="750" b="0">
                          <a:solidFill>
                            <a:srgbClr val="504D46"/>
                          </a:solidFill>
                          <a:latin typeface="Archivo"/>
                        </a:rPr>
                        <a:t>FSCA s41 position limit breach machine (W29).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compliant → warning → breach → escalated → forced_liquidation</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poslimit_case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Counterparty margin</a:t>
                      </a:r>
                    </a:p>
                    <a:p>
                      <a:pPr>
                        <a:spcBef>
                          <a:spcPts val="0"/>
                        </a:spcBef>
                        <a:spcAft>
                          <a:spcPts val="0"/>
                        </a:spcAft>
                      </a:pPr>
                      <a:r>
                        <a:rPr sz="750" b="0">
                          <a:solidFill>
                            <a:srgbClr val="504D46"/>
                          </a:solidFill>
                          <a:latin typeface="Archivo"/>
                        </a:rPr>
                        <a:t>CPMI-IOSCO counterparty margin &amp; default (W68).</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monitoring → margin_call → default_declared → close_out → def…</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counterparty_margin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Benchmark transition</a:t>
                      </a:r>
                    </a:p>
                    <a:p>
                      <a:pPr>
                        <a:spcBef>
                          <a:spcPts val="0"/>
                        </a:spcBef>
                        <a:spcAft>
                          <a:spcPts val="0"/>
                        </a:spcAft>
                      </a:pPr>
                      <a:r>
                        <a:rPr sz="750" b="0">
                          <a:solidFill>
                            <a:srgbClr val="504D46"/>
                          </a:solidFill>
                          <a:latin typeface="Archivo"/>
                        </a:rPr>
                        <a:t>LIBOR/JIBAR to ZARONIA migration.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amendment_drafted → amendment_executed → cancelled → classifi…</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benchmark_transition</a:t>
                      </a:r>
                    </a:p>
                  </a:txBody>
                  <a:tcPr anchor="ctr" marT="25400" marB="25400" marL="50800" marR="50800">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Post-trade &amp; Settlement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8 journeys in this group</a:t>
            </a:r>
            <a:r>
              <a:rPr sz="1050" b="0">
                <a:solidFill>
                  <a:srgbClr val="504D46"/>
                </a:solidFill>
                <a:latin typeface="Archivo"/>
              </a:rPr>
              <a:t>   ·   metered: bps on notional · per settlement</a:t>
            </a:r>
          </a:p>
        </p:txBody>
      </p:sp>
      <p:graphicFrame>
        <p:nvGraphicFramePr>
          <p:cNvPr id="10" name="Table 9"/>
          <p:cNvGraphicFramePr>
            <a:graphicFrameLocks noGrp="1"/>
          </p:cNvGraphicFramePr>
          <p:nvPr/>
        </p:nvGraphicFramePr>
        <p:xfrm>
          <a:off x="548640" y="1783080"/>
          <a:ext cx="11064240" cy="378561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Settlement</a:t>
                      </a:r>
                    </a:p>
                    <a:p>
                      <a:pPr>
                        <a:spcBef>
                          <a:spcPts val="0"/>
                        </a:spcBef>
                        <a:spcAft>
                          <a:spcPts val="0"/>
                        </a:spcAft>
                      </a:pPr>
                      <a:r>
                        <a:rPr sz="750" b="0">
                          <a:solidFill>
                            <a:srgbClr val="504D46"/>
                          </a:solidFill>
                          <a:latin typeface="Archivo"/>
                        </a:rPr>
                        <a:t>Daily settlement runs and breaks.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buy_in_executing → buy_in_initiated → buy_in_settled → cash_c…</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settlement_fail</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Trade allocation</a:t>
                      </a:r>
                    </a:p>
                    <a:p>
                      <a:pPr>
                        <a:spcBef>
                          <a:spcPts val="0"/>
                        </a:spcBef>
                        <a:spcAft>
                          <a:spcPts val="0"/>
                        </a:spcAft>
                      </a:pPr>
                      <a:r>
                        <a:rPr sz="750" b="0">
                          <a:solidFill>
                            <a:srgbClr val="504D46"/>
                          </a:solidFill>
                          <a:latin typeface="Archivo"/>
                        </a:rPr>
                        <a:t>DTCC-style block→per-account allocation (W76).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executed → pending_allocation → allocated → affirmed → matche…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trade_allocation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Trade reporting</a:t>
                      </a:r>
                    </a:p>
                    <a:p>
                      <a:pPr>
                        <a:spcBef>
                          <a:spcPts val="0"/>
                        </a:spcBef>
                        <a:spcAft>
                          <a:spcPts val="0"/>
                        </a:spcAft>
                      </a:pPr>
                      <a:r>
                        <a:rPr sz="750" b="0">
                          <a:solidFill>
                            <a:srgbClr val="504D46"/>
                          </a:solidFill>
                          <a:latin typeface="Archivo"/>
                        </a:rPr>
                        <a:t>FMA post-trade repository reporting (W44).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submitted → acknowledged → accepted → rejected → resu…</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trade_report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Best-execution / RFQ</a:t>
                      </a:r>
                    </a:p>
                    <a:p>
                      <a:pPr>
                        <a:spcBef>
                          <a:spcPts val="0"/>
                        </a:spcBef>
                        <a:spcAft>
                          <a:spcPts val="0"/>
                        </a:spcAft>
                      </a:pPr>
                      <a:r>
                        <a:rPr sz="750" b="0">
                          <a:solidFill>
                            <a:srgbClr val="504D46"/>
                          </a:solidFill>
                          <a:latin typeface="Archivo"/>
                        </a:rPr>
                        <a:t>FSCA Conduct Standard RFQ chain (W36).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rfq_sent → quotes_received → quote_selected → executed → conf…</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best_execution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Post-trade exceptions</a:t>
                      </a:r>
                    </a:p>
                    <a:p>
                      <a:pPr>
                        <a:spcBef>
                          <a:spcPts val="0"/>
                        </a:spcBef>
                        <a:spcAft>
                          <a:spcPts val="0"/>
                        </a:spcAft>
                      </a:pPr>
                      <a:r>
                        <a:rPr sz="750" b="0">
                          <a:solidFill>
                            <a:srgbClr val="504D46"/>
                          </a:solidFill>
                          <a:latin typeface="Archivo"/>
                        </a:rPr>
                        <a:t>Post-trade mismatches (price, volume, settlement) triage and resolutio</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Imbalance settlement</a:t>
                      </a:r>
                    </a:p>
                    <a:p>
                      <a:pPr>
                        <a:spcBef>
                          <a:spcPts val="0"/>
                        </a:spcBef>
                        <a:spcAft>
                          <a:spcPts val="0"/>
                        </a:spcAft>
                      </a:pPr>
                      <a:r>
                        <a:rPr sz="750" b="0">
                          <a:solidFill>
                            <a:srgbClr val="504D46"/>
                          </a:solidFill>
                          <a:latin typeface="Archivo"/>
                        </a:rPr>
                        <a:t>Grid imbalance cash-out settlement.</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aged_arrears → archived → cancelled → dispute_window_open → 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imbalance_settlement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Black start</a:t>
                      </a:r>
                    </a:p>
                    <a:p>
                      <a:pPr>
                        <a:spcBef>
                          <a:spcPts val="0"/>
                        </a:spcBef>
                        <a:spcAft>
                          <a:spcPts val="0"/>
                        </a:spcAft>
                      </a:pPr>
                      <a:r>
                        <a:rPr sz="750" b="0">
                          <a:solidFill>
                            <a:srgbClr val="504D46"/>
                          </a:solidFill>
                          <a:latin typeface="Archivo"/>
                        </a:rPr>
                        <a:t>NETSO black-start cost recovery.</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bid_evaluation → contract_awarded → contract_executed → contr…</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black_start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Benchmark transition</a:t>
                      </a:r>
                    </a:p>
                    <a:p>
                      <a:pPr>
                        <a:spcBef>
                          <a:spcPts val="0"/>
                        </a:spcBef>
                        <a:spcAft>
                          <a:spcPts val="0"/>
                        </a:spcAft>
                      </a:pPr>
                      <a:r>
                        <a:rPr sz="750" b="0">
                          <a:solidFill>
                            <a:srgbClr val="504D46"/>
                          </a:solidFill>
                          <a:latin typeface="Archivo"/>
                        </a:rPr>
                        <a:t>JIBAR cessation / benchmark fallback transition (W90).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amendment_drafted → amendment_executed → cancelled → classifi…</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benchmark_transition</a:t>
                      </a:r>
                    </a:p>
                  </a:txBody>
                  <a:tcPr anchor="ctr" marT="25400" marB="25400" marL="50800" marR="50800">
                    <a:solidFill>
                      <a:srgbClr val="F5F3E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&amp; Reporting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bps on notional · per settlement</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Market surveillance</a:t>
                      </a:r>
                    </a:p>
                    <a:p>
                      <a:pPr>
                        <a:spcBef>
                          <a:spcPts val="0"/>
                        </a:spcBef>
                        <a:spcAft>
                          <a:spcPts val="0"/>
                        </a:spcAft>
                      </a:pPr>
                      <a:r>
                        <a:rPr sz="750" b="0">
                          <a:solidFill>
                            <a:srgbClr val="504D46"/>
                          </a:solidFill>
                          <a:latin typeface="Archivo"/>
                        </a:rPr>
                        <a:t>FMA Ch.X market abuse STOR machine (W52).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monitoring → alert_raised → investigation → file_stor → clear…</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market_abuse_case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MM compliance</a:t>
                      </a:r>
                    </a:p>
                    <a:p>
                      <a:pPr>
                        <a:spcBef>
                          <a:spcPts val="0"/>
                        </a:spcBef>
                        <a:spcAft>
                          <a:spcPts val="0"/>
                        </a:spcAft>
                      </a:pPr>
                      <a:r>
                        <a:rPr sz="750" b="0">
                          <a:solidFill>
                            <a:srgbClr val="504D46"/>
                          </a:solidFill>
                          <a:latin typeface="Archivo"/>
                        </a:rPr>
                        <a:t>Market-making consecutive-miss breach (W9).</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none → warning → breach → escalated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Algo certification</a:t>
                      </a:r>
                    </a:p>
                    <a:p>
                      <a:pPr>
                        <a:spcBef>
                          <a:spcPts val="0"/>
                        </a:spcBef>
                        <a:spcAft>
                          <a:spcPts val="0"/>
                        </a:spcAft>
                      </a:pPr>
                      <a:r>
                        <a:rPr sz="750" b="0">
                          <a:solidFill>
                            <a:srgbClr val="504D46"/>
                          </a:solidFill>
                          <a:latin typeface="Archivo"/>
                        </a:rPr>
                        <a:t>FMA/FSCA MiFID RTS6 algo cert gate (W60).</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testing → review → approved → deployed_live → sus…</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algo_certification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ESG / sustainability</a:t>
                      </a:r>
                    </a:p>
                    <a:p>
                      <a:pPr>
                        <a:spcBef>
                          <a:spcPts val="0"/>
                        </a:spcBef>
                        <a:spcAft>
                          <a:spcPts val="0"/>
                        </a:spcAft>
                      </a:pPr>
                      <a:r>
                        <a:rPr sz="750" b="0">
                          <a:solidFill>
                            <a:srgbClr val="504D46"/>
                          </a:solidFill>
                          <a:latin typeface="Archivo"/>
                        </a:rPr>
                        <a:t>ESG disclosure and Scope 3 reports.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surface: /esg</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Article 6 ITMO</a:t>
                      </a:r>
                    </a:p>
                    <a:p>
                      <a:pPr>
                        <a:spcBef>
                          <a:spcPts val="0"/>
                        </a:spcBef>
                        <a:spcAft>
                          <a:spcPts val="0"/>
                        </a:spcAft>
                      </a:pPr>
                      <a:r>
                        <a:rPr sz="750" b="0">
                          <a:solidFill>
                            <a:srgbClr val="504D46"/>
                          </a:solidFill>
                          <a:latin typeface="Archivo"/>
                        </a:rPr>
                        <a:t>UNFCCC corresponding-adjustment ledger (W4).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blocked → dffe_cleared → dffe_pending → draft → unfccc_ledger</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article6_adjustment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Black start chain</a:t>
                      </a:r>
                    </a:p>
                    <a:p>
                      <a:pPr>
                        <a:spcBef>
                          <a:spcPts val="0"/>
                        </a:spcBef>
                        <a:spcAft>
                          <a:spcPts val="0"/>
                        </a:spcAft>
                      </a:pPr>
                      <a:r>
                        <a:rPr sz="750" b="0">
                          <a:solidFill>
                            <a:srgbClr val="504D46"/>
                          </a:solidFill>
                          <a:latin typeface="Archivo"/>
                        </a:rPr>
                        <a:t>NERSA black-start compliance.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bid_evaluation → contract_awarded → contract_executed → contr…</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black_start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Settlement rails (W124)</a:t>
                      </a:r>
                    </a:p>
                    <a:p>
                      <a:pPr>
                        <a:spcBef>
                          <a:spcPts val="0"/>
                        </a:spcBef>
                        <a:spcAft>
                          <a:spcPts val="0"/>
                        </a:spcAft>
                      </a:pPr>
                      <a:r>
                        <a:rPr sz="750" b="0">
                          <a:solidFill>
                            <a:srgbClr val="504D46"/>
                          </a:solidFill>
                          <a:latin typeface="Archivo"/>
                        </a:rPr>
                        <a:t>STRATE/SWIFT settlement connectors.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ERP connectors (W125)</a:t>
                      </a:r>
                    </a:p>
                    <a:p>
                      <a:pPr>
                        <a:spcBef>
                          <a:spcPts val="0"/>
                        </a:spcBef>
                        <a:spcAft>
                          <a:spcPts val="0"/>
                        </a:spcAft>
                      </a:pPr>
                      <a:r>
                        <a:rPr sz="750" b="0">
                          <a:solidFill>
                            <a:srgbClr val="504D46"/>
                          </a:solidFill>
                          <a:latin typeface="Archivo"/>
                        </a:rPr>
                        <a:t>SAP/Oracle ERP integration.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Filing connectors (W126)</a:t>
                      </a:r>
                    </a:p>
                    <a:p>
                      <a:pPr>
                        <a:spcBef>
                          <a:spcPts val="0"/>
                        </a:spcBef>
                        <a:spcAft>
                          <a:spcPts val="0"/>
                        </a:spcAft>
                      </a:pPr>
                      <a:r>
                        <a:rPr sz="750" b="0">
                          <a:solidFill>
                            <a:srgbClr val="504D46"/>
                          </a:solidFill>
                          <a:latin typeface="Archivo"/>
                        </a:rPr>
                        <a:t>NERSA/SARS government filing connectors.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&amp; Reporting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2 journeys in this group</a:t>
            </a:r>
            <a:r>
              <a:rPr sz="1050" b="0">
                <a:solidFill>
                  <a:srgbClr val="504D46"/>
                </a:solidFill>
                <a:latin typeface="Archivo"/>
              </a:rPr>
              <a:t>   ·   metered: bps on notional · per settlement</a:t>
            </a:r>
          </a:p>
        </p:txBody>
      </p:sp>
      <p:graphicFrame>
        <p:nvGraphicFramePr>
          <p:cNvPr id="10" name="Table 9"/>
          <p:cNvGraphicFramePr>
            <a:graphicFrameLocks noGrp="1"/>
          </p:cNvGraphicFramePr>
          <p:nvPr/>
        </p:nvGraphicFramePr>
        <p:xfrm>
          <a:off x="548640" y="1783080"/>
          <a:ext cx="11064240" cy="126187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Trade settlement, best-execution and FSCA trade reports with pivots an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chain, certified exports and trade reconciliation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Lender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29 journeys across 5 groups  ·  metered: flat per drawdown · bps on facility</a:t>
            </a:r>
          </a:p>
          <a:p>
            <a:pPr algn="l">
              <a:spcBef>
                <a:spcPts val="0"/>
              </a:spcBef>
              <a:spcAft>
                <a:spcPts val="400"/>
              </a:spcAft>
            </a:pPr>
            <a:r>
              <a:rPr sz="1150" b="0">
                <a:solidFill>
                  <a:srgbClr val="FFFFFF"/>
                </a:solidFill>
                <a:latin typeface="Archivo"/>
              </a:rPr>
              <a:t>Origination  ·  Monitoring  ·  Enforcement  ·  Risk  ·  Reporting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Origination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flat per drawdown · bps on facility</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Credit origination</a:t>
                      </a:r>
                    </a:p>
                    <a:p>
                      <a:pPr>
                        <a:spcBef>
                          <a:spcPts val="0"/>
                        </a:spcBef>
                        <a:spcAft>
                          <a:spcPts val="0"/>
                        </a:spcAft>
                      </a:pPr>
                      <a:r>
                        <a:rPr sz="750" b="0">
                          <a:solidFill>
                            <a:srgbClr val="504D46"/>
                          </a:solidFill>
                          <a:latin typeface="Archivo"/>
                        </a:rPr>
                        <a:t>NCA/Basel III credit facility origination (W53).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credit_review → committee → approved → declined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credit_facility_application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Facilities</a:t>
                      </a:r>
                    </a:p>
                    <a:p>
                      <a:pPr>
                        <a:spcBef>
                          <a:spcPts val="0"/>
                        </a:spcBef>
                        <a:spcAft>
                          <a:spcPts val="0"/>
                        </a:spcAft>
                      </a:pPr>
                      <a:r>
                        <a:rPr sz="750" b="0">
                          <a:solidFill>
                            <a:srgbClr val="504D46"/>
                          </a:solidFill>
                          <a:latin typeface="Archivo"/>
                        </a:rPr>
                        <a:t>Active credit facilities portfolio.</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Loan transfer / secondary</a:t>
                      </a:r>
                    </a:p>
                    <a:p>
                      <a:pPr>
                        <a:spcBef>
                          <a:spcPts val="0"/>
                        </a:spcBef>
                        <a:spcAft>
                          <a:spcPts val="0"/>
                        </a:spcAft>
                      </a:pPr>
                      <a:r>
                        <a:rPr sz="750" b="0">
                          <a:solidFill>
                            <a:srgbClr val="504D46"/>
                          </a:solidFill>
                          <a:latin typeface="Archivo"/>
                        </a:rPr>
                        <a:t>LMA secondary-market loan participation (W61).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due_diligence → sarb_notification → approved → se…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loan_transfer  ◆</a:t>
                      </a:r>
                    </a:p>
                  </a:txBody>
                  <a:tcPr anchor="ctr" marT="25400" marB="25400" marL="50800" marR="50800">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Monitoring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7 journeys in this group</a:t>
            </a:r>
            <a:r>
              <a:rPr sz="1050" b="0">
                <a:solidFill>
                  <a:srgbClr val="504D46"/>
                </a:solidFill>
                <a:latin typeface="Archivo"/>
              </a:rPr>
              <a:t>   ·   metered: flat per drawdown · bps on facility</a:t>
            </a:r>
          </a:p>
        </p:txBody>
      </p:sp>
      <p:graphicFrame>
        <p:nvGraphicFramePr>
          <p:cNvPr id="10" name="Table 9"/>
          <p:cNvGraphicFramePr>
            <a:graphicFrameLocks noGrp="1"/>
          </p:cNvGraphicFramePr>
          <p:nvPr/>
        </p:nvGraphicFramePr>
        <p:xfrm>
          <a:off x="548640" y="1783080"/>
          <a:ext cx="11064240" cy="336499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Drawdowns / UoP</a:t>
                      </a:r>
                    </a:p>
                    <a:p>
                      <a:pPr>
                        <a:spcBef>
                          <a:spcPts val="0"/>
                        </a:spcBef>
                        <a:spcAft>
                          <a:spcPts val="0"/>
                        </a:spcAft>
                      </a:pPr>
                      <a:r>
                        <a:rPr sz="750" b="0">
                          <a:solidFill>
                            <a:srgbClr val="504D46"/>
                          </a:solidFill>
                          <a:latin typeface="Archivo"/>
                        </a:rPr>
                        <a:t>IE+CP gated drawdown and use-of-proceeds (W30).</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ie_review → approved → disbursed → clawback_triggered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drawdown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Covenant certificates</a:t>
                      </a:r>
                    </a:p>
                    <a:p>
                      <a:pPr>
                        <a:spcBef>
                          <a:spcPts val="0"/>
                        </a:spcBef>
                        <a:spcAft>
                          <a:spcPts val="0"/>
                        </a:spcAft>
                      </a:pPr>
                      <a:r>
                        <a:rPr sz="750" b="0">
                          <a:solidFill>
                            <a:srgbClr val="504D46"/>
                          </a:solidFill>
                          <a:latin typeface="Archivo"/>
                        </a:rPr>
                        <a:t>LMA covenant compliance certificates (W38).</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requested → submitted → under_review → waiver_requested → com…</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covenant_certificate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Security perfection</a:t>
                      </a:r>
                    </a:p>
                    <a:p>
                      <a:pPr>
                        <a:spcBef>
                          <a:spcPts val="0"/>
                        </a:spcBef>
                        <a:spcAft>
                          <a:spcPts val="0"/>
                        </a:spcAft>
                      </a:pPr>
                      <a:r>
                        <a:rPr sz="750" b="0">
                          <a:solidFill>
                            <a:srgbClr val="504D46"/>
                          </a:solidFill>
                          <a:latin typeface="Archivo"/>
                        </a:rPr>
                        <a:t>Deeds/STRATE security registration (W69).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filed → cession_registered → perfected → lapsed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security_perfection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DSCR monitoring</a:t>
                      </a:r>
                    </a:p>
                    <a:p>
                      <a:pPr>
                        <a:spcBef>
                          <a:spcPts val="0"/>
                        </a:spcBef>
                        <a:spcAft>
                          <a:spcPts val="0"/>
                        </a:spcAft>
                      </a:pPr>
                      <a:r>
                        <a:rPr sz="750" b="0">
                          <a:solidFill>
                            <a:srgbClr val="504D46"/>
                          </a:solidFill>
                          <a:latin typeface="Archivo"/>
                        </a:rPr>
                        <a:t>Quarterly DSCR/LLCR covenant testing with cure lifecycle (W86).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period_open → computed → watch → breach_recorded → lock_up →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dscr_monitoring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Reserve accounts</a:t>
                      </a:r>
                    </a:p>
                    <a:p>
                      <a:pPr>
                        <a:spcBef>
                          <a:spcPts val="0"/>
                        </a:spcBef>
                        <a:spcAft>
                          <a:spcPts val="0"/>
                        </a:spcAft>
                      </a:pPr>
                      <a:r>
                        <a:rPr sz="750" b="0">
                          <a:solidFill>
                            <a:srgbClr val="504D46"/>
                          </a:solidFill>
                          <a:latin typeface="Archivo"/>
                        </a:rPr>
                        <a:t>DSRA/MRA funding, drawdown, cure and release (W77).</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reserve_required → funding_in_progress → funded → shortfall_f…</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reserve_account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Portfolio overview</a:t>
                      </a:r>
                    </a:p>
                    <a:p>
                      <a:pPr>
                        <a:spcBef>
                          <a:spcPts val="0"/>
                        </a:spcBef>
                        <a:spcAft>
                          <a:spcPts val="0"/>
                        </a:spcAft>
                      </a:pPr>
                      <a:r>
                        <a:rPr sz="750" b="0">
                          <a:solidFill>
                            <a:srgbClr val="504D46"/>
                          </a:solidFill>
                          <a:latin typeface="Archivo"/>
                        </a:rPr>
                        <a:t>Portfolio NAV, exposure, and sector map.</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Risk dashboard</a:t>
                      </a:r>
                    </a:p>
                    <a:p>
                      <a:pPr>
                        <a:spcBef>
                          <a:spcPts val="0"/>
                        </a:spcBef>
                        <a:spcAft>
                          <a:spcPts val="0"/>
                        </a:spcAft>
                      </a:pPr>
                      <a:r>
                        <a:rPr sz="750" b="0">
                          <a:solidFill>
                            <a:srgbClr val="504D46"/>
                          </a:solidFill>
                          <a:latin typeface="Archivo"/>
                        </a:rPr>
                        <a:t>Concentration, covenant breach, watch-list.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Enforcement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flat per drawdown · bps on facility</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Default &amp; enforcement</a:t>
                      </a:r>
                    </a:p>
                    <a:p>
                      <a:pPr>
                        <a:spcBef>
                          <a:spcPts val="0"/>
                        </a:spcBef>
                        <a:spcAft>
                          <a:spcPts val="0"/>
                        </a:spcAft>
                      </a:pPr>
                      <a:r>
                        <a:rPr sz="750" b="0">
                          <a:solidFill>
                            <a:srgbClr val="504D46"/>
                          </a:solidFill>
                          <a:latin typeface="Archivo"/>
                        </a:rPr>
                        <a:t>LMA event-of-default enforcement/step-in (W45).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performing → watchlist → event_of_default → standstill → enfo…</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loan_default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Restructure &amp; A&amp;E</a:t>
                      </a:r>
                    </a:p>
                    <a:p>
                      <a:pPr>
                        <a:spcBef>
                          <a:spcPts val="0"/>
                        </a:spcBef>
                        <a:spcAft>
                          <a:spcPts val="0"/>
                        </a:spcAft>
                      </a:pPr>
                      <a:r>
                        <a:rPr sz="750" b="0">
                          <a:solidFill>
                            <a:srgbClr val="504D46"/>
                          </a:solidFill>
                          <a:latin typeface="Archivo"/>
                        </a:rPr>
                        <a:t>LMA Amend &amp; Extend / forbearance with credit-committee gate (W108).</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trigger_event → restructure_proposal_drafted → lender_credit_…</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loan_restructure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Dunning queue</a:t>
                      </a:r>
                    </a:p>
                    <a:p>
                      <a:pPr>
                        <a:spcBef>
                          <a:spcPts val="0"/>
                        </a:spcBef>
                        <a:spcAft>
                          <a:spcPts val="0"/>
                        </a:spcAft>
                      </a:pPr>
                      <a:r>
                        <a:rPr sz="750" b="0">
                          <a:solidFill>
                            <a:srgbClr val="504D46"/>
                          </a:solidFill>
                          <a:latin typeface="Archivo"/>
                        </a:rPr>
                        <a:t>Cycle 1/2/3 borrower observation notices with cure deadlines and escal</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Covenant workout queue</a:t>
                      </a:r>
                    </a:p>
                    <a:p>
                      <a:pPr>
                        <a:spcBef>
                          <a:spcPts val="0"/>
                        </a:spcBef>
                        <a:spcAft>
                          <a:spcPts val="0"/>
                        </a:spcAft>
                      </a:pPr>
                      <a:r>
                        <a:rPr sz="750" b="0">
                          <a:solidFill>
                            <a:srgbClr val="504D46"/>
                          </a:solidFill>
                          <a:latin typeface="Archivo"/>
                        </a:rPr>
                        <a:t>Covenant-breach workout cases (open → investigating → resolved) with i</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surface: /lender-suite/workout</a:t>
                      </a:r>
                    </a:p>
                  </a:txBody>
                  <a:tcPr anchor="ctr" marT="25400" marB="25400" marL="50800" marR="50800">
                    <a:solidFill>
                      <a:srgbClr val="F5F3E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Risk</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flat per drawdown · bps on facility</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SLL KPI &amp; ratchet</a:t>
                      </a:r>
                    </a:p>
                    <a:p>
                      <a:pPr>
                        <a:spcBef>
                          <a:spcPts val="0"/>
                        </a:spcBef>
                        <a:spcAft>
                          <a:spcPts val="0"/>
                        </a:spcAft>
                      </a:pPr>
                      <a:r>
                        <a:rPr sz="750" b="0">
                          <a:solidFill>
                            <a:srgbClr val="504D46"/>
                          </a:solidFill>
                          <a:latin typeface="Archivo"/>
                        </a:rPr>
                        <a:t>Sustainability-linked KPI compliance with margin ratchet (W95).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baseline_set → kpi_period_open → independent_verification → k…</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sll_kpi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ESG / DFI monitoring</a:t>
                      </a:r>
                    </a:p>
                    <a:p>
                      <a:pPr>
                        <a:spcBef>
                          <a:spcPts val="0"/>
                        </a:spcBef>
                        <a:spcAft>
                          <a:spcPts val="0"/>
                        </a:spcAft>
                      </a:pPr>
                      <a:r>
                        <a:rPr sz="750" b="0">
                          <a:solidFill>
                            <a:srgbClr val="504D46"/>
                          </a:solidFill>
                          <a:latin typeface="Archivo"/>
                        </a:rPr>
                        <a:t>Equator Principles E&amp;S monitoring.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surface: /esg</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Benchmark transition</a:t>
                      </a:r>
                    </a:p>
                    <a:p>
                      <a:pPr>
                        <a:spcBef>
                          <a:spcPts val="0"/>
                        </a:spcBef>
                        <a:spcAft>
                          <a:spcPts val="0"/>
                        </a:spcAft>
                      </a:pPr>
                      <a:r>
                        <a:rPr sz="750" b="0">
                          <a:solidFill>
                            <a:srgbClr val="504D46"/>
                          </a:solidFill>
                          <a:latin typeface="Archivo"/>
                        </a:rPr>
                        <a:t>JIBAR→ZARONIA credit facility resets.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Large-exposure concentration</a:t>
                      </a:r>
                    </a:p>
                    <a:p>
                      <a:pPr>
                        <a:spcBef>
                          <a:spcPts val="0"/>
                        </a:spcBef>
                        <a:spcAft>
                          <a:spcPts val="0"/>
                        </a:spcAft>
                      </a:pPr>
                      <a:r>
                        <a:rPr sz="750" b="0">
                          <a:solidFill>
                            <a:srgbClr val="504D46"/>
                          </a:solidFill>
                          <a:latin typeface="Archivo"/>
                        </a:rPr>
                        <a:t>SARB large-exposure limits monitoring.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Reporting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flat per drawdown · bps on facility</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IE certifications</a:t>
                      </a:r>
                    </a:p>
                    <a:p>
                      <a:pPr>
                        <a:spcBef>
                          <a:spcPts val="0"/>
                        </a:spcBef>
                        <a:spcAft>
                          <a:spcPts val="0"/>
                        </a:spcAft>
                      </a:pPr>
                      <a:r>
                        <a:rPr sz="750" b="0">
                          <a:solidFill>
                            <a:srgbClr val="504D46"/>
                          </a:solidFill>
                          <a:latin typeface="Archivo"/>
                        </a:rPr>
                        <a:t>Independent engineer sign-off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Facility reports</a:t>
                      </a:r>
                    </a:p>
                    <a:p>
                      <a:pPr>
                        <a:spcBef>
                          <a:spcPts val="0"/>
                        </a:spcBef>
                        <a:spcAft>
                          <a:spcPts val="0"/>
                        </a:spcAft>
                      </a:pPr>
                      <a:r>
                        <a:rPr sz="750" b="0">
                          <a:solidFill>
                            <a:srgbClr val="504D46"/>
                          </a:solidFill>
                          <a:latin typeface="Archivo"/>
                        </a:rPr>
                        <a:t>Periodic facility utilisation reports.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Covenant summary</a:t>
                      </a:r>
                    </a:p>
                    <a:p>
                      <a:pPr>
                        <a:spcBef>
                          <a:spcPts val="0"/>
                        </a:spcBef>
                        <a:spcAft>
                          <a:spcPts val="0"/>
                        </a:spcAft>
                      </a:pPr>
                      <a:r>
                        <a:rPr sz="750" b="0">
                          <a:solidFill>
                            <a:srgbClr val="504D46"/>
                          </a:solidFill>
                          <a:latin typeface="Archivo"/>
                        </a:rPr>
                        <a:t>Cross-facility covenant status dashboard.</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ESG carbon reports</a:t>
                      </a:r>
                    </a:p>
                    <a:p>
                      <a:pPr>
                        <a:spcBef>
                          <a:spcPts val="0"/>
                        </a:spcBef>
                        <a:spcAft>
                          <a:spcPts val="0"/>
                        </a:spcAft>
                      </a:pPr>
                      <a:r>
                        <a:rPr sz="750" b="0">
                          <a:solidFill>
                            <a:srgbClr val="504D46"/>
                          </a:solidFill>
                          <a:latin typeface="Archivo"/>
                        </a:rPr>
                        <a:t>Carbon accounting for DFI portfolios.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Covenant certificates, DSCR, drawdown and EP IV ESAP reports with pivo</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Document Studio</a:t>
                      </a:r>
                    </a:p>
                    <a:p>
                      <a:pPr>
                        <a:spcBef>
                          <a:spcPts val="0"/>
                        </a:spcBef>
                        <a:spcAft>
                          <a:spcPts val="0"/>
                        </a:spcAft>
                      </a:pPr>
                      <a:r>
                        <a:rPr sz="750" b="0">
                          <a:solidFill>
                            <a:srgbClr val="504D46"/>
                          </a:solidFill>
                          <a:latin typeface="Archivo"/>
                        </a:rPr>
                        <a:t>Auto-generate term sheets and information memoranda from project data </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Facility audit &amp; IFRS9 export</a:t>
                      </a:r>
                    </a:p>
                    <a:p>
                      <a:pPr>
                        <a:spcBef>
                          <a:spcPts val="0"/>
                        </a:spcBef>
                        <a:spcAft>
                          <a:spcPts val="0"/>
                        </a:spcAft>
                      </a:pPr>
                      <a:r>
                        <a:rPr sz="750" b="0">
                          <a:solidFill>
                            <a:srgbClr val="504D46"/>
                          </a:solidFill>
                          <a:latin typeface="Archivo"/>
                        </a:rPr>
                        <a:t>L5 tamper-evident audit, IFRS9 export and disbursement reconciliation.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/lender-suite/audit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Settlement rails (W124)</a:t>
                      </a:r>
                    </a:p>
                    <a:p>
                      <a:pPr>
                        <a:spcBef>
                          <a:spcPts val="0"/>
                        </a:spcBef>
                        <a:spcAft>
                          <a:spcPts val="0"/>
                        </a:spcAft>
                      </a:pPr>
                      <a:r>
                        <a:rPr sz="750" b="0">
                          <a:solidFill>
                            <a:srgbClr val="504D46"/>
                          </a:solidFill>
                          <a:latin typeface="Archivo"/>
                        </a:rPr>
                        <a:t>STRATE/SWIFT settlement connectors.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ERP connectors (W125)</a:t>
                      </a:r>
                    </a:p>
                    <a:p>
                      <a:pPr>
                        <a:spcBef>
                          <a:spcPts val="0"/>
                        </a:spcBef>
                        <a:spcAft>
                          <a:spcPts val="0"/>
                        </a:spcAft>
                      </a:pPr>
                      <a:r>
                        <a:rPr sz="750" b="0">
                          <a:solidFill>
                            <a:srgbClr val="504D46"/>
                          </a:solidFill>
                          <a:latin typeface="Archivo"/>
                        </a:rPr>
                        <a:t>SAP/Oracle ERP integration.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Reporting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2 journeys in this group</a:t>
            </a:r>
            <a:r>
              <a:rPr sz="1050" b="0">
                <a:solidFill>
                  <a:srgbClr val="504D46"/>
                </a:solidFill>
                <a:latin typeface="Archivo"/>
              </a:rPr>
              <a:t>   ·   metered: flat per drawdown · bps on facility</a:t>
            </a:r>
          </a:p>
        </p:txBody>
      </p:sp>
      <p:graphicFrame>
        <p:nvGraphicFramePr>
          <p:cNvPr id="10" name="Table 9"/>
          <p:cNvGraphicFramePr>
            <a:graphicFrameLocks noGrp="1"/>
          </p:cNvGraphicFramePr>
          <p:nvPr/>
        </p:nvGraphicFramePr>
        <p:xfrm>
          <a:off x="548640" y="1783080"/>
          <a:ext cx="11064240" cy="126187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Filing connectors (W126)</a:t>
                      </a:r>
                    </a:p>
                    <a:p>
                      <a:pPr>
                        <a:spcBef>
                          <a:spcPts val="0"/>
                        </a:spcBef>
                        <a:spcAft>
                          <a:spcPts val="0"/>
                        </a:spcAft>
                      </a:pPr>
                      <a:r>
                        <a:rPr sz="750" b="0">
                          <a:solidFill>
                            <a:srgbClr val="504D46"/>
                          </a:solidFill>
                          <a:latin typeface="Archivo"/>
                        </a:rPr>
                        <a:t>NERSA/SARS government filing connectors.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chain, certified exports and facility reconciliat</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Offtaker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42 journeys across 5 groups  ·  metered: per MWh settled · per PPA</a:t>
            </a:r>
          </a:p>
          <a:p>
            <a:pPr algn="l">
              <a:spcBef>
                <a:spcPts val="0"/>
              </a:spcBef>
              <a:spcAft>
                <a:spcPts val="400"/>
              </a:spcAft>
            </a:pPr>
            <a:r>
              <a:rPr sz="1150" b="0">
                <a:solidFill>
                  <a:srgbClr val="FFFFFF"/>
                </a:solidFill>
                <a:latin typeface="Archivo"/>
              </a:rPr>
              <a:t>Contracts  ·  Operations  ·  Payment Security  ·  Compliance  ·  Reporting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Contracts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PPA contracts</a:t>
                      </a:r>
                    </a:p>
                    <a:p>
                      <a:pPr>
                        <a:spcBef>
                          <a:spcPts val="0"/>
                        </a:spcBef>
                        <a:spcAft>
                          <a:spcPts val="0"/>
                        </a:spcAft>
                      </a:pPr>
                      <a:r>
                        <a:rPr sz="750" b="0">
                          <a:solidFill>
                            <a:srgbClr val="504D46"/>
                          </a:solidFill>
                          <a:latin typeface="Archivo"/>
                        </a:rPr>
                        <a:t>NERSA s34 PPA execution chain (W22).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negotiation → legal_review → signed → active → expire…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ppa_contract_chain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Tariff indexation</a:t>
                      </a:r>
                    </a:p>
                    <a:p>
                      <a:pPr>
                        <a:spcBef>
                          <a:spcPts val="0"/>
                        </a:spcBef>
                        <a:spcAft>
                          <a:spcPts val="0"/>
                        </a:spcAft>
                      </a:pPr>
                      <a:r>
                        <a:rPr sz="750" b="0">
                          <a:solidFill>
                            <a:srgbClr val="504D46"/>
                          </a:solidFill>
                          <a:latin typeface="Archivo"/>
                        </a:rPr>
                        <a:t>IFRS 16 / NERSA s4 annual CPI repricing (W39).</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scheduled → notice_issued → disputed → agreed → applied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tariff_indexation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PPA termination</a:t>
                      </a:r>
                    </a:p>
                    <a:p>
                      <a:pPr>
                        <a:spcBef>
                          <a:spcPts val="0"/>
                        </a:spcBef>
                        <a:spcAft>
                          <a:spcPts val="0"/>
                        </a:spcAft>
                      </a:pPr>
                      <a:r>
                        <a:rPr sz="750" b="0">
                          <a:solidFill>
                            <a:srgbClr val="504D46"/>
                          </a:solidFill>
                          <a:latin typeface="Archivo"/>
                        </a:rPr>
                        <a:t>NERSA s34 + IFRS 16 ETA buy-out (W62).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notice_given → valuation → agreed → disputed → terminated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ppa_termination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REC / GO lifecycle</a:t>
                      </a:r>
                    </a:p>
                    <a:p>
                      <a:pPr>
                        <a:spcBef>
                          <a:spcPts val="0"/>
                        </a:spcBef>
                        <a:spcAft>
                          <a:spcPts val="0"/>
                        </a:spcAft>
                      </a:pPr>
                      <a:r>
                        <a:rPr sz="750" b="0">
                          <a:solidFill>
                            <a:srgbClr val="504D46"/>
                          </a:solidFill>
                          <a:latin typeface="Archivo"/>
                        </a:rPr>
                        <a:t>I-REC/SAREC attribute certificate (W70).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device_registered → metered → issued → transferred → retired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rec_lifecycle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Change-in-law relief</a:t>
                      </a:r>
                    </a:p>
                    <a:p>
                      <a:pPr>
                        <a:spcBef>
                          <a:spcPts val="0"/>
                        </a:spcBef>
                        <a:spcAft>
                          <a:spcPts val="0"/>
                        </a:spcAft>
                      </a:pPr>
                      <a:r>
                        <a:rPr sz="750" b="0">
                          <a:solidFill>
                            <a:srgbClr val="504D46"/>
                          </a:solidFill>
                          <a:latin typeface="Archivo"/>
                        </a:rPr>
                        <a:t>Qualifying-change cost pass-through &amp; relief, arbitration branch (W78)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event_logged → eligibility_review → claim_submitted → negotia…</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ppa_change_in_law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Wheeling access</a:t>
                      </a:r>
                    </a:p>
                    <a:p>
                      <a:pPr>
                        <a:spcBef>
                          <a:spcPts val="0"/>
                        </a:spcBef>
                        <a:spcAft>
                          <a:spcPts val="0"/>
                        </a:spcAft>
                      </a:pPr>
                      <a:r>
                        <a:rPr sz="750" b="0">
                          <a:solidFill>
                            <a:srgbClr val="504D46"/>
                          </a:solidFill>
                          <a:latin typeface="Archivo"/>
                        </a:rPr>
                        <a:t>Third-party transmission access agreement (W219).</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requested → study → offered → accepted → active → terminated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wheeling_access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Virtual PPA / CfD</a:t>
                      </a:r>
                    </a:p>
                    <a:p>
                      <a:pPr>
                        <a:spcBef>
                          <a:spcPts val="0"/>
                        </a:spcBef>
                        <a:spcAft>
                          <a:spcPts val="0"/>
                        </a:spcAft>
                      </a:pPr>
                      <a:r>
                        <a:rPr sz="750" b="0">
                          <a:solidFill>
                            <a:srgbClr val="504D46"/>
                          </a:solidFill>
                          <a:latin typeface="Archivo"/>
                        </a:rPr>
                        <a:t>Contract-for-difference financial PPA settlement (W229).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period_open → strike_set → settled → disputed → reconciled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virtual_ppa_settlement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SLB KPI ratchet</a:t>
                      </a:r>
                    </a:p>
                    <a:p>
                      <a:pPr>
                        <a:spcBef>
                          <a:spcPts val="0"/>
                        </a:spcBef>
                        <a:spcAft>
                          <a:spcPts val="0"/>
                        </a:spcAft>
                      </a:pPr>
                      <a:r>
                        <a:rPr sz="750" b="0">
                          <a:solidFill>
                            <a:srgbClr val="504D46"/>
                          </a:solidFill>
                          <a:latin typeface="Archivo"/>
                        </a:rPr>
                        <a:t>Sustainability-linked-bond KPI margin ratchet (W204).</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target_set → measured → verified → ratchet_applied → disputed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slb_kpi_ratchet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Procurement options</a:t>
                      </a:r>
                    </a:p>
                    <a:p>
                      <a:pPr>
                        <a:spcBef>
                          <a:spcPts val="0"/>
                        </a:spcBef>
                        <a:spcAft>
                          <a:spcPts val="0"/>
                        </a:spcAft>
                      </a:pPr>
                      <a:r>
                        <a:rPr sz="750" b="0">
                          <a:solidFill>
                            <a:srgbClr val="504D46"/>
                          </a:solidFill>
                          <a:latin typeface="Archivo"/>
                        </a:rPr>
                        <a:t>Active RFP responses and LOI pipeline.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/procurement</a:t>
                      </a:r>
                    </a:p>
                  </a:txBody>
                  <a:tcPr anchor="ctr" marT="25400" marB="25400" marL="50800" marR="50800">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Contracts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PPA variations</a:t>
                      </a:r>
                    </a:p>
                    <a:p>
                      <a:pPr>
                        <a:spcBef>
                          <a:spcPts val="0"/>
                        </a:spcBef>
                        <a:spcAft>
                          <a:spcPts val="0"/>
                        </a:spcAft>
                      </a:pPr>
                      <a:r>
                        <a:rPr sz="750" b="0">
                          <a:solidFill>
                            <a:srgbClr val="504D46"/>
                          </a:solidFill>
                          <a:latin typeface="Archivo"/>
                        </a:rPr>
                        <a:t>Signed PPA amendment register (W155).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technical_review → commercial_review → approved → exe…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ipp_ppavar</a:t>
                      </a:r>
                    </a:p>
                  </a:txBody>
                  <a:tcPr anchor="ctr" marT="25400" marB="25400" marL="50800" marR="50800">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Operations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Take-or-pay obligations</a:t>
                      </a:r>
                    </a:p>
                    <a:p>
                      <a:pPr>
                        <a:spcBef>
                          <a:spcPts val="0"/>
                        </a:spcBef>
                        <a:spcAft>
                          <a:spcPts val="0"/>
                        </a:spcAft>
                      </a:pPr>
                      <a:r>
                        <a:rPr sz="750" b="0">
                          <a:solidFill>
                            <a:srgbClr val="504D46"/>
                          </a:solidFill>
                          <a:latin typeface="Archivo"/>
                        </a:rPr>
                        <a:t>IFRS 16 + NERSA s34 ToP machine (W32).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contracted → delivered → shortfall → cure_window → disputed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ppa_take_or_pay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Curtailment claims</a:t>
                      </a:r>
                    </a:p>
                    <a:p>
                      <a:pPr>
                        <a:spcBef>
                          <a:spcPts val="0"/>
                        </a:spcBef>
                        <a:spcAft>
                          <a:spcPts val="0"/>
                        </a:spcAft>
                      </a:pPr>
                      <a:r>
                        <a:rPr sz="750" b="0">
                          <a:solidFill>
                            <a:srgbClr val="504D46"/>
                          </a:solidFill>
                          <a:latin typeface="Archivo"/>
                        </a:rPr>
                        <a:t>Deemed-energy compensation chain (W46).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claim_lodged → validated → quantum_agreed → settled → dispute…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curtailment_claim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Energy nominations</a:t>
                      </a:r>
                    </a:p>
                    <a:p>
                      <a:pPr>
                        <a:spcBef>
                          <a:spcPts val="0"/>
                        </a:spcBef>
                        <a:spcAft>
                          <a:spcPts val="0"/>
                        </a:spcAft>
                      </a:pPr>
                      <a:r>
                        <a:rPr sz="750" b="0">
                          <a:solidFill>
                            <a:srgbClr val="504D46"/>
                          </a:solidFill>
                          <a:latin typeface="Archivo"/>
                        </a:rPr>
                        <a:t>Day-ahead nomination &amp; deviation settlement at the deviation tariff (W</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nomination_window_open → da_nominated → da_confirmed → delive…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ppa_nomination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Annual reconciliation</a:t>
                      </a:r>
                    </a:p>
                    <a:p>
                      <a:pPr>
                        <a:spcBef>
                          <a:spcPts val="0"/>
                        </a:spcBef>
                        <a:spcAft>
                          <a:spcPts val="0"/>
                        </a:spcAft>
                      </a:pPr>
                      <a:r>
                        <a:rPr sz="750" b="0">
                          <a:solidFill>
                            <a:srgbClr val="504D46"/>
                          </a:solidFill>
                          <a:latin typeface="Archivo"/>
                        </a:rPr>
                        <a:t>IFRS 15 / NERSA s34 annual true-up &amp; financial close (W101).</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year_opened → data_collected → reconciled → signed_off → invo…</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ppa_annual_recon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Unserved-energy claims</a:t>
                      </a:r>
                    </a:p>
                    <a:p>
                      <a:pPr>
                        <a:spcBef>
                          <a:spcPts val="0"/>
                        </a:spcBef>
                        <a:spcAft>
                          <a:spcPts val="0"/>
                        </a:spcAft>
                      </a:pPr>
                      <a:r>
                        <a:rPr sz="750" b="0">
                          <a:solidFill>
                            <a:srgbClr val="504D46"/>
                          </a:solidFill>
                          <a:latin typeface="Archivo"/>
                        </a:rPr>
                        <a:t>Use-of-system unserved-energy claim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claim_lodged → validated → quantum_agreed → settled → disputed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unserved_energy_claim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Delivery reports</a:t>
                      </a:r>
                    </a:p>
                    <a:p>
                      <a:pPr>
                        <a:spcBef>
                          <a:spcPts val="0"/>
                        </a:spcBef>
                        <a:spcAft>
                          <a:spcPts val="0"/>
                        </a:spcAft>
                      </a:pPr>
                      <a:r>
                        <a:rPr sz="750" b="0">
                          <a:solidFill>
                            <a:srgbClr val="504D46"/>
                          </a:solidFill>
                          <a:latin typeface="Archivo"/>
                        </a:rPr>
                        <a:t>Monthly MWh contracted vs delivered.</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Solar settlement invoices</a:t>
                      </a:r>
                    </a:p>
                    <a:p>
                      <a:pPr>
                        <a:spcBef>
                          <a:spcPts val="0"/>
                        </a:spcBef>
                        <a:spcAft>
                          <a:spcPts val="0"/>
                        </a:spcAft>
                      </a:pPr>
                      <a:r>
                        <a:rPr sz="750" b="0">
                          <a:solidFill>
                            <a:srgbClr val="504D46"/>
                          </a:solidFill>
                          <a:latin typeface="Archivo"/>
                        </a:rPr>
                        <a:t>Monthly bills for delivered solar, with kWh, tariff and payment status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Billing &amp; payments</a:t>
                      </a:r>
                    </a:p>
                    <a:p>
                      <a:pPr>
                        <a:spcBef>
                          <a:spcPts val="0"/>
                        </a:spcBef>
                        <a:spcAft>
                          <a:spcPts val="0"/>
                        </a:spcAft>
                      </a:pPr>
                      <a:r>
                        <a:rPr sz="750" b="0">
                          <a:solidFill>
                            <a:srgbClr val="504D46"/>
                          </a:solidFill>
                          <a:latin typeface="Archivo"/>
                        </a:rPr>
                        <a:t>Invoice register and payment status.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Metering &amp; reconciliation</a:t>
                      </a:r>
                    </a:p>
                    <a:p>
                      <a:pPr>
                        <a:spcBef>
                          <a:spcPts val="0"/>
                        </a:spcBef>
                        <a:spcAft>
                          <a:spcPts val="0"/>
                        </a:spcAft>
                      </a:pPr>
                      <a:r>
                        <a:rPr sz="750" b="0">
                          <a:solidFill>
                            <a:srgbClr val="504D46"/>
                          </a:solidFill>
                          <a:latin typeface="Archivo"/>
                        </a:rPr>
                        <a:t>Smart meter reconciliation data.</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Operations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Wheeling statements</a:t>
                      </a:r>
                    </a:p>
                    <a:p>
                      <a:pPr>
                        <a:spcBef>
                          <a:spcPts val="0"/>
                        </a:spcBef>
                        <a:spcAft>
                          <a:spcPts val="0"/>
                        </a:spcAft>
                      </a:pPr>
                      <a:r>
                        <a:rPr sz="750" b="0">
                          <a:solidFill>
                            <a:srgbClr val="504D46"/>
                          </a:solidFill>
                          <a:latin typeface="Archivo"/>
                        </a:rPr>
                        <a:t>Third-party access wheeling charges.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Sites &amp; groups</a:t>
                      </a:r>
                    </a:p>
                    <a:p>
                      <a:pPr>
                        <a:spcBef>
                          <a:spcPts val="0"/>
                        </a:spcBef>
                        <a:spcAft>
                          <a:spcPts val="0"/>
                        </a:spcAft>
                      </a:pPr>
                      <a:r>
                        <a:rPr sz="750" b="0">
                          <a:solidFill>
                            <a:srgbClr val="504D46"/>
                          </a:solidFill>
                          <a:latin typeface="Archivo"/>
                        </a:rPr>
                        <a:t>Delivery-point and site-group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Tariffs</a:t>
                      </a:r>
                    </a:p>
                    <a:p>
                      <a:pPr>
                        <a:spcBef>
                          <a:spcPts val="0"/>
                        </a:spcBef>
                        <a:spcAft>
                          <a:spcPts val="0"/>
                        </a:spcAft>
                      </a:pPr>
                      <a:r>
                        <a:rPr sz="750" b="0">
                          <a:solidFill>
                            <a:srgbClr val="504D46"/>
                          </a:solidFill>
                          <a:latin typeface="Archivo"/>
                        </a:rPr>
                        <a:t>Tariff schedule and TOU rate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Budget vs actual</a:t>
                      </a:r>
                    </a:p>
                    <a:p>
                      <a:pPr>
                        <a:spcBef>
                          <a:spcPts val="0"/>
                        </a:spcBef>
                        <a:spcAft>
                          <a:spcPts val="0"/>
                        </a:spcAft>
                      </a:pPr>
                      <a:r>
                        <a:rPr sz="750" b="0">
                          <a:solidFill>
                            <a:srgbClr val="504D46"/>
                          </a:solidFill>
                          <a:latin typeface="Archivo"/>
                        </a:rPr>
                        <a:t>Per-period energy budget vs actual consumption.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Bill upload &amp; AI</a:t>
                      </a:r>
                    </a:p>
                    <a:p>
                      <a:pPr>
                        <a:spcBef>
                          <a:spcPts val="0"/>
                        </a:spcBef>
                        <a:spcAft>
                          <a:spcPts val="0"/>
                        </a:spcAft>
                      </a:pPr>
                      <a:r>
                        <a:rPr sz="750" b="0">
                          <a:solidFill>
                            <a:srgbClr val="504D46"/>
                          </a:solidFill>
                          <a:latin typeface="Archivo"/>
                        </a:rPr>
                        <a:t>AI bill analyser, PPA-mix optimiser and LOI drafter.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Payment Security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Payment security</a:t>
                      </a:r>
                    </a:p>
                    <a:p>
                      <a:pPr>
                        <a:spcBef>
                          <a:spcPts val="0"/>
                        </a:spcBef>
                        <a:spcAft>
                          <a:spcPts val="0"/>
                        </a:spcAft>
                      </a:pPr>
                      <a:r>
                        <a:rPr sz="750" b="0">
                          <a:solidFill>
                            <a:srgbClr val="504D46"/>
                          </a:solidFill>
                          <a:latin typeface="Archivo"/>
                        </a:rPr>
                        <a:t>Guarantee/LC/PCG bankability backstop (W54).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issued → active → expiry_warning → renewed → forfeited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ppa_payment_security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Credit support docs</a:t>
                      </a:r>
                    </a:p>
                    <a:p>
                      <a:pPr>
                        <a:spcBef>
                          <a:spcPts val="0"/>
                        </a:spcBef>
                        <a:spcAft>
                          <a:spcPts val="0"/>
                        </a:spcAft>
                      </a:pPr>
                      <a:r>
                        <a:rPr sz="750" b="0">
                          <a:solidFill>
                            <a:srgbClr val="504D46"/>
                          </a:solidFill>
                          <a:latin typeface="Archivo"/>
                        </a:rPr>
                        <a:t>LC, PCG and guarantee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Obligations register</a:t>
                      </a:r>
                    </a:p>
                    <a:p>
                      <a:pPr>
                        <a:spcBef>
                          <a:spcPts val="0"/>
                        </a:spcBef>
                        <a:spcAft>
                          <a:spcPts val="0"/>
                        </a:spcAft>
                      </a:pPr>
                      <a:r>
                        <a:rPr sz="750" b="0">
                          <a:solidFill>
                            <a:srgbClr val="504D46"/>
                          </a:solidFill>
                          <a:latin typeface="Archivo"/>
                        </a:rPr>
                        <a:t>Payment-security and contractual obligation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ESG disclosure</a:t>
                      </a:r>
                    </a:p>
                    <a:p>
                      <a:pPr>
                        <a:spcBef>
                          <a:spcPts val="0"/>
                        </a:spcBef>
                        <a:spcAft>
                          <a:spcPts val="0"/>
                        </a:spcAft>
                      </a:pPr>
                      <a:r>
                        <a:rPr sz="750" b="0">
                          <a:solidFill>
                            <a:srgbClr val="504D46"/>
                          </a:solidFill>
                          <a:latin typeface="Archivo"/>
                        </a:rPr>
                        <a:t>ESG disclosure and assurance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esg_disclosure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Scope 3 value-chain</a:t>
                      </a:r>
                    </a:p>
                    <a:p>
                      <a:pPr>
                        <a:spcBef>
                          <a:spcPts val="0"/>
                        </a:spcBef>
                        <a:spcAft>
                          <a:spcPts val="0"/>
                        </a:spcAft>
                      </a:pPr>
                      <a:r>
                        <a:rPr sz="750" b="0">
                          <a:solidFill>
                            <a:srgbClr val="504D46"/>
                          </a:solidFill>
                          <a:latin typeface="Archivo"/>
                        </a:rPr>
                        <a:t>Value-chain Scope 3 emission disclosure.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carbon_scope3_disclosure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Carbon offsets</a:t>
                      </a:r>
                    </a:p>
                    <a:p>
                      <a:pPr>
                        <a:spcBef>
                          <a:spcPts val="0"/>
                        </a:spcBef>
                        <a:spcAft>
                          <a:spcPts val="0"/>
                        </a:spcAft>
                      </a:pPr>
                      <a:r>
                        <a:rPr sz="750" b="0">
                          <a:solidFill>
                            <a:srgbClr val="504D46"/>
                          </a:solidFill>
                          <a:latin typeface="Archivo"/>
                        </a:rPr>
                        <a:t>Carbon Tax Act offset claim management.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allowance_granted → applied_to_return → claim_drafted → claim…</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carbon_offset_claim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REC retirement</a:t>
                      </a:r>
                    </a:p>
                    <a:p>
                      <a:pPr>
                        <a:spcBef>
                          <a:spcPts val="0"/>
                        </a:spcBef>
                        <a:spcAft>
                          <a:spcPts val="0"/>
                        </a:spcAft>
                      </a:pPr>
                      <a:r>
                        <a:rPr sz="750" b="0">
                          <a:solidFill>
                            <a:srgbClr val="504D46"/>
                          </a:solidFill>
                          <a:latin typeface="Archivo"/>
                        </a:rPr>
                        <a:t>Scope-2 zero-carbon claim certificates.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Green tariff disclosure</a:t>
                      </a:r>
                    </a:p>
                    <a:p>
                      <a:pPr>
                        <a:spcBef>
                          <a:spcPts val="0"/>
                        </a:spcBef>
                        <a:spcAft>
                          <a:spcPts val="0"/>
                        </a:spcAft>
                      </a:pPr>
                      <a:r>
                        <a:rPr sz="750" b="0">
                          <a:solidFill>
                            <a:srgbClr val="504D46"/>
                          </a:solidFill>
                          <a:latin typeface="Archivo"/>
                        </a:rPr>
                        <a:t>Green-tariff / RE100 disclosure chain (W210).</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submitted → verified → published → disputed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green_tariff_disclosure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Scope 2 emissions</a:t>
                      </a:r>
                    </a:p>
                    <a:p>
                      <a:pPr>
                        <a:spcBef>
                          <a:spcPts val="0"/>
                        </a:spcBef>
                        <a:spcAft>
                          <a:spcPts val="0"/>
                        </a:spcAft>
                      </a:pPr>
                      <a:r>
                        <a:rPr sz="750" b="0">
                          <a:solidFill>
                            <a:srgbClr val="504D46"/>
                          </a:solidFill>
                          <a:latin typeface="Archivo"/>
                        </a:rPr>
                        <a:t>Annual location/market-based Scope 2 disclosures.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POPIA data rights</a:t>
                      </a:r>
                    </a:p>
                    <a:p>
                      <a:pPr>
                        <a:spcBef>
                          <a:spcPts val="0"/>
                        </a:spcBef>
                        <a:spcAft>
                          <a:spcPts val="0"/>
                        </a:spcAft>
                      </a:pPr>
                      <a:r>
                        <a:rPr sz="750" b="0">
                          <a:solidFill>
                            <a:srgbClr val="504D46"/>
                          </a:solidFill>
                          <a:latin typeface="Archivo"/>
                        </a:rPr>
                        <a:t>Data subject access and correction log.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/popia</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Sustainability reports</a:t>
                      </a:r>
                    </a:p>
                    <a:p>
                      <a:pPr>
                        <a:spcBef>
                          <a:spcPts val="0"/>
                        </a:spcBef>
                        <a:spcAft>
                          <a:spcPts val="0"/>
                        </a:spcAft>
                      </a:pPr>
                      <a:r>
                        <a:rPr sz="750" b="0">
                          <a:solidFill>
                            <a:srgbClr val="504D46"/>
                          </a:solidFill>
                          <a:latin typeface="Archivo"/>
                        </a:rPr>
                        <a:t>Annual sustainability and GRI reports.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Settlement rails</a:t>
                      </a:r>
                    </a:p>
                    <a:p>
                      <a:pPr>
                        <a:spcBef>
                          <a:spcPts val="0"/>
                        </a:spcBef>
                        <a:spcAft>
                          <a:spcPts val="0"/>
                        </a:spcAft>
                      </a:pPr>
                      <a:r>
                        <a:rPr sz="750" b="0">
                          <a:solidFill>
                            <a:srgbClr val="504D46"/>
                          </a:solidFill>
                          <a:latin typeface="Archivo"/>
                        </a:rPr>
                        <a:t>STRATE / SWIFT settlement-rail connector.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ERP connectors</a:t>
                      </a:r>
                    </a:p>
                    <a:p>
                      <a:pPr>
                        <a:spcBef>
                          <a:spcPts val="0"/>
                        </a:spcBef>
                        <a:spcAft>
                          <a:spcPts val="0"/>
                        </a:spcAft>
                      </a:pPr>
                      <a:r>
                        <a:rPr sz="750" b="0">
                          <a:solidFill>
                            <a:srgbClr val="504D46"/>
                          </a:solidFill>
                          <a:latin typeface="Archivo"/>
                        </a:rPr>
                        <a:t>SAP / Oracle ERP integration connector.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Filing connectors</a:t>
                      </a:r>
                    </a:p>
                    <a:p>
                      <a:pPr>
                        <a:spcBef>
                          <a:spcPts val="0"/>
                        </a:spcBef>
                        <a:spcAft>
                          <a:spcPts val="0"/>
                        </a:spcAft>
                      </a:pPr>
                      <a:r>
                        <a:rPr sz="750" b="0">
                          <a:solidFill>
                            <a:srgbClr val="504D46"/>
                          </a:solidFill>
                          <a:latin typeface="Archivo"/>
                        </a:rPr>
                        <a:t>Government statutory-filing connector.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log, REC reconciliation and certified exports.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Reporting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MWh settled · per PPA</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PPA portfolio</a:t>
                      </a:r>
                    </a:p>
                    <a:p>
                      <a:pPr>
                        <a:spcBef>
                          <a:spcPts val="0"/>
                        </a:spcBef>
                        <a:spcAft>
                          <a:spcPts val="0"/>
                        </a:spcAft>
                      </a:pPr>
                      <a:r>
                        <a:rPr sz="750" b="0">
                          <a:solidFill>
                            <a:srgbClr val="504D46"/>
                          </a:solidFill>
                          <a:latin typeface="Archivo"/>
                        </a:rPr>
                        <a:t>Portfolio summary — MW, cost, term.</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Energy cost analysis</a:t>
                      </a:r>
                    </a:p>
                    <a:p>
                      <a:pPr>
                        <a:spcBef>
                          <a:spcPts val="0"/>
                        </a:spcBef>
                        <a:spcAft>
                          <a:spcPts val="0"/>
                        </a:spcAft>
                      </a:pPr>
                      <a:r>
                        <a:rPr sz="750" b="0">
                          <a:solidFill>
                            <a:srgbClr val="504D46"/>
                          </a:solidFill>
                          <a:latin typeface="Archivo"/>
                        </a:rPr>
                        <a:t>Blended tariff and cost-per-MWh trends.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PPA, statutory, green-tariff and Scope 2 report exports.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Carbon Fund</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26 journeys across 6 groups  ·  metered: per credit issued / retired</a:t>
            </a:r>
          </a:p>
          <a:p>
            <a:pPr algn="l">
              <a:spcBef>
                <a:spcPts val="0"/>
              </a:spcBef>
              <a:spcAft>
                <a:spcPts val="400"/>
              </a:spcAft>
            </a:pPr>
            <a:r>
              <a:rPr sz="1150" b="0">
                <a:solidFill>
                  <a:srgbClr val="FFFFFF"/>
                </a:solidFill>
                <a:latin typeface="Archivo"/>
              </a:rPr>
              <a:t>Project Pipeline  ·  MRV &amp; Verification  ·  Issuance &amp; Registry  ·  Article 6 &amp; Compliance  ·  Retirement &amp; Offset  ·  Trading &amp; Markets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FUND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Project Pipeline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credit issued / retired</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Project registration</a:t>
                      </a:r>
                    </a:p>
                    <a:p>
                      <a:pPr>
                        <a:spcBef>
                          <a:spcPts val="0"/>
                        </a:spcBef>
                        <a:spcAft>
                          <a:spcPts val="0"/>
                        </a:spcAft>
                      </a:pPr>
                      <a:r>
                        <a:rPr sz="750" b="0">
                          <a:solidFill>
                            <a:srgbClr val="504D46"/>
                          </a:solidFill>
                          <a:latin typeface="Archivo"/>
                        </a:rPr>
                        <a:t>Gold Standard / Verra / Art 6.4 registration (W37).</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pdd_draft → validation → public_comment → dna_loa → registere…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carbon_registration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Crediting renewal</a:t>
                      </a:r>
                    </a:p>
                    <a:p>
                      <a:pPr>
                        <a:spcBef>
                          <a:spcPts val="0"/>
                        </a:spcBef>
                        <a:spcAft>
                          <a:spcPts val="0"/>
                        </a:spcAft>
                      </a:pPr>
                      <a:r>
                        <a:rPr sz="750" b="0">
                          <a:solidFill>
                            <a:srgbClr val="504D46"/>
                          </a:solidFill>
                          <a:latin typeface="Archivo"/>
                        </a:rPr>
                        <a:t>Verra/GS crediting-period renewal (W56).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scheduled → baseline_reassessment → validation → approved → r…</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crediting_period_renewal</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PoA / CPA inclusion</a:t>
                      </a:r>
                    </a:p>
                    <a:p>
                      <a:pPr>
                        <a:spcBef>
                          <a:spcPts val="0"/>
                        </a:spcBef>
                        <a:spcAft>
                          <a:spcPts val="0"/>
                        </a:spcAft>
                      </a:pPr>
                      <a:r>
                        <a:rPr sz="750" b="0">
                          <a:solidFill>
                            <a:srgbClr val="504D46"/>
                          </a:solidFill>
                          <a:latin typeface="Archivo"/>
                        </a:rPr>
                        <a:t>CDM-PoA grouped programme inclusion (W73).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screening → eligibility → methodology_check → loa_gate → incl…</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poa_cpa_inclusion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Vintage workflow</a:t>
                      </a:r>
                    </a:p>
                    <a:p>
                      <a:pPr>
                        <a:spcBef>
                          <a:spcPts val="0"/>
                        </a:spcBef>
                        <a:spcAft>
                          <a:spcPts val="0"/>
                        </a:spcAft>
                      </a:pPr>
                      <a:r>
                        <a:rPr sz="750" b="0">
                          <a:solidFill>
                            <a:srgbClr val="504D46"/>
                          </a:solidFill>
                          <a:latin typeface="Archivo"/>
                        </a:rPr>
                        <a:t>Credit vintage pipeline — status by year.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VCM project development</a:t>
                      </a:r>
                    </a:p>
                    <a:p>
                      <a:pPr>
                        <a:spcBef>
                          <a:spcPts val="0"/>
                        </a:spcBef>
                        <a:spcAft>
                          <a:spcPts val="0"/>
                        </a:spcAft>
                      </a:pPr>
                      <a:r>
                        <a:rPr sz="750" b="0">
                          <a:solidFill>
                            <a:srgbClr val="504D46"/>
                          </a:solidFill>
                          <a:latin typeface="Archivo"/>
                        </a:rPr>
                        <a:t>Voluntary carbon market development pipeline.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cancelled → conception → credits_issued → implementa…</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vcm_project_development</a:t>
                      </a:r>
                    </a:p>
                  </a:txBody>
                  <a:tcPr anchor="ctr" marT="25400" marB="25400" marL="50800" marR="50800">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FUND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MRV &amp; Verification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credit issued / retired</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Verification chain</a:t>
                      </a:r>
                    </a:p>
                    <a:p>
                      <a:pPr>
                        <a:spcBef>
                          <a:spcPts val="0"/>
                        </a:spcBef>
                        <a:spcAft>
                          <a:spcPts val="0"/>
                        </a:spcAft>
                      </a:pPr>
                      <a:r>
                        <a:rPr sz="750" b="0">
                          <a:solidFill>
                            <a:srgbClr val="504D46"/>
                          </a:solidFill>
                          <a:latin typeface="Archivo"/>
                        </a:rPr>
                        <a:t>14-state UNFCCC MRV verification (W11).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validation → site_audit → cra_review → issuance_pending → iss…</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mrv_submissions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MRV submissions</a:t>
                      </a:r>
                    </a:p>
                    <a:p>
                      <a:pPr>
                        <a:spcBef>
                          <a:spcPts val="0"/>
                        </a:spcBef>
                        <a:spcAft>
                          <a:spcPts val="0"/>
                        </a:spcAft>
                      </a:pPr>
                      <a:r>
                        <a:rPr sz="750" b="0">
                          <a:solidFill>
                            <a:srgbClr val="504D46"/>
                          </a:solidFill>
                          <a:latin typeface="Archivo"/>
                        </a:rPr>
                        <a:t>Monitoring, reporting and verification records.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CCP eligibility</a:t>
                      </a:r>
                    </a:p>
                    <a:p>
                      <a:pPr>
                        <a:spcBef>
                          <a:spcPts val="0"/>
                        </a:spcBef>
                        <a:spcAft>
                          <a:spcPts val="0"/>
                        </a:spcAft>
                      </a:pPr>
                      <a:r>
                        <a:rPr sz="750" b="0">
                          <a:solidFill>
                            <a:srgbClr val="504D46"/>
                          </a:solidFill>
                          <a:latin typeface="Archivo"/>
                        </a:rPr>
                        <a:t>Calyx Global CCP-eligibility assessment.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ccp_assessment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Methodology amendments</a:t>
                      </a:r>
                    </a:p>
                    <a:p>
                      <a:pPr>
                        <a:spcBef>
                          <a:spcPts val="0"/>
                        </a:spcBef>
                        <a:spcAft>
                          <a:spcPts val="0"/>
                        </a:spcAft>
                      </a:pPr>
                      <a:r>
                        <a:rPr sz="750" b="0">
                          <a:solidFill>
                            <a:srgbClr val="504D46"/>
                          </a:solidFill>
                          <a:latin typeface="Archivo"/>
                        </a:rPr>
                        <a:t>Approved methodology change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amendment_approved → amendment_rejected → deviation_identifie…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methodology_amendment</a:t>
                      </a:r>
                    </a:p>
                  </a:txBody>
                  <a:tcPr anchor="ctr" marT="25400" marB="25400" marL="50800" marR="50800">
                    <a:solidFill>
                      <a:srgbClr val="F5F3E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FUND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Issuance &amp; Registry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credit issued / retired</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Credit issuance</a:t>
                      </a:r>
                    </a:p>
                    <a:p>
                      <a:pPr>
                        <a:spcBef>
                          <a:spcPts val="0"/>
                        </a:spcBef>
                        <a:spcAft>
                          <a:spcPts val="0"/>
                        </a:spcAft>
                      </a:pPr>
                      <a:r>
                        <a:rPr sz="750" b="0">
                          <a:solidFill>
                            <a:srgbClr val="504D46"/>
                          </a:solidFill>
                          <a:latin typeface="Archivo"/>
                        </a:rPr>
                        <a:t>Carbon credit issuance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carbon_issuance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Retirement certificates</a:t>
                      </a:r>
                    </a:p>
                    <a:p>
                      <a:pPr>
                        <a:spcBef>
                          <a:spcPts val="0"/>
                        </a:spcBef>
                        <a:spcAft>
                          <a:spcPts val="0"/>
                        </a:spcAft>
                      </a:pPr>
                      <a:r>
                        <a:rPr sz="750" b="0">
                          <a:solidFill>
                            <a:srgbClr val="504D46"/>
                          </a:solidFill>
                          <a:latin typeface="Archivo"/>
                        </a:rPr>
                        <a:t>Issued retirement certificates registry.</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Certificate bundles</a:t>
                      </a:r>
                    </a:p>
                    <a:p>
                      <a:pPr>
                        <a:spcBef>
                          <a:spcPts val="0"/>
                        </a:spcBef>
                        <a:spcAft>
                          <a:spcPts val="0"/>
                        </a:spcAft>
                      </a:pPr>
                      <a:r>
                        <a:rPr sz="750" b="0">
                          <a:solidFill>
                            <a:srgbClr val="504D46"/>
                          </a:solidFill>
                          <a:latin typeface="Archivo"/>
                        </a:rPr>
                        <a:t>Bundled credit registry for bulk transfers.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applied → assembling → cancelled → expired → issued → retired…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certificate_bundle</a:t>
                      </a:r>
                    </a:p>
                  </a:txBody>
                  <a:tcPr anchor="ctr" marT="25400" marB="25400" marL="50800" marR="50800">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FUND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Article 6 &amp;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6 journeys in this group</a:t>
            </a:r>
            <a:r>
              <a:rPr sz="1050" b="0">
                <a:solidFill>
                  <a:srgbClr val="504D46"/>
                </a:solidFill>
                <a:latin typeface="Archivo"/>
              </a:rPr>
              <a:t>   ·   metered: per credit issued / retired</a:t>
            </a:r>
          </a:p>
        </p:txBody>
      </p:sp>
      <p:graphicFrame>
        <p:nvGraphicFramePr>
          <p:cNvPr id="10" name="Table 9"/>
          <p:cNvGraphicFramePr>
            <a:graphicFrameLocks noGrp="1"/>
          </p:cNvGraphicFramePr>
          <p:nvPr/>
        </p:nvGraphicFramePr>
        <p:xfrm>
          <a:off x="548640" y="1783080"/>
          <a:ext cx="11064240" cy="294436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Article 6 ITMO</a:t>
                      </a:r>
                    </a:p>
                    <a:p>
                      <a:pPr>
                        <a:spcBef>
                          <a:spcPts val="0"/>
                        </a:spcBef>
                        <a:spcAft>
                          <a:spcPts val="0"/>
                        </a:spcAft>
                      </a:pPr>
                      <a:r>
                        <a:rPr sz="750" b="0">
                          <a:solidFill>
                            <a:srgbClr val="504D46"/>
                          </a:solidFill>
                          <a:latin typeface="Archivo"/>
                        </a:rPr>
                        <a:t>UNFCCC ITMO corresponding-adjustment ledger (W4).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pending_transfer → under_review → adjusted → retired → disputed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article6_adjustment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ESG disclosure</a:t>
                      </a:r>
                    </a:p>
                    <a:p>
                      <a:pPr>
                        <a:spcBef>
                          <a:spcPts val="0"/>
                        </a:spcBef>
                        <a:spcAft>
                          <a:spcPts val="0"/>
                        </a:spcAft>
                      </a:pPr>
                      <a:r>
                        <a:rPr sz="750" b="0">
                          <a:solidFill>
                            <a:srgbClr val="504D46"/>
                          </a:solidFill>
                          <a:latin typeface="Archivo"/>
                        </a:rPr>
                        <a:t>ESG disclosure and third-party assurance.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esg_disclosure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Scope 3 disclosure</a:t>
                      </a:r>
                    </a:p>
                    <a:p>
                      <a:pPr>
                        <a:spcBef>
                          <a:spcPts val="0"/>
                        </a:spcBef>
                        <a:spcAft>
                          <a:spcPts val="0"/>
                        </a:spcAft>
                      </a:pPr>
                      <a:r>
                        <a:rPr sz="750" b="0">
                          <a:solidFill>
                            <a:srgbClr val="504D46"/>
                          </a:solidFill>
                          <a:latin typeface="Archivo"/>
                        </a:rPr>
                        <a:t>Value-chain Scope 3 emission disclosure.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carbon_scope3_disclosure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Issuance, retirement and offset-claim reports with pivots and exports.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Document Studio</a:t>
                      </a:r>
                    </a:p>
                    <a:p>
                      <a:pPr>
                        <a:spcBef>
                          <a:spcPts val="0"/>
                        </a:spcBef>
                        <a:spcAft>
                          <a:spcPts val="0"/>
                        </a:spcAft>
                      </a:pPr>
                      <a:r>
                        <a:rPr sz="750" b="0">
                          <a:solidFill>
                            <a:srgbClr val="504D46"/>
                          </a:solidFill>
                          <a:latin typeface="Archivo"/>
                        </a:rPr>
                        <a:t>Auto-generate PDD, MRV, validation and REC issuance documents for Gold</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chain, certified exports and registry reconciliat</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FUND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Retirement &amp; Offset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credit issued / retired</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Retirement chain</a:t>
                      </a:r>
                    </a:p>
                    <a:p>
                      <a:pPr>
                        <a:spcBef>
                          <a:spcPts val="0"/>
                        </a:spcBef>
                        <a:spcAft>
                          <a:spcPts val="0"/>
                        </a:spcAft>
                      </a:pPr>
                      <a:r>
                        <a:rPr sz="750" b="0">
                          <a:solidFill>
                            <a:srgbClr val="504D46"/>
                          </a:solidFill>
                          <a:latin typeface="Archivo"/>
                        </a:rPr>
                        <a:t>Per-scope SLA retirement chain (W17).</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requested → validation → retired → cancelled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carbon_retirement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Reversals</a:t>
                      </a:r>
                    </a:p>
                    <a:p>
                      <a:pPr>
                        <a:spcBef>
                          <a:spcPts val="0"/>
                        </a:spcBef>
                        <a:spcAft>
                          <a:spcPts val="0"/>
                        </a:spcAft>
                      </a:pPr>
                      <a:r>
                        <a:rPr sz="750" b="0">
                          <a:solidFill>
                            <a:srgbClr val="504D46"/>
                          </a:solidFill>
                          <a:latin typeface="Archivo"/>
                        </a:rPr>
                        <a:t>Verra/GS buffer-pool reversal chain (W42).</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buffer_cancellation_proposed → buffer_cancelled → closed → es…</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carbon_reversal</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Tax offset claims</a:t>
                      </a:r>
                    </a:p>
                    <a:p>
                      <a:pPr>
                        <a:spcBef>
                          <a:spcPts val="0"/>
                        </a:spcBef>
                        <a:spcAft>
                          <a:spcPts val="0"/>
                        </a:spcAft>
                      </a:pPr>
                      <a:r>
                        <a:rPr sz="750" b="0">
                          <a:solidFill>
                            <a:srgbClr val="504D46"/>
                          </a:solidFill>
                          <a:latin typeface="Archivo"/>
                        </a:rPr>
                        <a:t>Carbon Tax Act §13 offset claim (W48).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sars_review → under_audit → grant → reject → claw…</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carbon_offset_claim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Carbon tax returns</a:t>
                      </a:r>
                    </a:p>
                    <a:p>
                      <a:pPr>
                        <a:spcBef>
                          <a:spcPts val="0"/>
                        </a:spcBef>
                        <a:spcAft>
                          <a:spcPts val="0"/>
                        </a:spcAft>
                      </a:pPr>
                      <a:r>
                        <a:rPr sz="750" b="0">
                          <a:solidFill>
                            <a:srgbClr val="504D46"/>
                          </a:solidFill>
                          <a:latin typeface="Archivo"/>
                        </a:rPr>
                        <a:t>Carbon Tax Act returns filing (W200).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allowances_applied → assessment_issued → data_…</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carbon_tax_return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Carbon budget</a:t>
                      </a:r>
                    </a:p>
                    <a:p>
                      <a:pPr>
                        <a:spcBef>
                          <a:spcPts val="0"/>
                        </a:spcBef>
                        <a:spcAft>
                          <a:spcPts val="0"/>
                        </a:spcAft>
                      </a:pPr>
                      <a:r>
                        <a:rPr sz="750" b="0">
                          <a:solidFill>
                            <a:srgbClr val="504D46"/>
                          </a:solidFill>
                          <a:latin typeface="Archivo"/>
                        </a:rPr>
                        <a:t>Annual carbon budget allocation.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accepted → allowance_computed → appeal → coas_submitted → cre…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carbon_budget</a:t>
                      </a:r>
                    </a:p>
                  </a:txBody>
                  <a:tcPr anchor="ctr" marT="25400" marB="25400" marL="50800" marR="50800">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FUND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Trading &amp; Markets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credit issued / retired</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Forward ERPA delivery</a:t>
                      </a:r>
                    </a:p>
                    <a:p>
                      <a:pPr>
                        <a:spcBef>
                          <a:spcPts val="0"/>
                        </a:spcBef>
                        <a:spcAft>
                          <a:spcPts val="0"/>
                        </a:spcAft>
                      </a:pPr>
                      <a:r>
                        <a:rPr sz="750" b="0">
                          <a:solidFill>
                            <a:srgbClr val="504D46"/>
                          </a:solidFill>
                          <a:latin typeface="Archivo"/>
                        </a:rPr>
                        <a:t>Carbon forward delivery / make-good (W65).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execution → monitoring → delivery_window → delivery_verified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carbon_erpa</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Credit quality rating</a:t>
                      </a:r>
                    </a:p>
                    <a:p>
                      <a:pPr>
                        <a:spcBef>
                          <a:spcPts val="0"/>
                        </a:spcBef>
                        <a:spcAft>
                          <a:spcPts val="0"/>
                        </a:spcAft>
                      </a:pPr>
                      <a:r>
                        <a:rPr sz="750" b="0">
                          <a:solidFill>
                            <a:srgbClr val="504D46"/>
                          </a:solidFill>
                          <a:latin typeface="Archivo"/>
                        </a:rPr>
                        <a:t>Third-party carbon credit quality rating.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carbon_credit_rating</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OTC carbon trading</a:t>
                      </a:r>
                    </a:p>
                    <a:p>
                      <a:pPr>
                        <a:spcBef>
                          <a:spcPts val="0"/>
                        </a:spcBef>
                        <a:spcAft>
                          <a:spcPts val="0"/>
                        </a:spcAft>
                      </a:pPr>
                      <a:r>
                        <a:rPr sz="750" b="0">
                          <a:solidFill>
                            <a:srgbClr val="504D46"/>
                          </a:solidFill>
                          <a:latin typeface="Archivo"/>
                        </a:rPr>
                        <a:t>Spot and forward carbon credit OTC book.</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aml_kyc_check → aml_kyc_passed → aml_rejected → authorized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carbon_registry_transfer</a:t>
                      </a:r>
                    </a:p>
                  </a:txBody>
                  <a:tcPr anchor="ctr" marT="25400" marB="25400" marL="50800" marR="50800">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Grid Operator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30 journeys across 3 groups  ·  metered: per connection · per MW dispatched</a:t>
            </a:r>
          </a:p>
          <a:p>
            <a:pPr algn="l">
              <a:spcBef>
                <a:spcPts val="0"/>
              </a:spcBef>
              <a:spcAft>
                <a:spcPts val="400"/>
              </a:spcAft>
            </a:pPr>
            <a:r>
              <a:rPr sz="1150" b="0">
                <a:solidFill>
                  <a:srgbClr val="FFFFFF"/>
                </a:solidFill>
                <a:latin typeface="Archivo"/>
              </a:rPr>
              <a:t>Grid Operations  ·  Connection Queue  ·  Compliance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Grid Operations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connection · per MW dispatched</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Dispatch nominations</a:t>
                      </a:r>
                    </a:p>
                    <a:p>
                      <a:pPr>
                        <a:spcBef>
                          <a:spcPts val="0"/>
                        </a:spcBef>
                        <a:spcAft>
                          <a:spcPts val="0"/>
                        </a:spcAft>
                      </a:pPr>
                      <a:r>
                        <a:rPr sz="750" b="0">
                          <a:solidFill>
                            <a:srgbClr val="504D46"/>
                          </a:solidFill>
                          <a:latin typeface="Archivo"/>
                        </a:rPr>
                        <a:t>BRP→SO 10-state dispatch chain (W13).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so_review → accepted → scheduled → activated → me…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oe_dispatch_nominations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Curtailment events</a:t>
                      </a:r>
                    </a:p>
                    <a:p>
                      <a:pPr>
                        <a:spcBef>
                          <a:spcPts val="0"/>
                        </a:spcBef>
                        <a:spcAft>
                          <a:spcPts val="0"/>
                        </a:spcAft>
                      </a:pPr>
                      <a:r>
                        <a:rPr sz="750" b="0">
                          <a:solidFill>
                            <a:srgbClr val="504D46"/>
                          </a:solidFill>
                          <a:latin typeface="Archivo"/>
                        </a:rPr>
                        <a:t>Load curtailment CSC-1 events log.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instruction_issued → acknowledged → implemented → metered → c…</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Ancillary service events</a:t>
                      </a:r>
                    </a:p>
                    <a:p>
                      <a:pPr>
                        <a:spcBef>
                          <a:spcPts val="0"/>
                        </a:spcBef>
                        <a:spcAft>
                          <a:spcPts val="0"/>
                        </a:spcAft>
                      </a:pPr>
                      <a:r>
                        <a:rPr sz="750" b="0">
                          <a:solidFill>
                            <a:srgbClr val="504D46"/>
                          </a:solidFill>
                          <a:latin typeface="Archivo"/>
                        </a:rPr>
                        <a:t>Ancillary award acceptance / delivery / failure / settlement event log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Ancillary services</a:t>
                      </a:r>
                    </a:p>
                    <a:p>
                      <a:pPr>
                        <a:spcBef>
                          <a:spcPts val="0"/>
                        </a:spcBef>
                        <a:spcAft>
                          <a:spcPts val="0"/>
                        </a:spcAft>
                      </a:pPr>
                      <a:r>
                        <a:rPr sz="750" b="0">
                          <a:solidFill>
                            <a:srgbClr val="504D46"/>
                          </a:solidFill>
                          <a:latin typeface="Archivo"/>
                        </a:rPr>
                        <a:t>NTCSA reserve activation settlement (W50).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activated → metered → validated → settled → disputed → settle…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reserve_activation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Demand response (W205)</a:t>
                      </a:r>
                    </a:p>
                    <a:p>
                      <a:pPr>
                        <a:spcBef>
                          <a:spcPts val="0"/>
                        </a:spcBef>
                        <a:spcAft>
                          <a:spcPts val="0"/>
                        </a:spcAft>
                      </a:pPr>
                      <a:r>
                        <a:rPr sz="750" b="0">
                          <a:solidFill>
                            <a:srgbClr val="504D46"/>
                          </a:solidFill>
                          <a:latin typeface="Archivo"/>
                        </a:rPr>
                        <a:t>DR programme activation, metering and incentive settlement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notified → acknowledged → activated → load_shed → metered → p…</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demand_response_event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SAPP interconnector schedules (W234)</a:t>
                      </a:r>
                    </a:p>
                    <a:p>
                      <a:pPr>
                        <a:spcBef>
                          <a:spcPts val="0"/>
                        </a:spcBef>
                        <a:spcAft>
                          <a:spcPts val="0"/>
                        </a:spcAft>
                      </a:pPr>
                      <a:r>
                        <a:rPr sz="750" b="0">
                          <a:solidFill>
                            <a:srgbClr val="504D46"/>
                          </a:solidFill>
                          <a:latin typeface="Archivo"/>
                        </a:rPr>
                        <a:t>Cross-border SAPP interconnector schedule negotiation and delivery cha</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schedule_draft → submitted_to_sapp → agreed → operating → com…</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interconnector_schedule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EOP activations (W215)</a:t>
                      </a:r>
                    </a:p>
                    <a:p>
                      <a:pPr>
                        <a:spcBef>
                          <a:spcPts val="0"/>
                        </a:spcBef>
                        <a:spcAft>
                          <a:spcPts val="0"/>
                        </a:spcAft>
                      </a:pPr>
                      <a:r>
                        <a:rPr sz="750" b="0">
                          <a:solidFill>
                            <a:srgbClr val="504D46"/>
                          </a:solidFill>
                          <a:latin typeface="Archivo"/>
                        </a:rPr>
                        <a:t>Emergency Operations Plan contingency activation and post-event review</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activated → restoration_in_progress → load_shedding_assessed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eop_activation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Outage responses</a:t>
                      </a:r>
                    </a:p>
                    <a:p>
                      <a:pPr>
                        <a:spcBef>
                          <a:spcPts val="0"/>
                        </a:spcBef>
                        <a:spcAft>
                          <a:spcPts val="0"/>
                        </a:spcAft>
                      </a:pPr>
                      <a:r>
                        <a:rPr sz="750" b="0">
                          <a:solidFill>
                            <a:srgbClr val="504D46"/>
                          </a:solidFill>
                          <a:latin typeface="Archivo"/>
                        </a:rPr>
                        <a:t>Crew acknowledgement, dispatch, rerouting and restoration response log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Imbalance settlement</a:t>
                      </a:r>
                    </a:p>
                    <a:p>
                      <a:pPr>
                        <a:spcBef>
                          <a:spcPts val="0"/>
                        </a:spcBef>
                        <a:spcAft>
                          <a:spcPts val="0"/>
                        </a:spcAft>
                      </a:pPr>
                      <a:r>
                        <a:rPr sz="750" b="0">
                          <a:solidFill>
                            <a:srgbClr val="504D46"/>
                          </a:solidFill>
                          <a:latin typeface="Archivo"/>
                        </a:rPr>
                        <a:t>Real-time imbalance cash-out.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aged_arrears → archived → cancelled → dispute_window_open → 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imbalance_settlement</a:t>
                      </a:r>
                    </a:p>
                  </a:txBody>
                  <a:tcPr anchor="ctr" marT="25400" marB="25400" marL="50800" marR="50800">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Grid Operations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connection · per MW dispatched</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Planned outages</a:t>
                      </a:r>
                    </a:p>
                    <a:p>
                      <a:pPr>
                        <a:spcBef>
                          <a:spcPts val="0"/>
                        </a:spcBef>
                        <a:spcAft>
                          <a:spcPts val="0"/>
                        </a:spcAft>
                      </a:pPr>
                      <a:r>
                        <a:rPr sz="750" b="0">
                          <a:solidFill>
                            <a:srgbClr val="504D46"/>
                          </a:solidFill>
                          <a:latin typeface="Archivo"/>
                        </a:rPr>
                        <a:t>NERSA Grid Code planned outage log (W18).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cancelled → closed → draft → in_progress → notifie…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planned_outage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Load curtailment</a:t>
                      </a:r>
                    </a:p>
                    <a:p>
                      <a:pPr>
                        <a:spcBef>
                          <a:spcPts val="0"/>
                        </a:spcBef>
                        <a:spcAft>
                          <a:spcPts val="0"/>
                        </a:spcAft>
                      </a:pPr>
                      <a:r>
                        <a:rPr sz="750" b="0">
                          <a:solidFill>
                            <a:srgbClr val="504D46"/>
                          </a:solidFill>
                          <a:latin typeface="Archivo"/>
                        </a:rPr>
                        <a:t>NERSA §CSC-1 urgent curtailment (W34).</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closed → curtailment_started → instruction_iss…</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load_curtailment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Black start</a:t>
                      </a:r>
                    </a:p>
                    <a:p>
                      <a:pPr>
                        <a:spcBef>
                          <a:spcPts val="0"/>
                        </a:spcBef>
                        <a:spcAft>
                          <a:spcPts val="0"/>
                        </a:spcAft>
                      </a:pPr>
                      <a:r>
                        <a:rPr sz="750" b="0">
                          <a:solidFill>
                            <a:srgbClr val="504D46"/>
                          </a:solidFill>
                          <a:latin typeface="Archivo"/>
                        </a:rPr>
                        <a:t>Black-start event log and cost recovery.</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bid_evaluation → contract_awarded → contract_executed → contr…</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black_start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Transmission outage</a:t>
                      </a:r>
                    </a:p>
                    <a:p>
                      <a:pPr>
                        <a:spcBef>
                          <a:spcPts val="0"/>
                        </a:spcBef>
                        <a:spcAft>
                          <a:spcPts val="0"/>
                        </a:spcAft>
                      </a:pPr>
                      <a:r>
                        <a:rPr sz="750" b="0">
                          <a:solidFill>
                            <a:srgbClr val="504D46"/>
                          </a:solidFill>
                          <a:latin typeface="Archivo"/>
                        </a:rPr>
                        <a:t>EHV/HV outage coordination with N-1 security assessment (W110).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emergency_cancelled → extended → n1_contingency_ru…</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transmission_outage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Grid code compliance</a:t>
                      </a:r>
                    </a:p>
                    <a:p>
                      <a:pPr>
                        <a:spcBef>
                          <a:spcPts val="0"/>
                        </a:spcBef>
                        <a:spcAft>
                          <a:spcPts val="0"/>
                        </a:spcAft>
                      </a:pPr>
                      <a:r>
                        <a:rPr sz="750" b="0">
                          <a:solidFill>
                            <a:srgbClr val="504D46"/>
                          </a:solidFill>
                          <a:latin typeface="Archivo"/>
                        </a:rPr>
                        <a:t>NRS 097 non-conformance monitoring (W67).</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monitoring → non_conformance → investigation → remediation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grid_code_compliance  ◆</a:t>
                      </a:r>
                    </a:p>
                  </a:txBody>
                  <a:tcPr anchor="ctr" marT="25400" marB="25400" marL="50800" marR="50800">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Connection Queue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connection · per MW dispatched</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Connection agreements</a:t>
                      </a:r>
                    </a:p>
                    <a:p>
                      <a:pPr>
                        <a:spcBef>
                          <a:spcPts val="0"/>
                        </a:spcBef>
                        <a:spcAft>
                          <a:spcPts val="0"/>
                        </a:spcAft>
                      </a:pPr>
                      <a:r>
                        <a:rPr sz="750" b="0">
                          <a:solidFill>
                            <a:srgbClr val="504D46"/>
                          </a:solidFill>
                          <a:latin typeface="Archivo"/>
                        </a:rPr>
                        <a:t>NERSA Grid Code C-1 GCA chain (W28).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application → technical_evaluation → offer_issued → accepted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gca_connection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REZ capacity allocation</a:t>
                      </a:r>
                    </a:p>
                    <a:p>
                      <a:pPr>
                        <a:spcBef>
                          <a:spcPts val="0"/>
                        </a:spcBef>
                        <a:spcAft>
                          <a:spcPts val="0"/>
                        </a:spcAft>
                      </a:pPr>
                      <a:r>
                        <a:rPr sz="750" b="0">
                          <a:solidFill>
                            <a:srgbClr val="504D46"/>
                          </a:solidFill>
                          <a:latin typeface="Archivo"/>
                        </a:rPr>
                        <a:t>NTCSA 2024 capacity rules queue (W58).</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applied → queue_assessed → conditionally_allocated → allocate…</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rez_capacity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Connection energization</a:t>
                      </a:r>
                    </a:p>
                    <a:p>
                      <a:pPr>
                        <a:spcBef>
                          <a:spcPts val="0"/>
                        </a:spcBef>
                        <a:spcAft>
                          <a:spcPts val="0"/>
                        </a:spcAft>
                      </a:pPr>
                      <a:r>
                        <a:rPr sz="750" b="0">
                          <a:solidFill>
                            <a:srgbClr val="504D46"/>
                          </a:solidFill>
                          <a:latin typeface="Archivo"/>
                        </a:rPr>
                        <a:t>Physical go-live COD commissioning (W75).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connection_ready → protection_tested → energization_authorize…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connection_energization  ◆</a:t>
                      </a:r>
                    </a:p>
                  </a:txBody>
                  <a:tcPr anchor="ctr" marT="25400" marB="25400" marL="50800" marR="50800">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connection · per MW dispatched</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Grid code NCRs</a:t>
                      </a:r>
                    </a:p>
                    <a:p>
                      <a:pPr>
                        <a:spcBef>
                          <a:spcPts val="0"/>
                        </a:spcBef>
                        <a:spcAft>
                          <a:spcPts val="0"/>
                        </a:spcAft>
                      </a:pPr>
                      <a:r>
                        <a:rPr sz="750" b="0">
                          <a:solidFill>
                            <a:srgbClr val="504D46"/>
                          </a:solidFill>
                          <a:latin typeface="Archivo"/>
                        </a:rPr>
                        <a:t>Formal non-conformance notifications.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cap_approved → cap_submitted → compliance_retest → compliant_…</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gcc_ncr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Wheeling &amp; TPA charges</a:t>
                      </a:r>
                    </a:p>
                    <a:p>
                      <a:pPr>
                        <a:spcBef>
                          <a:spcPts val="0"/>
                        </a:spcBef>
                        <a:spcAft>
                          <a:spcPts val="0"/>
                        </a:spcAft>
                      </a:pPr>
                      <a:r>
                        <a:rPr sz="750" b="0">
                          <a:solidFill>
                            <a:srgbClr val="504D46"/>
                          </a:solidFill>
                          <a:latin typeface="Archivo"/>
                        </a:rPr>
                        <a:t>Monthly transmission use-of-system invoices.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NERSA statutory reporting</a:t>
                      </a:r>
                    </a:p>
                    <a:p>
                      <a:pPr>
                        <a:spcBef>
                          <a:spcPts val="0"/>
                        </a:spcBef>
                        <a:spcAft>
                          <a:spcPts val="0"/>
                        </a:spcAft>
                      </a:pPr>
                      <a:r>
                        <a:rPr sz="750" b="0">
                          <a:solidFill>
                            <a:srgbClr val="504D46"/>
                          </a:solidFill>
                          <a:latin typeface="Archivo"/>
                        </a:rPr>
                        <a:t>System operator annual statutory reports.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Interconnection studies</a:t>
                      </a:r>
                    </a:p>
                    <a:p>
                      <a:pPr>
                        <a:spcBef>
                          <a:spcPts val="0"/>
                        </a:spcBef>
                        <a:spcAft>
                          <a:spcPts val="0"/>
                        </a:spcAft>
                      </a:pPr>
                      <a:r>
                        <a:rPr sz="750" b="0">
                          <a:solidFill>
                            <a:srgbClr val="504D46"/>
                          </a:solidFill>
                          <a:latin typeface="Archivo"/>
                        </a:rPr>
                        <a:t>Fault-level and thermal capacity studies.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application_filed → connection_agreement_drafted → constructi…</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gca_connection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Availability guarantees</a:t>
                      </a:r>
                    </a:p>
                    <a:p>
                      <a:pPr>
                        <a:spcBef>
                          <a:spcPts val="0"/>
                        </a:spcBef>
                        <a:spcAft>
                          <a:spcPts val="0"/>
                        </a:spcAft>
                      </a:pPr>
                      <a:r>
                        <a:rPr sz="750" b="0">
                          <a:solidFill>
                            <a:srgbClr val="504D46"/>
                          </a:solidFill>
                          <a:latin typeface="Archivo"/>
                        </a:rPr>
                        <a:t>IEC 61724 O&amp;M uptime guarantee (W51).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adjustment_review → cure_period → dispute_resolved → disputed…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availability_guarantee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Levy compliance</a:t>
                      </a:r>
                    </a:p>
                    <a:p>
                      <a:pPr>
                        <a:spcBef>
                          <a:spcPts val="0"/>
                        </a:spcBef>
                        <a:spcAft>
                          <a:spcPts val="0"/>
                        </a:spcAft>
                      </a:pPr>
                      <a:r>
                        <a:rPr sz="750" b="0">
                          <a:solidFill>
                            <a:srgbClr val="504D46"/>
                          </a:solidFill>
                          <a:latin typeface="Archivo"/>
                        </a:rPr>
                        <a:t>NERSA levy assessment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assessment_review → enforcement → final_demand → in_arrears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levy_assessment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Market rule changes</a:t>
                      </a:r>
                    </a:p>
                    <a:p>
                      <a:pPr>
                        <a:spcBef>
                          <a:spcPts val="0"/>
                        </a:spcBef>
                        <a:spcAft>
                          <a:spcPts val="0"/>
                        </a:spcAft>
                      </a:pPr>
                      <a:r>
                        <a:rPr sz="750" b="0">
                          <a:solidFill>
                            <a:srgbClr val="504D46"/>
                          </a:solidFill>
                          <a:latin typeface="Archivo"/>
                        </a:rPr>
                        <a:t>NERSA market rule consultation log.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Smart meter assets (W199)</a:t>
                      </a:r>
                    </a:p>
                    <a:p>
                      <a:pPr>
                        <a:spcBef>
                          <a:spcPts val="0"/>
                        </a:spcBef>
                        <a:spcAft>
                          <a:spcPts val="0"/>
                        </a:spcAft>
                      </a:pPr>
                      <a:r>
                        <a:rPr sz="750" b="0">
                          <a:solidFill>
                            <a:srgbClr val="504D46"/>
                          </a:solidFill>
                          <a:latin typeface="Archivo"/>
                        </a:rPr>
                        <a:t>Smart-meter asset commissioning, data-quality and lifecycle chain.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commissioning → data_quality_pass → operational → fault_detec…</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smart_meter_asset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Substation assets (W211)</a:t>
                      </a:r>
                    </a:p>
                    <a:p>
                      <a:pPr>
                        <a:spcBef>
                          <a:spcPts val="0"/>
                        </a:spcBef>
                        <a:spcAft>
                          <a:spcPts val="0"/>
                        </a:spcAft>
                      </a:pPr>
                      <a:r>
                        <a:rPr sz="750" b="0">
                          <a:solidFill>
                            <a:srgbClr val="504D46"/>
                          </a:solidFill>
                          <a:latin typeface="Archivo"/>
                        </a:rPr>
                        <a:t>Substation/transformer asset condition, refurbishment and decommission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commissioning → energised → assessment → refurbishment → out_…</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substation_asset</a:t>
                      </a:r>
                    </a:p>
                  </a:txBody>
                  <a:tcPr anchor="ctr" marT="25400" marB="25400" marL="50800" marR="50800">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connection · per MW dispatched</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SCADA data</a:t>
                      </a:r>
                    </a:p>
                    <a:p>
                      <a:pPr>
                        <a:spcBef>
                          <a:spcPts val="0"/>
                        </a:spcBef>
                        <a:spcAft>
                          <a:spcPts val="0"/>
                        </a:spcAft>
                      </a:pPr>
                      <a:r>
                        <a:rPr sz="750" b="0">
                          <a:solidFill>
                            <a:srgbClr val="504D46"/>
                          </a:solidFill>
                          <a:latin typeface="Archivo"/>
                        </a:rPr>
                        <a:t>SCADA telemetry connector — real-time grid measurement ingestion.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MQTT / OPC-UA connectors</a:t>
                      </a:r>
                    </a:p>
                    <a:p>
                      <a:pPr>
                        <a:spcBef>
                          <a:spcPts val="0"/>
                        </a:spcBef>
                        <a:spcAft>
                          <a:spcPts val="0"/>
                        </a:spcAft>
                      </a:pPr>
                      <a:r>
                        <a:rPr sz="750" b="0">
                          <a:solidFill>
                            <a:srgbClr val="504D46"/>
                          </a:solidFill>
                          <a:latin typeface="Archivo"/>
                        </a:rPr>
                        <a:t>Industrial MQTT / OPC-UA telemetry connector configuration.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Wheeling charges, dispatch nominations and grid-code compliance report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grid-operator audit chain, certified exports and extern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Support / OEM</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24 journeys across 4 groups  ·  metered: per ticket · per work order</a:t>
            </a:r>
          </a:p>
          <a:p>
            <a:pPr algn="l">
              <a:spcBef>
                <a:spcPts val="0"/>
              </a:spcBef>
              <a:spcAft>
                <a:spcPts val="400"/>
              </a:spcAft>
            </a:pPr>
            <a:r>
              <a:rPr sz="1150" b="0">
                <a:solidFill>
                  <a:srgbClr val="FFFFFF"/>
                </a:solidFill>
                <a:latin typeface="Archivo"/>
              </a:rPr>
              <a:t>ITIL Service Mgmt  ·  Field Operations  ·  OEM &amp; Supply Chain  ·  Platform Ops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SUPPORT / OEM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ITIL Service Mgmt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ticket · per work order</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Tickets</a:t>
                      </a:r>
                    </a:p>
                    <a:p>
                      <a:pPr>
                        <a:spcBef>
                          <a:spcPts val="0"/>
                        </a:spcBef>
                        <a:spcAft>
                          <a:spcPts val="0"/>
                        </a:spcAft>
                      </a:pPr>
                      <a:r>
                        <a:rPr sz="750" b="0">
                          <a:solidFill>
                            <a:srgbClr val="504D46"/>
                          </a:solidFill>
                          <a:latin typeface="Archivo"/>
                        </a:rPr>
                        <a:t>P1-P4 incident ticket queue with SLA timers.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open → in_progress → waiting_on_customer → resolved → closed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Ticket chain (W14)</a:t>
                      </a:r>
                    </a:p>
                    <a:p>
                      <a:pPr>
                        <a:spcBef>
                          <a:spcPts val="0"/>
                        </a:spcBef>
                        <a:spcAft>
                          <a:spcPts val="0"/>
                        </a:spcAft>
                      </a:pPr>
                      <a:r>
                        <a:rPr sz="750" b="0">
                          <a:solidFill>
                            <a:srgbClr val="504D46"/>
                          </a:solidFill>
                          <a:latin typeface="Archivo"/>
                        </a:rPr>
                        <a:t>ITIL incident lifecycle P1–P4 chain.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open → in_progress → resolved → closed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support_tickets</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Service requests</a:t>
                      </a:r>
                    </a:p>
                    <a:p>
                      <a:pPr>
                        <a:spcBef>
                          <a:spcPts val="0"/>
                        </a:spcBef>
                        <a:spcAft>
                          <a:spcPts val="0"/>
                        </a:spcAft>
                      </a:pPr>
                      <a:r>
                        <a:rPr sz="750" b="0">
                          <a:solidFill>
                            <a:srgbClr val="504D46"/>
                          </a:solidFill>
                          <a:latin typeface="Archivo"/>
                        </a:rPr>
                        <a:t>ITIL service-request fulfilment chain (W104).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approval_pending → approved → archived → assigned → awaiting_…</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service_request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Problem management</a:t>
                      </a:r>
                    </a:p>
                    <a:p>
                      <a:pPr>
                        <a:spcBef>
                          <a:spcPts val="0"/>
                        </a:spcBef>
                        <a:spcAft>
                          <a:spcPts val="0"/>
                        </a:spcAft>
                      </a:pPr>
                      <a:r>
                        <a:rPr sz="750" b="0">
                          <a:solidFill>
                            <a:srgbClr val="504D46"/>
                          </a:solidFill>
                          <a:latin typeface="Archivo"/>
                        </a:rPr>
                        <a:t>ITIL 4 root-cause problem management (W41).</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raised → investigation → root_cause_identified → workaround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problem_record</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Change enablement</a:t>
                      </a:r>
                    </a:p>
                    <a:p>
                      <a:pPr>
                        <a:spcBef>
                          <a:spcPts val="0"/>
                        </a:spcBef>
                        <a:spcAft>
                          <a:spcPts val="0"/>
                        </a:spcAft>
                      </a:pPr>
                      <a:r>
                        <a:rPr sz="750" b="0">
                          <a:solidFill>
                            <a:srgbClr val="504D46"/>
                          </a:solidFill>
                          <a:latin typeface="Archivo"/>
                        </a:rPr>
                        <a:t>ITIL CAB/ECAB change RFC lifecycle (W47).</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requested → assessment → cab_review → approved → scheduled →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change_request</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Escalations</a:t>
                      </a:r>
                    </a:p>
                    <a:p>
                      <a:pPr>
                        <a:spcBef>
                          <a:spcPts val="0"/>
                        </a:spcBef>
                        <a:spcAft>
                          <a:spcPts val="0"/>
                        </a:spcAft>
                      </a:pPr>
                      <a:r>
                        <a:rPr sz="750" b="0">
                          <a:solidFill>
                            <a:srgbClr val="504D46"/>
                          </a:solidFill>
                          <a:latin typeface="Archivo"/>
                        </a:rPr>
                        <a:t>Tickets escalated to engineering/management.</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CSAT lifecycle</a:t>
                      </a:r>
                    </a:p>
                    <a:p>
                      <a:pPr>
                        <a:spcBef>
                          <a:spcPts val="0"/>
                        </a:spcBef>
                        <a:spcAft>
                          <a:spcPts val="0"/>
                        </a:spcAft>
                      </a:pPr>
                      <a:r>
                        <a:rPr sz="750" b="0">
                          <a:solidFill>
                            <a:srgbClr val="504D46"/>
                          </a:solidFill>
                          <a:latin typeface="Archivo"/>
                        </a:rPr>
                        <a:t>Customer satisfaction survey chain (W208).</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closed_escalated → closed_satisfied → escalated → follow_up_r…</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csat_record</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SLA performance</a:t>
                      </a:r>
                    </a:p>
                    <a:p>
                      <a:pPr>
                        <a:spcBef>
                          <a:spcPts val="0"/>
                        </a:spcBef>
                        <a:spcAft>
                          <a:spcPts val="0"/>
                        </a:spcAft>
                      </a:pPr>
                      <a:r>
                        <a:rPr sz="750" b="0">
                          <a:solidFill>
                            <a:srgbClr val="504D46"/>
                          </a:solidFill>
                          <a:latin typeface="Archivo"/>
                        </a:rPr>
                        <a:t>SLA adherence reports (W217).</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data_collection → disputed → management_review → m…</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sla_performance_report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Cyber incident</a:t>
                      </a:r>
                    </a:p>
                    <a:p>
                      <a:pPr>
                        <a:spcBef>
                          <a:spcPts val="0"/>
                        </a:spcBef>
                        <a:spcAft>
                          <a:spcPts val="0"/>
                        </a:spcAft>
                      </a:pPr>
                      <a:r>
                        <a:rPr sz="750" b="0">
                          <a:solidFill>
                            <a:srgbClr val="504D46"/>
                          </a:solidFill>
                          <a:latin typeface="Archivo"/>
                        </a:rPr>
                        <a:t>POPIA s22 / Cybercrimes Act breach response (W26).</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closed → contained → detected → escalated → false_alarm → inv…</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cyber_incident  ◆</a:t>
                      </a:r>
                    </a:p>
                  </a:txBody>
                  <a:tcPr anchor="ctr" marT="25400" marB="25400" marL="50800" marR="50800">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SUPPORT / OEM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Field Operations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ticket · per work order</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Work orders</a:t>
                      </a:r>
                    </a:p>
                    <a:p>
                      <a:pPr>
                        <a:spcBef>
                          <a:spcPts val="0"/>
                        </a:spcBef>
                        <a:spcAft>
                          <a:spcPts val="0"/>
                        </a:spcAft>
                      </a:pPr>
                      <a:r>
                        <a:rPr sz="750" b="0">
                          <a:solidFill>
                            <a:srgbClr val="504D46"/>
                          </a:solidFill>
                          <a:latin typeface="Archivo"/>
                        </a:rPr>
                        <a:t>P6 field work-order dispatch chain (W16).</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planned → assigned → parts_requested → travelling → on_site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work_order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Warranty / RMA</a:t>
                      </a:r>
                    </a:p>
                    <a:p>
                      <a:pPr>
                        <a:spcBef>
                          <a:spcPts val="0"/>
                        </a:spcBef>
                        <a:spcAft>
                          <a:spcPts val="0"/>
                        </a:spcAft>
                      </a:pPr>
                      <a:r>
                        <a:rPr sz="750" b="0">
                          <a:solidFill>
                            <a:srgbClr val="504D46"/>
                          </a:solidFill>
                          <a:latin typeface="Archivo"/>
                        </a:rPr>
                        <a:t>OEM 10-state warranty claim chain (W15).</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oem_review → parts_order → repair → close_out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warranty_claim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PM schedule compliance</a:t>
                      </a:r>
                    </a:p>
                    <a:p>
                      <a:pPr>
                        <a:spcBef>
                          <a:spcPts val="0"/>
                        </a:spcBef>
                        <a:spcAft>
                          <a:spcPts val="0"/>
                        </a:spcAft>
                      </a:pPr>
                      <a:r>
                        <a:rPr sz="750" b="0">
                          <a:solidFill>
                            <a:srgbClr val="504D46"/>
                          </a:solidFill>
                          <a:latin typeface="Archivo"/>
                        </a:rPr>
                        <a:t>IEC 62446 PM deferral compliance (W59).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scheduled → due → work_assigned → completed → deferred → skip…</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pm_compliance  ◆</a:t>
                      </a:r>
                    </a:p>
                  </a:txBody>
                  <a:tcPr anchor="ctr" marT="25400" marB="25400" marL="50800" marR="50800">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SUPPORT / OEM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OEM &amp; Supply Chain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ticket · per work order</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Spare parts</a:t>
                      </a:r>
                    </a:p>
                    <a:p>
                      <a:pPr>
                        <a:spcBef>
                          <a:spcPts val="0"/>
                        </a:spcBef>
                        <a:spcAft>
                          <a:spcPts val="0"/>
                        </a:spcAft>
                      </a:pPr>
                      <a:r>
                        <a:rPr sz="750" b="0">
                          <a:solidFill>
                            <a:srgbClr val="504D46"/>
                          </a:solidFill>
                          <a:latin typeface="Archivo"/>
                        </a:rPr>
                        <a:t>VED-critical spare parts replenishment (W72).</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requisition → po_issued → backorder → in_transit → received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spare_parts_provisioning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Warranty recovery</a:t>
                      </a:r>
                    </a:p>
                    <a:p>
                      <a:pPr>
                        <a:spcBef>
                          <a:spcPts val="0"/>
                        </a:spcBef>
                        <a:spcAft>
                          <a:spcPts val="0"/>
                        </a:spcAft>
                      </a:pPr>
                      <a:r>
                        <a:rPr sz="750" b="0">
                          <a:solidFill>
                            <a:srgbClr val="504D46"/>
                          </a:solidFill>
                          <a:latin typeface="Archivo"/>
                        </a:rPr>
                        <a:t>OEM cost-recovery claim chain (W63).</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assessment_complete → claim_drafted → disputed → o…</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warranty_recovery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Vuln remediation</a:t>
                      </a:r>
                    </a:p>
                    <a:p>
                      <a:pPr>
                        <a:spcBef>
                          <a:spcPts val="0"/>
                        </a:spcBef>
                        <a:spcAft>
                          <a:spcPts val="0"/>
                        </a:spcAft>
                      </a:pPr>
                      <a:r>
                        <a:rPr sz="750" b="0">
                          <a:solidFill>
                            <a:srgbClr val="504D46"/>
                          </a:solidFill>
                          <a:latin typeface="Archivo"/>
                        </a:rPr>
                        <a:t>CVSS-tiered OT security patching (W55).</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triage → patch_available → change_raised → testing → deployed…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security_remediation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OEM FCO/ECN</a:t>
                      </a:r>
                    </a:p>
                    <a:p>
                      <a:pPr>
                        <a:spcBef>
                          <a:spcPts val="0"/>
                        </a:spcBef>
                        <a:spcAft>
                          <a:spcPts val="0"/>
                        </a:spcAft>
                      </a:pPr>
                      <a:r>
                        <a:rPr sz="750" b="0">
                          <a:solidFill>
                            <a:srgbClr val="504D46"/>
                          </a:solidFill>
                          <a:latin typeface="Archivo"/>
                        </a:rPr>
                        <a:t>Field change order and engineering change notifications.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 → approved → cancelled → completed → draft → in_…</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oem_fco</a:t>
                      </a:r>
                    </a:p>
                  </a:txBody>
                  <a:tcPr anchor="ctr" marT="25400" marB="25400" marL="50800" marR="50800">
                    <a:solidFill>
                      <a:srgbClr val="F5F3E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SUPPORT / OEM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Platform Ops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8 journeys in this group</a:t>
            </a:r>
            <a:r>
              <a:rPr sz="1050" b="0">
                <a:solidFill>
                  <a:srgbClr val="504D46"/>
                </a:solidFill>
                <a:latin typeface="Archivo"/>
              </a:rPr>
              <a:t>   ·   metered: per ticket · per work order</a:t>
            </a:r>
          </a:p>
        </p:txBody>
      </p:sp>
      <p:graphicFrame>
        <p:nvGraphicFramePr>
          <p:cNvPr id="10" name="Table 9"/>
          <p:cNvGraphicFramePr>
            <a:graphicFrameLocks noGrp="1"/>
          </p:cNvGraphicFramePr>
          <p:nvPr/>
        </p:nvGraphicFramePr>
        <p:xfrm>
          <a:off x="548640" y="1783080"/>
          <a:ext cx="11064240" cy="378561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MQTT/OPC-UA connectors</a:t>
                      </a:r>
                    </a:p>
                    <a:p>
                      <a:pPr>
                        <a:spcBef>
                          <a:spcPts val="0"/>
                        </a:spcBef>
                        <a:spcAft>
                          <a:spcPts val="0"/>
                        </a:spcAft>
                      </a:pPr>
                      <a:r>
                        <a:rPr sz="750" b="0">
                          <a:solidFill>
                            <a:srgbClr val="504D46"/>
                          </a:solidFill>
                          <a:latin typeface="Archivo"/>
                        </a:rPr>
                        <a:t>OT protocol connector health (W123).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Anomaly ML (W127)</a:t>
                      </a:r>
                    </a:p>
                    <a:p>
                      <a:pPr>
                        <a:spcBef>
                          <a:spcPts val="0"/>
                        </a:spcBef>
                        <a:spcAft>
                          <a:spcPts val="0"/>
                        </a:spcAft>
                      </a:pPr>
                      <a:r>
                        <a:rPr sz="750" b="0">
                          <a:solidFill>
                            <a:srgbClr val="504D46"/>
                          </a:solidFill>
                          <a:latin typeface="Archivo"/>
                        </a:rPr>
                        <a:t>6-method ensemble anomaly detection.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RUL prediction (W128)</a:t>
                      </a:r>
                    </a:p>
                    <a:p>
                      <a:pPr>
                        <a:spcBef>
                          <a:spcPts val="0"/>
                        </a:spcBef>
                        <a:spcAft>
                          <a:spcPts val="0"/>
                        </a:spcAft>
                      </a:pPr>
                      <a:r>
                        <a:rPr sz="750" b="0">
                          <a:solidFill>
                            <a:srgbClr val="504D46"/>
                          </a:solidFill>
                          <a:latin typeface="Archivo"/>
                        </a:rPr>
                        <a:t>Remaining useful life prediction.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Fault fingerprint (W129)</a:t>
                      </a:r>
                    </a:p>
                    <a:p>
                      <a:pPr>
                        <a:spcBef>
                          <a:spcPts val="0"/>
                        </a:spcBef>
                        <a:spcAft>
                          <a:spcPts val="0"/>
                        </a:spcAft>
                      </a:pPr>
                      <a:r>
                        <a:rPr sz="750" b="0">
                          <a:solidFill>
                            <a:srgbClr val="504D46"/>
                          </a:solidFill>
                          <a:latin typeface="Archivo"/>
                        </a:rPr>
                        <a:t>12-mode physics fault classification.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Cross-tenant access</a:t>
                      </a:r>
                    </a:p>
                    <a:p>
                      <a:pPr>
                        <a:spcBef>
                          <a:spcPts val="0"/>
                        </a:spcBef>
                        <a:spcAft>
                          <a:spcPts val="0"/>
                        </a:spcAft>
                      </a:pPr>
                      <a:r>
                        <a:rPr sz="750" b="0">
                          <a:solidFill>
                            <a:srgbClr val="504D46"/>
                          </a:solidFill>
                          <a:latin typeface="Archivo"/>
                        </a:rPr>
                        <a:t>POPIA-logged cross-tenant access log.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Service contracts</a:t>
                      </a:r>
                    </a:p>
                    <a:p>
                      <a:pPr>
                        <a:spcBef>
                          <a:spcPts val="0"/>
                        </a:spcBef>
                        <a:spcAft>
                          <a:spcPts val="0"/>
                        </a:spcAft>
                      </a:pPr>
                      <a:r>
                        <a:rPr sz="750" b="0">
                          <a:solidFill>
                            <a:srgbClr val="504D46"/>
                          </a:solidFill>
                          <a:latin typeface="Archivo"/>
                        </a:rPr>
                        <a:t>O&amp;M service contract register.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cancelled → draft → expired → in_grace → negotiating…</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service_contract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SLA performance, CSAT and problem-record reports with pivots and expor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chain, certified exports and cross-tenant access </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Regulator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24 journeys across 5 groups  ·  metered: per certified export · per case</a:t>
            </a:r>
          </a:p>
          <a:p>
            <a:pPr algn="l">
              <a:spcBef>
                <a:spcPts val="0"/>
              </a:spcBef>
              <a:spcAft>
                <a:spcPts val="400"/>
              </a:spcAft>
            </a:pPr>
            <a:r>
              <a:rPr sz="1150" b="0">
                <a:solidFill>
                  <a:srgbClr val="FFFFFF"/>
                </a:solidFill>
                <a:latin typeface="Archivo"/>
              </a:rPr>
              <a:t>Licensing  ·  Enforcement  ·  Tariff &amp; Determinations  ·  Levies &amp; Finance  ·  Data &amp; Reporting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Licensing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certified export · per case</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Licence applications</a:t>
                      </a:r>
                    </a:p>
                    <a:p>
                      <a:pPr>
                        <a:spcBef>
                          <a:spcPts val="0"/>
                        </a:spcBef>
                        <a:spcAft>
                          <a:spcPts val="0"/>
                        </a:spcAft>
                      </a:pPr>
                      <a:r>
                        <a:rPr sz="750" b="0">
                          <a:solidFill>
                            <a:srgbClr val="504D46"/>
                          </a:solidFill>
                          <a:latin typeface="Archivo"/>
                        </a:rPr>
                        <a:t>ERA ss.8-11 initial licence adjudication (W49).</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received → completeness_check → public_participation → techni…</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licence_application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Licence actions</a:t>
                      </a:r>
                    </a:p>
                    <a:p>
                      <a:pPr>
                        <a:spcBef>
                          <a:spcPts val="0"/>
                        </a:spcBef>
                        <a:spcAft>
                          <a:spcPts val="0"/>
                        </a:spcAft>
                      </a:pPr>
                      <a:r>
                        <a:rPr sz="750" b="0">
                          <a:solidFill>
                            <a:srgbClr val="504D46"/>
                          </a:solidFill>
                          <a:latin typeface="Archivo"/>
                        </a:rPr>
                        <a:t>Active licences — conditions, renewals, cancellations.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Licence renewals</a:t>
                      </a:r>
                    </a:p>
                    <a:p>
                      <a:pPr>
                        <a:spcBef>
                          <a:spcPts val="0"/>
                        </a:spcBef>
                        <a:spcAft>
                          <a:spcPts val="0"/>
                        </a:spcAft>
                      </a:pPr>
                      <a:r>
                        <a:rPr sz="750" b="0">
                          <a:solidFill>
                            <a:srgbClr val="504D46"/>
                          </a:solidFill>
                          <a:latin typeface="Archivo"/>
                        </a:rPr>
                        <a:t>NERSA s14-16 renewal chain (W33).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renewal_notice → application_received → technical_review → pu…</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licence_renewal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SSEG registration</a:t>
                      </a:r>
                    </a:p>
                    <a:p>
                      <a:pPr>
                        <a:spcBef>
                          <a:spcPts val="0"/>
                        </a:spcBef>
                        <a:spcAft>
                          <a:spcPts val="0"/>
                        </a:spcAft>
                      </a:pPr>
                      <a:r>
                        <a:rPr sz="750" b="0">
                          <a:solidFill>
                            <a:srgbClr val="504D46"/>
                          </a:solidFill>
                          <a:latin typeface="Archivo"/>
                        </a:rPr>
                        <a:t>ERA Sch 2 embedded-gen registration (W57).</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conditions_pending → eligibility_screening → exemption_determ…</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sseg_registration  ◆</a:t>
                      </a:r>
                    </a:p>
                  </a:txBody>
                  <a:tcPr anchor="ctr" marT="25400" marB="25400" marL="50800" marR="50800">
                    <a:solidFill>
                      <a:srgbClr val="F5F3E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Enforcement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6 journeys in this group</a:t>
            </a:r>
            <a:r>
              <a:rPr sz="1050" b="0">
                <a:solidFill>
                  <a:srgbClr val="504D46"/>
                </a:solidFill>
                <a:latin typeface="Archivo"/>
              </a:rPr>
              <a:t>   ·   metered: per certified export · per case</a:t>
            </a:r>
          </a:p>
        </p:txBody>
      </p:sp>
      <p:graphicFrame>
        <p:nvGraphicFramePr>
          <p:cNvPr id="10" name="Table 9"/>
          <p:cNvGraphicFramePr>
            <a:graphicFrameLocks noGrp="1"/>
          </p:cNvGraphicFramePr>
          <p:nvPr/>
        </p:nvGraphicFramePr>
        <p:xfrm>
          <a:off x="548640" y="1783080"/>
          <a:ext cx="11064240" cy="294436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Surveillance triage</a:t>
                      </a:r>
                    </a:p>
                    <a:p>
                      <a:pPr>
                        <a:spcBef>
                          <a:spcPts val="0"/>
                        </a:spcBef>
                        <a:spcAft>
                          <a:spcPts val="0"/>
                        </a:spcAft>
                      </a:pPr>
                      <a:r>
                        <a:rPr sz="750" b="0">
                          <a:solidFill>
                            <a:srgbClr val="504D46"/>
                          </a:solidFill>
                          <a:latin typeface="Archivo"/>
                        </a:rPr>
                        <a:t>Market surveillance alerts and STOR inbox.</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Enforcement events</a:t>
                      </a:r>
                    </a:p>
                    <a:p>
                      <a:pPr>
                        <a:spcBef>
                          <a:spcPts val="0"/>
                        </a:spcBef>
                        <a:spcAft>
                          <a:spcPts val="0"/>
                        </a:spcAft>
                      </a:pPr>
                      <a:r>
                        <a:rPr sz="750" b="0">
                          <a:solidFill>
                            <a:srgbClr val="504D46"/>
                          </a:solidFill>
                          <a:latin typeface="Archivo"/>
                        </a:rPr>
                        <a:t>Enforcement action log — notices, fines, sanctions.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Enforcement actions (ERA s35)</a:t>
                      </a:r>
                    </a:p>
                    <a:p>
                      <a:pPr>
                        <a:spcBef>
                          <a:spcPts val="0"/>
                        </a:spcBef>
                        <a:spcAft>
                          <a:spcPts val="0"/>
                        </a:spcAft>
                      </a:pPr>
                      <a:r>
                        <a:rPr sz="750" b="0">
                          <a:solidFill>
                            <a:srgbClr val="504D46"/>
                          </a:solidFill>
                          <a:latin typeface="Archivo"/>
                        </a:rPr>
                        <a:t>ERA s35 formal enforcement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allegations_drafted → allegations_served → appealed → case_op…</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enforcement_action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Compliance inspections</a:t>
                      </a:r>
                    </a:p>
                    <a:p>
                      <a:pPr>
                        <a:spcBef>
                          <a:spcPts val="0"/>
                        </a:spcBef>
                        <a:spcAft>
                          <a:spcPts val="0"/>
                        </a:spcAft>
                      </a:pPr>
                      <a:r>
                        <a:rPr sz="750" b="0">
                          <a:solidFill>
                            <a:srgbClr val="504D46"/>
                          </a:solidFill>
                          <a:latin typeface="Archivo"/>
                        </a:rPr>
                        <a:t>NERSA §10/§34 on-site inspections (W40).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scheduled → notice_issued → on_site → preliminary_findings →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compliance_inspection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Dispositions</a:t>
                      </a:r>
                    </a:p>
                    <a:p>
                      <a:pPr>
                        <a:spcBef>
                          <a:spcPts val="0"/>
                        </a:spcBef>
                        <a:spcAft>
                          <a:spcPts val="0"/>
                        </a:spcAft>
                      </a:pPr>
                      <a:r>
                        <a:rPr sz="750" b="0">
                          <a:solidFill>
                            <a:srgbClr val="504D46"/>
                          </a:solidFill>
                          <a:latin typeface="Archivo"/>
                        </a:rPr>
                        <a:t>NERSA §10 regulatory disposition (W31).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action_completed → action_in_progress → action_required → ass…</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disposition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Complaint resolution</a:t>
                      </a:r>
                    </a:p>
                    <a:p>
                      <a:pPr>
                        <a:spcBef>
                          <a:spcPts val="0"/>
                        </a:spcBef>
                        <a:spcAft>
                          <a:spcPts val="0"/>
                        </a:spcAft>
                      </a:pPr>
                      <a:r>
                        <a:rPr sz="750" b="0">
                          <a:solidFill>
                            <a:srgbClr val="504D46"/>
                          </a:solidFill>
                          <a:latin typeface="Archivo"/>
                        </a:rPr>
                        <a:t>ERA s30 external complaint chain (W66).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lodged → acknowledged → investigation → consultation → determ…</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complaint_resolution</a:t>
                      </a:r>
                    </a:p>
                  </a:txBody>
                  <a:tcPr anchor="ctr" marT="25400" marB="25400" marL="50800" marR="50800">
                    <a:solidFill>
                      <a:srgbClr val="F5F3E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Tariff &amp; Determinations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certified export · per case</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Compliance notices</a:t>
                      </a:r>
                    </a:p>
                    <a:p>
                      <a:pPr>
                        <a:spcBef>
                          <a:spcPts val="0"/>
                        </a:spcBef>
                        <a:spcAft>
                          <a:spcPts val="0"/>
                        </a:spcAft>
                      </a:pPr>
                      <a:r>
                        <a:rPr sz="750" b="0">
                          <a:solidFill>
                            <a:srgbClr val="504D46"/>
                          </a:solidFill>
                          <a:latin typeface="Archivo"/>
                        </a:rPr>
                        <a:t>Outstanding compliance notice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Public consultations</a:t>
                      </a:r>
                    </a:p>
                    <a:p>
                      <a:pPr>
                        <a:spcBef>
                          <a:spcPts val="0"/>
                        </a:spcBef>
                        <a:spcAft>
                          <a:spcPts val="0"/>
                        </a:spcAft>
                      </a:pPr>
                      <a:r>
                        <a:rPr sz="750" b="0">
                          <a:solidFill>
                            <a:srgbClr val="504D46"/>
                          </a:solidFill>
                          <a:latin typeface="Archivo"/>
                        </a:rPr>
                        <a:t>NERSA Gazette public consultation chain (W209).</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analysis → appeal_resolved → appealed → closed → determinatio…</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public_consultation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MYPD tariff determination</a:t>
                      </a:r>
                    </a:p>
                    <a:p>
                      <a:pPr>
                        <a:spcBef>
                          <a:spcPts val="0"/>
                        </a:spcBef>
                        <a:spcAft>
                          <a:spcPts val="0"/>
                        </a:spcAft>
                      </a:pPr>
                      <a:r>
                        <a:rPr sz="750" b="0">
                          <a:solidFill>
                            <a:srgbClr val="504D46"/>
                          </a:solidFill>
                          <a:latin typeface="Archivo"/>
                        </a:rPr>
                        <a:t>NERSA MYPD §15-16 tariff review (W43).</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application → completeness → public_participation → technical…</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tariff_determination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Market conduct exams</a:t>
                      </a:r>
                    </a:p>
                    <a:p>
                      <a:pPr>
                        <a:spcBef>
                          <a:spcPts val="0"/>
                        </a:spcBef>
                        <a:spcAft>
                          <a:spcPts val="0"/>
                        </a:spcAft>
                      </a:pPr>
                      <a:r>
                        <a:rPr sz="750" b="0">
                          <a:solidFill>
                            <a:srgbClr val="504D46"/>
                          </a:solidFill>
                          <a:latin typeface="Archivo"/>
                        </a:rPr>
                        <a:t>FSCA s41 market conduct examination (W220).</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closed_satisfactory → document_request → documents_submitted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market_conduct_exam</a:t>
                      </a:r>
                    </a:p>
                  </a:txBody>
                  <a:tcPr anchor="ctr" marT="25400" marB="25400" marL="50800" marR="50800">
                    <a:solidFill>
                      <a:srgbClr val="F5F3E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Levies &amp; Finance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per certified export · per case</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Levy assessments</a:t>
                      </a:r>
                    </a:p>
                    <a:p>
                      <a:pPr>
                        <a:spcBef>
                          <a:spcPts val="0"/>
                        </a:spcBef>
                        <a:spcAft>
                          <a:spcPts val="0"/>
                        </a:spcAft>
                      </a:pPr>
                      <a:r>
                        <a:rPr sz="750" b="0">
                          <a:solidFill>
                            <a:srgbClr val="504D46"/>
                          </a:solidFill>
                          <a:latin typeface="Archivo"/>
                        </a:rPr>
                        <a:t>NERA Act §5B levy assessment chain (W74).</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assessed → invoice_issued → final_demand → enforcement → paid…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levy_assessment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Regulatory exports</a:t>
                      </a:r>
                    </a:p>
                    <a:p>
                      <a:pPr>
                        <a:spcBef>
                          <a:spcPts val="0"/>
                        </a:spcBef>
                        <a:spcAft>
                          <a:spcPts val="0"/>
                        </a:spcAft>
                      </a:pPr>
                      <a:r>
                        <a:rPr sz="750" b="0">
                          <a:solidFill>
                            <a:srgbClr val="504D46"/>
                          </a:solidFill>
                          <a:latin typeface="Archivo"/>
                        </a:rPr>
                        <a:t>Certified export packages (W119).</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acknowledged_by_regulator → archived → blocks_selected → coun…</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regulator_export_pack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ICFR attestations</a:t>
                      </a:r>
                    </a:p>
                    <a:p>
                      <a:pPr>
                        <a:spcBef>
                          <a:spcPts val="0"/>
                        </a:spcBef>
                        <a:spcAft>
                          <a:spcPts val="0"/>
                        </a:spcAft>
                      </a:pPr>
                      <a:r>
                        <a:rPr sz="750" b="0">
                          <a:solidFill>
                            <a:srgbClr val="504D46"/>
                          </a:solidFill>
                          <a:latin typeface="Archivo"/>
                        </a:rPr>
                        <a:t>Reconciliation attestation packs (W120).</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Data &amp; Reporting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7 journeys in this group</a:t>
            </a:r>
            <a:r>
              <a:rPr sz="1050" b="0">
                <a:solidFill>
                  <a:srgbClr val="504D46"/>
                </a:solidFill>
                <a:latin typeface="Archivo"/>
              </a:rPr>
              <a:t>   ·   metered: per certified export · per case</a:t>
            </a:r>
          </a:p>
        </p:txBody>
      </p:sp>
      <p:graphicFrame>
        <p:nvGraphicFramePr>
          <p:cNvPr id="10" name="Table 9"/>
          <p:cNvGraphicFramePr>
            <a:graphicFrameLocks noGrp="1"/>
          </p:cNvGraphicFramePr>
          <p:nvPr/>
        </p:nvGraphicFramePr>
        <p:xfrm>
          <a:off x="548640" y="1783080"/>
          <a:ext cx="11064240" cy="336499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Regulatory inbox</a:t>
                      </a:r>
                    </a:p>
                    <a:p>
                      <a:pPr>
                        <a:spcBef>
                          <a:spcPts val="0"/>
                        </a:spcBef>
                        <a:spcAft>
                          <a:spcPts val="0"/>
                        </a:spcAft>
                      </a:pPr>
                      <a:r>
                        <a:rPr sz="750" b="0">
                          <a:solidFill>
                            <a:srgbClr val="504D46"/>
                          </a:solidFill>
                          <a:latin typeface="Archivo"/>
                        </a:rPr>
                        <a:t>Cross-chain regulatory inbox — escalated items.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Filing connectors</a:t>
                      </a:r>
                    </a:p>
                    <a:p>
                      <a:pPr>
                        <a:spcBef>
                          <a:spcPts val="0"/>
                        </a:spcBef>
                        <a:spcAft>
                          <a:spcPts val="0"/>
                        </a:spcAft>
                      </a:pPr>
                      <a:r>
                        <a:rPr sz="750" b="0">
                          <a:solidFill>
                            <a:srgbClr val="504D46"/>
                          </a:solidFill>
                          <a:latin typeface="Archivo"/>
                        </a:rPr>
                        <a:t>NERSA/FSCA government filing connectors (W126).</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Stage gates (read)</a:t>
                      </a:r>
                    </a:p>
                    <a:p>
                      <a:pPr>
                        <a:spcBef>
                          <a:spcPts val="0"/>
                        </a:spcBef>
                        <a:spcAft>
                          <a:spcPts val="0"/>
                        </a:spcAft>
                      </a:pPr>
                      <a:r>
                        <a:rPr sz="750" b="0">
                          <a:solidFill>
                            <a:srgbClr val="504D46"/>
                          </a:solidFill>
                          <a:latin typeface="Archivo"/>
                        </a:rPr>
                        <a:t>Platform-wide DG gate view (W131).</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board_briefing_circulated → cab_held → conditions_…</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stage_gate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External controls</a:t>
                      </a:r>
                    </a:p>
                    <a:p>
                      <a:pPr>
                        <a:spcBef>
                          <a:spcPts val="0"/>
                        </a:spcBef>
                        <a:spcAft>
                          <a:spcPts val="0"/>
                        </a:spcAft>
                      </a:pPr>
                      <a:r>
                        <a:rPr sz="750" b="0">
                          <a:solidFill>
                            <a:srgbClr val="504D46"/>
                          </a:solidFill>
                          <a:latin typeface="Archivo"/>
                        </a:rPr>
                        <a:t>Control environment audit (W121).</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control_defined → deficiency_assessed → deficient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control_environment_audit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ESG disclosure (read)</a:t>
                      </a:r>
                    </a:p>
                    <a:p>
                      <a:pPr>
                        <a:spcBef>
                          <a:spcPts val="0"/>
                        </a:spcBef>
                        <a:spcAft>
                          <a:spcPts val="0"/>
                        </a:spcAft>
                      </a:pPr>
                      <a:r>
                        <a:rPr sz="750" b="0">
                          <a:solidFill>
                            <a:srgbClr val="504D46"/>
                          </a:solidFill>
                          <a:latin typeface="Archivo"/>
                        </a:rPr>
                        <a:t>ESG disclosure read-only view.</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esg_disclosure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Statutory submissions, levy assessments and disposition reports with p</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Audit &amp; compliance</a:t>
                      </a:r>
                    </a:p>
                    <a:p>
                      <a:pPr>
                        <a:spcBef>
                          <a:spcPts val="0"/>
                        </a:spcBef>
                        <a:spcAft>
                          <a:spcPts val="0"/>
                        </a:spcAft>
                      </a:pPr>
                      <a:r>
                        <a:rPr sz="750" b="0">
                          <a:solidFill>
                            <a:srgbClr val="504D46"/>
                          </a:solidFill>
                          <a:latin typeface="Archivo"/>
                        </a:rPr>
                        <a:t>Tamper-evident audit chain, certified exports and licence reconciliati</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Platform Admin</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33 journeys across 6 groups  ·  metered: platform seat · per tenant</a:t>
            </a:r>
          </a:p>
          <a:p>
            <a:pPr algn="l">
              <a:spcBef>
                <a:spcPts val="0"/>
              </a:spcBef>
              <a:spcAft>
                <a:spcPts val="400"/>
              </a:spcAft>
            </a:pPr>
            <a:r>
              <a:rPr sz="1150" b="0">
                <a:solidFill>
                  <a:srgbClr val="FFFFFF"/>
                </a:solidFill>
                <a:latin typeface="Archivo"/>
              </a:rPr>
              <a:t>Tenants &amp; Users  ·  Platform  ·  Trading Ops  ·  Compliance &amp; Audit  ·  Intelligence  ·  Integrations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PLATFORM ADMIN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Tenants &amp; Users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6 journeys in this group</a:t>
            </a:r>
            <a:r>
              <a:rPr sz="1050" b="0">
                <a:solidFill>
                  <a:srgbClr val="504D46"/>
                </a:solidFill>
                <a:latin typeface="Archivo"/>
              </a:rPr>
              <a:t>   ·   metered: platform seat · per tenant</a:t>
            </a:r>
          </a:p>
        </p:txBody>
      </p:sp>
      <p:graphicFrame>
        <p:nvGraphicFramePr>
          <p:cNvPr id="10" name="Table 9"/>
          <p:cNvGraphicFramePr>
            <a:graphicFrameLocks noGrp="1"/>
          </p:cNvGraphicFramePr>
          <p:nvPr/>
        </p:nvGraphicFramePr>
        <p:xfrm>
          <a:off x="548640" y="1783080"/>
          <a:ext cx="11064240" cy="294436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Tenant lifecycle</a:t>
                      </a:r>
                    </a:p>
                    <a:p>
                      <a:pPr>
                        <a:spcBef>
                          <a:spcPts val="0"/>
                        </a:spcBef>
                        <a:spcAft>
                          <a:spcPts val="0"/>
                        </a:spcAft>
                      </a:pPr>
                      <a:r>
                        <a:rPr sz="750" b="0">
                          <a:solidFill>
                            <a:srgbClr val="504D46"/>
                          </a:solidFill>
                          <a:latin typeface="Archivo"/>
                        </a:rPr>
                        <a:t>Onboard, KYC, activate, suspend tenants.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Users</a:t>
                      </a:r>
                    </a:p>
                    <a:p>
                      <a:pPr>
                        <a:spcBef>
                          <a:spcPts val="0"/>
                        </a:spcBef>
                        <a:spcAft>
                          <a:spcPts val="0"/>
                        </a:spcAft>
                      </a:pPr>
                      <a:r>
                        <a:rPr sz="750" b="0">
                          <a:solidFill>
                            <a:srgbClr val="504D46"/>
                          </a:solidFill>
                          <a:latin typeface="Archivo"/>
                        </a:rPr>
                        <a:t>User accounts across all tenants.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Feature flags</a:t>
                      </a:r>
                    </a:p>
                    <a:p>
                      <a:pPr>
                        <a:spcBef>
                          <a:spcPts val="0"/>
                        </a:spcBef>
                        <a:spcAft>
                          <a:spcPts val="0"/>
                        </a:spcAft>
                      </a:pPr>
                      <a:r>
                        <a:rPr sz="750" b="0">
                          <a:solidFill>
                            <a:srgbClr val="504D46"/>
                          </a:solidFill>
                          <a:latin typeface="Archivo"/>
                        </a:rPr>
                        <a:t>Global and per-tenant feature flag overrides.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KYC / FICA</a:t>
                      </a:r>
                    </a:p>
                    <a:p>
                      <a:pPr>
                        <a:spcBef>
                          <a:spcPts val="0"/>
                        </a:spcBef>
                        <a:spcAft>
                          <a:spcPts val="0"/>
                        </a:spcAft>
                      </a:pPr>
                      <a:r>
                        <a:rPr sz="750" b="0">
                          <a:solidFill>
                            <a:srgbClr val="504D46"/>
                          </a:solidFill>
                          <a:latin typeface="Archivo"/>
                        </a:rPr>
                        <a:t>KYC verification queue (W198).</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automated_screening → compliance_review → conditionally_appro…</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kyc_verification</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POPIA rights</a:t>
                      </a:r>
                    </a:p>
                    <a:p>
                      <a:pPr>
                        <a:spcBef>
                          <a:spcPts val="0"/>
                        </a:spcBef>
                        <a:spcAft>
                          <a:spcPts val="0"/>
                        </a:spcAft>
                      </a:pPr>
                      <a:r>
                        <a:rPr sz="750" b="0">
                          <a:solidFill>
                            <a:srgbClr val="504D46"/>
                          </a:solidFill>
                          <a:latin typeface="Archivo"/>
                        </a:rPr>
                        <a:t>Data subject access and erasure requests.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PII access log</a:t>
                      </a:r>
                    </a:p>
                    <a:p>
                      <a:pPr>
                        <a:spcBef>
                          <a:spcPts val="0"/>
                        </a:spcBef>
                        <a:spcAft>
                          <a:spcPts val="0"/>
                        </a:spcAft>
                      </a:pPr>
                      <a:r>
                        <a:rPr sz="750" b="0">
                          <a:solidFill>
                            <a:srgbClr val="504D46"/>
                          </a:solidFill>
                          <a:latin typeface="Archivo"/>
                        </a:rPr>
                        <a:t>POPIA s.18/s.19 cross-tenant PII access audit log.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PLATFORM ADMIN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Platform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8 journeys in this group</a:t>
            </a:r>
            <a:r>
              <a:rPr sz="1050" b="0">
                <a:solidFill>
                  <a:srgbClr val="504D46"/>
                </a:solidFill>
                <a:latin typeface="Archivo"/>
              </a:rPr>
              <a:t>   ·   metered: platform seat · per tenant</a:t>
            </a:r>
          </a:p>
        </p:txBody>
      </p:sp>
      <p:graphicFrame>
        <p:nvGraphicFramePr>
          <p:cNvPr id="10" name="Table 9"/>
          <p:cNvGraphicFramePr>
            <a:graphicFrameLocks noGrp="1"/>
          </p:cNvGraphicFramePr>
          <p:nvPr/>
        </p:nvGraphicFramePr>
        <p:xfrm>
          <a:off x="548640" y="1783080"/>
          <a:ext cx="11064240" cy="378561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Billing runs</a:t>
                      </a:r>
                    </a:p>
                    <a:p>
                      <a:pPr>
                        <a:spcBef>
                          <a:spcPts val="0"/>
                        </a:spcBef>
                        <a:spcAft>
                          <a:spcPts val="0"/>
                        </a:spcAft>
                      </a:pPr>
                      <a:r>
                        <a:rPr sz="750" b="0">
                          <a:solidFill>
                            <a:srgbClr val="504D46"/>
                          </a:solidFill>
                          <a:latin typeface="Archivo"/>
                        </a:rPr>
                        <a:t>Monthly subscription billing and invoicing.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Subscription billing (W228)</a:t>
                      </a:r>
                    </a:p>
                    <a:p>
                      <a:pPr>
                        <a:spcBef>
                          <a:spcPts val="0"/>
                        </a:spcBef>
                        <a:spcAft>
                          <a:spcPts val="0"/>
                        </a:spcAft>
                      </a:pPr>
                      <a:r>
                        <a:rPr sz="750" b="0">
                          <a:solidFill>
                            <a:srgbClr val="504D46"/>
                          </a:solidFill>
                          <a:latin typeface="Archivo"/>
                        </a:rPr>
                        <a:t>Platform SaaS-invoice oversight with dunning ladder.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Settlement audit</a:t>
                      </a:r>
                    </a:p>
                    <a:p>
                      <a:pPr>
                        <a:spcBef>
                          <a:spcPts val="0"/>
                        </a:spcBef>
                        <a:spcAft>
                          <a:spcPts val="0"/>
                        </a:spcAft>
                      </a:pPr>
                      <a:r>
                        <a:rPr sz="750" b="0">
                          <a:solidFill>
                            <a:srgbClr val="504D46"/>
                          </a:solidFill>
                          <a:latin typeface="Archivo"/>
                        </a:rPr>
                        <a:t>Settlement reconciliation and break review.</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Platform audit</a:t>
                      </a:r>
                    </a:p>
                    <a:p>
                      <a:pPr>
                        <a:spcBef>
                          <a:spcPts val="0"/>
                        </a:spcBef>
                        <a:spcAft>
                          <a:spcPts val="0"/>
                        </a:spcAft>
                      </a:pPr>
                      <a:r>
                        <a:rPr sz="750" b="0">
                          <a:solidFill>
                            <a:srgbClr val="504D46"/>
                          </a:solidFill>
                          <a:latin typeface="Archivo"/>
                        </a:rPr>
                        <a:t>Full platform audit log (cascade events).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Cron jobs</a:t>
                      </a:r>
                    </a:p>
                    <a:p>
                      <a:pPr>
                        <a:spcBef>
                          <a:spcPts val="0"/>
                        </a:spcBef>
                        <a:spcAft>
                          <a:spcPts val="0"/>
                        </a:spcAft>
                      </a:pPr>
                      <a:r>
                        <a:rPr sz="750" b="0">
                          <a:solidFill>
                            <a:srgbClr val="504D46"/>
                          </a:solidFill>
                          <a:latin typeface="Archivo"/>
                        </a:rPr>
                        <a:t>Manual cron job trigger and dry-run.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Monitoring</a:t>
                      </a:r>
                    </a:p>
                    <a:p>
                      <a:pPr>
                        <a:spcBef>
                          <a:spcPts val="0"/>
                        </a:spcBef>
                        <a:spcAft>
                          <a:spcPts val="0"/>
                        </a:spcAft>
                      </a:pPr>
                      <a:r>
                        <a:rPr sz="750" b="0">
                          <a:solidFill>
                            <a:srgbClr val="504D46"/>
                          </a:solidFill>
                          <a:latin typeface="Archivo"/>
                        </a:rPr>
                        <a:t>DLQ, cascade errors, system health.</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Revenue dashboard</a:t>
                      </a:r>
                    </a:p>
                    <a:p>
                      <a:pPr>
                        <a:spcBef>
                          <a:spcPts val="0"/>
                        </a:spcBef>
                        <a:spcAft>
                          <a:spcPts val="0"/>
                        </a:spcAft>
                      </a:pPr>
                      <a:r>
                        <a:rPr sz="750" b="0">
                          <a:solidFill>
                            <a:srgbClr val="504D46"/>
                          </a:solidFill>
                          <a:latin typeface="Archivo"/>
                        </a:rPr>
                        <a:t>Platform fee revenue by tenant (W-commercial).</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/admin/revenue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Reports &amp; exports</a:t>
                      </a:r>
                    </a:p>
                    <a:p>
                      <a:pPr>
                        <a:spcBef>
                          <a:spcPts val="0"/>
                        </a:spcBef>
                        <a:spcAft>
                          <a:spcPts val="0"/>
                        </a:spcAft>
                      </a:pPr>
                      <a:r>
                        <a:rPr sz="750" b="0">
                          <a:solidFill>
                            <a:srgbClr val="504D46"/>
                          </a:solidFill>
                          <a:latin typeface="Archivo"/>
                        </a:rPr>
                        <a:t>Platform events and role-action-queue reports with pivots and exports.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PLATFORM ADMIN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Trading Ops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3 journeys in this group</a:t>
            </a:r>
            <a:r>
              <a:rPr sz="1050" b="0">
                <a:solidFill>
                  <a:srgbClr val="504D46"/>
                </a:solidFill>
                <a:latin typeface="Archivo"/>
              </a:rPr>
              <a:t>   ·   metered: platform seat · per tenant</a:t>
            </a:r>
          </a:p>
        </p:txBody>
      </p:sp>
      <p:graphicFrame>
        <p:nvGraphicFramePr>
          <p:cNvPr id="10" name="Table 9"/>
          <p:cNvGraphicFramePr>
            <a:graphicFrameLocks noGrp="1"/>
          </p:cNvGraphicFramePr>
          <p:nvPr/>
        </p:nvGraphicFramePr>
        <p:xfrm>
          <a:off x="548640" y="1783080"/>
          <a:ext cx="11064240" cy="1682496"/>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Trading operations</a:t>
                      </a:r>
                    </a:p>
                    <a:p>
                      <a:pPr>
                        <a:spcBef>
                          <a:spcPts val="0"/>
                        </a:spcBef>
                        <a:spcAft>
                          <a:spcPts val="0"/>
                        </a:spcAft>
                      </a:pPr>
                      <a:r>
                        <a:rPr sz="750" b="0">
                          <a:solidFill>
                            <a:srgbClr val="504D46"/>
                          </a:solidFill>
                          <a:latin typeface="Archivo"/>
                        </a:rPr>
                        <a:t>Order book health, circuit breakers.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/ops/depth</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Settlement operations</a:t>
                      </a:r>
                    </a:p>
                    <a:p>
                      <a:pPr>
                        <a:spcBef>
                          <a:spcPts val="0"/>
                        </a:spcBef>
                        <a:spcAft>
                          <a:spcPts val="0"/>
                        </a:spcAft>
                      </a:pPr>
                      <a:r>
                        <a:rPr sz="750" b="0">
                          <a:solidFill>
                            <a:srgbClr val="504D46"/>
                          </a:solidFill>
                          <a:latin typeface="Archivo"/>
                        </a:rPr>
                        <a:t>Settlement run triggers and reconciliation.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surface: /settlement-ops</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Market halt controls</a:t>
                      </a:r>
                    </a:p>
                    <a:p>
                      <a:pPr>
                        <a:spcBef>
                          <a:spcPts val="0"/>
                        </a:spcBef>
                        <a:spcAft>
                          <a:spcPts val="0"/>
                        </a:spcAft>
                      </a:pPr>
                      <a:r>
                        <a:rPr sz="750" b="0">
                          <a:solidFill>
                            <a:srgbClr val="504D46"/>
                          </a:solidFill>
                          <a:latin typeface="Archivo"/>
                        </a:rPr>
                        <a:t>NERSA-authorised market halt controls.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PLATFORM ADMIN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&amp; Audit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6 journeys in this group</a:t>
            </a:r>
            <a:r>
              <a:rPr sz="1050" b="0">
                <a:solidFill>
                  <a:srgbClr val="504D46"/>
                </a:solidFill>
                <a:latin typeface="Archivo"/>
              </a:rPr>
              <a:t>   ·   metered: platform seat · per tenant</a:t>
            </a:r>
          </a:p>
        </p:txBody>
      </p:sp>
      <p:graphicFrame>
        <p:nvGraphicFramePr>
          <p:cNvPr id="10" name="Table 9"/>
          <p:cNvGraphicFramePr>
            <a:graphicFrameLocks noGrp="1"/>
          </p:cNvGraphicFramePr>
          <p:nvPr/>
        </p:nvGraphicFramePr>
        <p:xfrm>
          <a:off x="548640" y="1783080"/>
          <a:ext cx="11064240" cy="294436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Audit chain (W118)</a:t>
                      </a:r>
                    </a:p>
                    <a:p>
                      <a:pPr>
                        <a:spcBef>
                          <a:spcPts val="0"/>
                        </a:spcBef>
                        <a:spcAft>
                          <a:spcPts val="0"/>
                        </a:spcAft>
                      </a:pPr>
                      <a:r>
                        <a:rPr sz="750" b="0">
                          <a:solidFill>
                            <a:srgbClr val="504D46"/>
                          </a:solidFill>
                          <a:latin typeface="Archivo"/>
                        </a:rPr>
                        <a:t>Tamper-evident Merkle audit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anchored → archived → block_proposed → block_signed → forked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audit_chain_block</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Regulator exports (W119)</a:t>
                      </a:r>
                    </a:p>
                    <a:p>
                      <a:pPr>
                        <a:spcBef>
                          <a:spcPts val="0"/>
                        </a:spcBef>
                        <a:spcAft>
                          <a:spcPts val="0"/>
                        </a:spcAft>
                      </a:pPr>
                      <a:r>
                        <a:rPr sz="750" b="0">
                          <a:solidFill>
                            <a:srgbClr val="504D46"/>
                          </a:solidFill>
                          <a:latin typeface="Archivo"/>
                        </a:rPr>
                        <a:t>Certified regulatory export packs.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acknowledged_by_regulator → archived → blocks_selected → coun…</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regulator_export_pack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Reconciliation attestation (W120)</a:t>
                      </a:r>
                    </a:p>
                    <a:p>
                      <a:pPr>
                        <a:spcBef>
                          <a:spcPts val="0"/>
                        </a:spcBef>
                        <a:spcAft>
                          <a:spcPts val="0"/>
                        </a:spcAft>
                      </a:pPr>
                      <a:r>
                        <a:rPr sz="750" b="0">
                          <a:solidFill>
                            <a:srgbClr val="504D46"/>
                          </a:solidFill>
                          <a:latin typeface="Archivo"/>
                        </a:rPr>
                        <a:t>CA(SA)-signed reconciliation packs.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Control environment (W121)</a:t>
                      </a:r>
                    </a:p>
                    <a:p>
                      <a:pPr>
                        <a:spcBef>
                          <a:spcPts val="0"/>
                        </a:spcBef>
                        <a:spcAft>
                          <a:spcPts val="0"/>
                        </a:spcAft>
                      </a:pPr>
                      <a:r>
                        <a:rPr sz="750" b="0">
                          <a:solidFill>
                            <a:srgbClr val="504D46"/>
                          </a:solidFill>
                          <a:latin typeface="Archivo"/>
                        </a:rPr>
                        <a:t>Annual internal control audit cycle.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control_defined → deficiency_assessed → deficient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control_environment_audit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ESG reporting</a:t>
                      </a:r>
                    </a:p>
                    <a:p>
                      <a:pPr>
                        <a:spcBef>
                          <a:spcPts val="0"/>
                        </a:spcBef>
                        <a:spcAft>
                          <a:spcPts val="0"/>
                        </a:spcAft>
                      </a:pPr>
                      <a:r>
                        <a:rPr sz="750" b="0">
                          <a:solidFill>
                            <a:srgbClr val="504D46"/>
                          </a:solidFill>
                          <a:latin typeface="Archivo"/>
                        </a:rPr>
                        <a:t>Platform-wide ESG aggregate reports.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/esg</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Contract templates</a:t>
                      </a:r>
                    </a:p>
                    <a:p>
                      <a:pPr>
                        <a:spcBef>
                          <a:spcPts val="0"/>
                        </a:spcBef>
                        <a:spcAft>
                          <a:spcPts val="0"/>
                        </a:spcAft>
                      </a:pPr>
                      <a:r>
                        <a:rPr sz="750" b="0">
                          <a:solidFill>
                            <a:srgbClr val="504D46"/>
                          </a:solidFill>
                          <a:latin typeface="Archivo"/>
                        </a:rPr>
                        <a:t>Platform contract template registry.</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PLATFORM ADMIN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Intelligence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6 journeys in this group</a:t>
            </a:r>
            <a:r>
              <a:rPr sz="1050" b="0">
                <a:solidFill>
                  <a:srgbClr val="504D46"/>
                </a:solidFill>
                <a:latin typeface="Archivo"/>
              </a:rPr>
              <a:t>   ·   metered: platform seat · per tenant</a:t>
            </a:r>
          </a:p>
        </p:txBody>
      </p:sp>
      <p:graphicFrame>
        <p:nvGraphicFramePr>
          <p:cNvPr id="10" name="Table 9"/>
          <p:cNvGraphicFramePr>
            <a:graphicFrameLocks noGrp="1"/>
          </p:cNvGraphicFramePr>
          <p:nvPr/>
        </p:nvGraphicFramePr>
        <p:xfrm>
          <a:off x="548640" y="1783080"/>
          <a:ext cx="11064240" cy="294436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Executive dashboard</a:t>
                      </a:r>
                    </a:p>
                    <a:p>
                      <a:pPr>
                        <a:spcBef>
                          <a:spcPts val="0"/>
                        </a:spcBef>
                        <a:spcAft>
                          <a:spcPts val="0"/>
                        </a:spcAft>
                      </a:pPr>
                      <a:r>
                        <a:rPr sz="750" b="0">
                          <a:solidFill>
                            <a:srgbClr val="504D46"/>
                          </a:solidFill>
                          <a:latin typeface="Archivo"/>
                        </a:rPr>
                        <a:t>CEO/COO platform KPI dashboard.</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/dashboard</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AI intelligence</a:t>
                      </a:r>
                    </a:p>
                    <a:p>
                      <a:pPr>
                        <a:spcBef>
                          <a:spcPts val="0"/>
                        </a:spcBef>
                        <a:spcAft>
                          <a:spcPts val="0"/>
                        </a:spcAft>
                      </a:pPr>
                      <a:r>
                        <a:rPr sz="750" b="0">
                          <a:solidFill>
                            <a:srgbClr val="504D46"/>
                          </a:solidFill>
                          <a:latin typeface="Archivo"/>
                        </a:rPr>
                        <a:t>Platform AI decision audit trail.</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surface: /intelligence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Briefing</a:t>
                      </a:r>
                    </a:p>
                    <a:p>
                      <a:pPr>
                        <a:spcBef>
                          <a:spcPts val="0"/>
                        </a:spcBef>
                        <a:spcAft>
                          <a:spcPts val="0"/>
                        </a:spcAft>
                      </a:pPr>
                      <a:r>
                        <a:rPr sz="750" b="0">
                          <a:solidFill>
                            <a:srgbClr val="504D46"/>
                          </a:solidFill>
                          <a:latin typeface="Archivo"/>
                        </a:rPr>
                        <a:t>Daily AI briefings per role.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surface: /briefing</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Anomaly detection (W127)</a:t>
                      </a:r>
                    </a:p>
                    <a:p>
                      <a:pPr>
                        <a:spcBef>
                          <a:spcPts val="0"/>
                        </a:spcBef>
                        <a:spcAft>
                          <a:spcPts val="0"/>
                        </a:spcAft>
                      </a:pPr>
                      <a:r>
                        <a:rPr sz="750" b="0">
                          <a:solidFill>
                            <a:srgbClr val="504D46"/>
                          </a:solidFill>
                          <a:latin typeface="Archivo"/>
                        </a:rPr>
                        <a:t>Platform anomaly ML monitoring.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RUL prediction (W128)</a:t>
                      </a:r>
                    </a:p>
                    <a:p>
                      <a:pPr>
                        <a:spcBef>
                          <a:spcPts val="0"/>
                        </a:spcBef>
                        <a:spcAft>
                          <a:spcPts val="0"/>
                        </a:spcAft>
                      </a:pPr>
                      <a:r>
                        <a:rPr sz="750" b="0">
                          <a:solidFill>
                            <a:srgbClr val="504D46"/>
                          </a:solidFill>
                          <a:latin typeface="Archivo"/>
                        </a:rPr>
                        <a:t>Platform remaining-useful-life ML monitoring.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Fault fingerprint (W129)</a:t>
                      </a:r>
                    </a:p>
                    <a:p>
                      <a:pPr>
                        <a:spcBef>
                          <a:spcPts val="0"/>
                        </a:spcBef>
                        <a:spcAft>
                          <a:spcPts val="0"/>
                        </a:spcAft>
                      </a:pPr>
                      <a:r>
                        <a:rPr sz="750" b="0">
                          <a:solidFill>
                            <a:srgbClr val="504D46"/>
                          </a:solidFill>
                          <a:latin typeface="Archivo"/>
                        </a:rPr>
                        <a:t>Platform fault-fingerprint ML monitoring.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PLATFORM ADMIN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Integrations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platform seat · per tenant</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Settlement rails (W124)</a:t>
                      </a:r>
                    </a:p>
                    <a:p>
                      <a:pPr>
                        <a:spcBef>
                          <a:spcPts val="0"/>
                        </a:spcBef>
                        <a:spcAft>
                          <a:spcPts val="0"/>
                        </a:spcAft>
                      </a:pPr>
                      <a:r>
                        <a:rPr sz="750" b="0">
                          <a:solidFill>
                            <a:srgbClr val="504D46"/>
                          </a:solidFill>
                          <a:latin typeface="Archivo"/>
                        </a:rPr>
                        <a:t>STRATE/SWIFT settlement connectors.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ERP connectors (W125)</a:t>
                      </a:r>
                    </a:p>
                    <a:p>
                      <a:pPr>
                        <a:spcBef>
                          <a:spcPts val="0"/>
                        </a:spcBef>
                        <a:spcAft>
                          <a:spcPts val="0"/>
                        </a:spcAft>
                      </a:pPr>
                      <a:r>
                        <a:rPr sz="750" b="0">
                          <a:solidFill>
                            <a:srgbClr val="504D46"/>
                          </a:solidFill>
                          <a:latin typeface="Archivo"/>
                        </a:rPr>
                        <a:t>SAP/Oracle ERP integration.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Filing connectors (W126)</a:t>
                      </a:r>
                    </a:p>
                    <a:p>
                      <a:pPr>
                        <a:spcBef>
                          <a:spcPts val="0"/>
                        </a:spcBef>
                        <a:spcAft>
                          <a:spcPts val="0"/>
                        </a:spcAft>
                      </a:pPr>
                      <a:r>
                        <a:rPr sz="750" b="0">
                          <a:solidFill>
                            <a:srgbClr val="504D46"/>
                          </a:solidFill>
                          <a:latin typeface="Archivo"/>
                        </a:rPr>
                        <a:t>NERSA/SARS government filing.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Marketplace</a:t>
                      </a:r>
                    </a:p>
                    <a:p>
                      <a:pPr>
                        <a:spcBef>
                          <a:spcPts val="0"/>
                        </a:spcBef>
                        <a:spcAft>
                          <a:spcPts val="0"/>
                        </a:spcAft>
                      </a:pPr>
                      <a:r>
                        <a:rPr sz="750" b="0">
                          <a:solidFill>
                            <a:srgbClr val="504D46"/>
                          </a:solidFill>
                          <a:latin typeface="Archivo"/>
                        </a:rPr>
                        <a:t>Connector and service marketplace.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surface: /marketplace</a:t>
                      </a:r>
                    </a:p>
                  </a:txBody>
                  <a:tcPr anchor="ctr" marT="25400" marB="25400" marL="50800" marR="50800">
                    <a:solidFill>
                      <a:srgbClr val="F5F3EF"/>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ESCO / O&amp;M</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37 journeys across 8 groups  ·  metered: per active facility · per work order</a:t>
            </a:r>
          </a:p>
          <a:p>
            <a:pPr algn="l">
              <a:spcBef>
                <a:spcPts val="0"/>
              </a:spcBef>
              <a:spcAft>
                <a:spcPts val="400"/>
              </a:spcAft>
            </a:pPr>
            <a:r>
              <a:rPr sz="1150" b="0">
                <a:solidFill>
                  <a:srgbClr val="FFFFFF"/>
                </a:solidFill>
                <a:latin typeface="Archivo"/>
              </a:rPr>
              <a:t>Operations  ·  Site Portfolio  ·  Work Orders  ·  Asset Health &amp; AI  ·  Supply Chain  ·  Safety &amp; Permits  ·  Data &amp; Integrations  ·  Reporting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Operations  (1/2)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9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Cockpit</a:t>
                      </a:r>
                    </a:p>
                    <a:p>
                      <a:pPr>
                        <a:spcBef>
                          <a:spcPts val="0"/>
                        </a:spcBef>
                        <a:spcAft>
                          <a:spcPts val="0"/>
                        </a:spcAft>
                      </a:pPr>
                      <a:r>
                        <a:rPr sz="750" b="0">
                          <a:solidFill>
                            <a:srgbClr val="504D46"/>
                          </a:solidFill>
                          <a:latin typeface="Archivo"/>
                        </a:rPr>
                        <a:t>Live fleet revenue ticker, fault register, fleet health grid and AI br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Opportunities</a:t>
                      </a:r>
                    </a:p>
                    <a:p>
                      <a:pPr>
                        <a:spcBef>
                          <a:spcPts val="0"/>
                        </a:spcBef>
                        <a:spcAft>
                          <a:spcPts val="0"/>
                        </a:spcAft>
                      </a:pPr>
                      <a:r>
                        <a:rPr sz="750" b="0">
                          <a:solidFill>
                            <a:srgbClr val="504D46"/>
                          </a:solidFill>
                          <a:latin typeface="Archivo"/>
                        </a:rPr>
                        <a:t>Rule-based scan of the fleet for monetisable performance improvements.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Sites</a:t>
                      </a:r>
                    </a:p>
                    <a:p>
                      <a:pPr>
                        <a:spcBef>
                          <a:spcPts val="0"/>
                        </a:spcBef>
                        <a:spcAft>
                          <a:spcPts val="0"/>
                        </a:spcAft>
                      </a:pPr>
                      <a:r>
                        <a:rPr sz="750" b="0">
                          <a:solidFill>
                            <a:srgbClr val="504D46"/>
                          </a:solidFill>
                          <a:latin typeface="Archivo"/>
                        </a:rPr>
                        <a:t>Generation sites with live KPIs.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Devices</a:t>
                      </a:r>
                    </a:p>
                    <a:p>
                      <a:pPr>
                        <a:spcBef>
                          <a:spcPts val="0"/>
                        </a:spcBef>
                        <a:spcAft>
                          <a:spcPts val="0"/>
                        </a:spcAft>
                      </a:pPr>
                      <a:r>
                        <a:rPr sz="750" b="0">
                          <a:solidFill>
                            <a:srgbClr val="504D46"/>
                          </a:solidFill>
                          <a:latin typeface="Archivo"/>
                        </a:rPr>
                        <a:t>Inverters, meters, batteries and sensors across all sites.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Faults</a:t>
                      </a:r>
                    </a:p>
                    <a:p>
                      <a:pPr>
                        <a:spcBef>
                          <a:spcPts val="0"/>
                        </a:spcBef>
                        <a:spcAft>
                          <a:spcPts val="0"/>
                        </a:spcAft>
                      </a:pPr>
                      <a:r>
                        <a:rPr sz="750" b="0">
                          <a:solidFill>
                            <a:srgbClr val="504D46"/>
                          </a:solidFill>
                          <a:latin typeface="Archivo"/>
                        </a:rPr>
                        <a:t>Live fault register with Revenue Impact Engine.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Work orders</a:t>
                      </a:r>
                    </a:p>
                    <a:p>
                      <a:pPr>
                        <a:spcBef>
                          <a:spcPts val="0"/>
                        </a:spcBef>
                        <a:spcAft>
                          <a:spcPts val="0"/>
                        </a:spcAft>
                      </a:pPr>
                      <a:r>
                        <a:rPr sz="750" b="0">
                          <a:solidFill>
                            <a:srgbClr val="504D46"/>
                          </a:solidFill>
                          <a:latin typeface="Archivo"/>
                        </a:rPr>
                        <a:t>12-state WO lifecycle with parts, photos and SLA tracking.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Team</a:t>
                      </a:r>
                    </a:p>
                    <a:p>
                      <a:pPr>
                        <a:spcBef>
                          <a:spcPts val="0"/>
                        </a:spcBef>
                        <a:spcAft>
                          <a:spcPts val="0"/>
                        </a:spcAft>
                      </a:pPr>
                      <a:r>
                        <a:rPr sz="750" b="0">
                          <a:solidFill>
                            <a:srgbClr val="504D46"/>
                          </a:solidFill>
                          <a:latin typeface="Archivo"/>
                        </a:rPr>
                        <a:t>Field technicians — skills, certifications, availability.</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Maintenance</a:t>
                      </a:r>
                    </a:p>
                    <a:p>
                      <a:pPr>
                        <a:spcBef>
                          <a:spcPts val="0"/>
                        </a:spcBef>
                        <a:spcAft>
                          <a:spcPts val="0"/>
                        </a:spcAft>
                      </a:pPr>
                      <a:r>
                        <a:rPr sz="750" b="0">
                          <a:solidFill>
                            <a:srgbClr val="504D46"/>
                          </a:solidFill>
                          <a:latin typeface="Archivo"/>
                        </a:rPr>
                        <a:t>Scheduled preventive maintenance auto-creating work orders.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Projects</a:t>
                      </a:r>
                    </a:p>
                    <a:p>
                      <a:pPr>
                        <a:spcBef>
                          <a:spcPts val="0"/>
                        </a:spcBef>
                        <a:spcAft>
                          <a:spcPts val="0"/>
                        </a:spcAft>
                      </a:pPr>
                      <a:r>
                        <a:rPr sz="750" b="0">
                          <a:solidFill>
                            <a:srgbClr val="504D46"/>
                          </a:solidFill>
                          <a:latin typeface="Archivo"/>
                        </a:rPr>
                        <a:t>Portfolio-level project grouping (IPP-linked or standalone).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Operations  (2/2)</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Alerts</a:t>
                      </a:r>
                    </a:p>
                    <a:p>
                      <a:pPr>
                        <a:spcBef>
                          <a:spcPts val="0"/>
                        </a:spcBef>
                        <a:spcAft>
                          <a:spcPts val="0"/>
                        </a:spcAft>
                      </a:pPr>
                      <a:r>
                        <a:rPr sz="750" b="0">
                          <a:solidFill>
                            <a:srgbClr val="504D46"/>
                          </a:solidFill>
                          <a:latin typeface="Archivo"/>
                        </a:rPr>
                        <a:t>All alerts fired across the fleet in the last 7 days.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Site Portfolio</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2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126187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Service contracts</a:t>
                      </a:r>
                    </a:p>
                    <a:p>
                      <a:pPr>
                        <a:spcBef>
                          <a:spcPts val="0"/>
                        </a:spcBef>
                        <a:spcAft>
                          <a:spcPts val="0"/>
                        </a:spcAft>
                      </a:pPr>
                      <a:r>
                        <a:rPr sz="750" b="0">
                          <a:solidFill>
                            <a:srgbClr val="504D46"/>
                          </a:solidFill>
                          <a:latin typeface="Archivo"/>
                        </a:rPr>
                        <a:t>O&amp;M service contract management.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cancelled → draft → expired → in_grace → negotiating…</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service_contract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Sites portfolio</a:t>
                      </a:r>
                    </a:p>
                    <a:p>
                      <a:pPr>
                        <a:spcBef>
                          <a:spcPts val="0"/>
                        </a:spcBef>
                        <a:spcAft>
                          <a:spcPts val="0"/>
                        </a:spcAft>
                      </a:pPr>
                      <a:r>
                        <a:rPr sz="750" b="0">
                          <a:solidFill>
                            <a:srgbClr val="504D46"/>
                          </a:solidFill>
                          <a:latin typeface="Archivo"/>
                        </a:rPr>
                        <a:t>Full site portfolio — status, health, capacity.</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Work Orders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Work orders</a:t>
                      </a:r>
                    </a:p>
                    <a:p>
                      <a:pPr>
                        <a:spcBef>
                          <a:spcPts val="0"/>
                        </a:spcBef>
                        <a:spcAft>
                          <a:spcPts val="0"/>
                        </a:spcAft>
                      </a:pPr>
                      <a:r>
                        <a:rPr sz="750" b="0">
                          <a:solidFill>
                            <a:srgbClr val="504D46"/>
                          </a:solidFill>
                          <a:latin typeface="Archivo"/>
                        </a:rPr>
                        <a:t>12-state P6 WO dispatch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assigned → in_progress → on_hold → completed → cancelled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om_work_order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PM compliance</a:t>
                      </a:r>
                    </a:p>
                    <a:p>
                      <a:pPr>
                        <a:spcBef>
                          <a:spcPts val="0"/>
                        </a:spcBef>
                        <a:spcAft>
                          <a:spcPts val="0"/>
                        </a:spcAft>
                      </a:pPr>
                      <a:r>
                        <a:rPr sz="750" b="0">
                          <a:solidFill>
                            <a:srgbClr val="504D46"/>
                          </a:solidFill>
                          <a:latin typeface="Archivo"/>
                        </a:rPr>
                        <a:t>IEC 62446 preventive-maintenance compliance.</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scheduled → overdue → in_progress → completed → deferred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pm_compliance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Permit-to-work</a:t>
                      </a:r>
                    </a:p>
                    <a:p>
                      <a:pPr>
                        <a:spcBef>
                          <a:spcPts val="0"/>
                        </a:spcBef>
                        <a:spcAft>
                          <a:spcPts val="0"/>
                        </a:spcAft>
                      </a:pPr>
                      <a:r>
                        <a:rPr sz="750" b="0">
                          <a:solidFill>
                            <a:srgbClr val="504D46"/>
                          </a:solidFill>
                          <a:latin typeface="Archivo"/>
                        </a:rPr>
                        <a:t>OHSA + SANS 10142 control-of-work gate.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requested → under_review → issued → active → closed → revoked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permit_to_work</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Commissioning</a:t>
                      </a:r>
                    </a:p>
                    <a:p>
                      <a:pPr>
                        <a:spcBef>
                          <a:spcPts val="0"/>
                        </a:spcBef>
                        <a:spcAft>
                          <a:spcPts val="0"/>
                        </a:spcAft>
                      </a:pPr>
                      <a:r>
                        <a:rPr sz="750" b="0">
                          <a:solidFill>
                            <a:srgbClr val="504D46"/>
                          </a:solidFill>
                          <a:latin typeface="Archivo"/>
                        </a:rPr>
                        <a:t>Site commissioning and energization workflow.</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commissioning_failed → decommissioned → devices_registered →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commissioning  ◆</a:t>
                      </a:r>
                    </a:p>
                  </a:txBody>
                  <a:tcPr anchor="ctr" marT="25400" marB="25400" marL="50800" marR="50800">
                    <a:solidFill>
                      <a:srgbClr val="F5F3EF"/>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Asset Health &amp; AI</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Asset prognostics</a:t>
                      </a:r>
                    </a:p>
                    <a:p>
                      <a:pPr>
                        <a:spcBef>
                          <a:spcPts val="0"/>
                        </a:spcBef>
                        <a:spcAft>
                          <a:spcPts val="0"/>
                        </a:spcAft>
                      </a:pPr>
                      <a:r>
                        <a:rPr sz="750" b="0">
                          <a:solidFill>
                            <a:srgbClr val="504D46"/>
                          </a:solidFill>
                          <a:latin typeface="Archivo"/>
                        </a:rPr>
                        <a:t>Predictive O&amp;M — anomaly, RUL, fault fingerprint.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nominal → anomaly_detected → degrading → maintenance_due → fa…</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asset_prognostics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Availability guarantee</a:t>
                      </a:r>
                    </a:p>
                    <a:p>
                      <a:pPr>
                        <a:spcBef>
                          <a:spcPts val="0"/>
                        </a:spcBef>
                        <a:spcAft>
                          <a:spcPts val="0"/>
                        </a:spcAft>
                      </a:pPr>
                      <a:r>
                        <a:rPr sz="750" b="0">
                          <a:solidFill>
                            <a:srgbClr val="504D46"/>
                          </a:solidFill>
                          <a:latin typeface="Archivo"/>
                        </a:rPr>
                        <a:t>IEC 61724 uptime contract and LD tracking.</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under_review → breach → cure → settled → waived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availability_guarantee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BESS state-of-health</a:t>
                      </a:r>
                    </a:p>
                    <a:p>
                      <a:pPr>
                        <a:spcBef>
                          <a:spcPts val="0"/>
                        </a:spcBef>
                        <a:spcAft>
                          <a:spcPts val="0"/>
                        </a:spcAft>
                      </a:pPr>
                      <a:r>
                        <a:rPr sz="750" b="0">
                          <a:solidFill>
                            <a:srgbClr val="504D46"/>
                          </a:solidFill>
                          <a:latin typeface="Archivo"/>
                        </a:rPr>
                        <a:t>Battery degradation tracking and augmentation programme.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monitoring → augmentation_required → works_in_progress → reco…</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bess_soh</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Soiling audit</a:t>
                      </a:r>
                    </a:p>
                    <a:p>
                      <a:pPr>
                        <a:spcBef>
                          <a:spcPts val="0"/>
                        </a:spcBef>
                        <a:spcAft>
                          <a:spcPts val="0"/>
                        </a:spcAft>
                      </a:pPr>
                      <a:r>
                        <a:rPr sz="750" b="0">
                          <a:solidFill>
                            <a:srgbClr val="504D46"/>
                          </a:solidFill>
                          <a:latin typeface="Archivo"/>
                        </a:rPr>
                        <a:t>IEC 61724 soiling losses and cleaning economics.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measured → economics_assessed → cleaning_authorized → post_cl…</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soiling_audit</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Predictive</a:t>
                      </a:r>
                    </a:p>
                    <a:p>
                      <a:pPr>
                        <a:spcBef>
                          <a:spcPts val="0"/>
                        </a:spcBef>
                        <a:spcAft>
                          <a:spcPts val="0"/>
                        </a:spcAft>
                      </a:pPr>
                      <a:r>
                        <a:rPr sz="750" b="0">
                          <a:solidFill>
                            <a:srgbClr val="504D46"/>
                          </a:solidFill>
                          <a:latin typeface="Archivo"/>
                        </a:rPr>
                        <a:t>AI-derived predictive maintenance signals surfaced weeks ahead.</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Supply Chain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Spare parts</a:t>
                      </a:r>
                    </a:p>
                    <a:p>
                      <a:pPr>
                        <a:spcBef>
                          <a:spcPts val="0"/>
                        </a:spcBef>
                        <a:spcAft>
                          <a:spcPts val="0"/>
                        </a:spcAft>
                      </a:pPr>
                      <a:r>
                        <a:rPr sz="750" b="0">
                          <a:solidFill>
                            <a:srgbClr val="504D46"/>
                          </a:solidFill>
                          <a:latin typeface="Archivo"/>
                        </a:rPr>
                        <a:t>VED criticality — requisition → QA → stock → issue.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requisitioned → po_issued → in_transit → received → in_stock …</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spare_parts_provisioning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Parts catalogue</a:t>
                      </a:r>
                    </a:p>
                    <a:p>
                      <a:pPr>
                        <a:spcBef>
                          <a:spcPts val="0"/>
                        </a:spcBef>
                        <a:spcAft>
                          <a:spcPts val="0"/>
                        </a:spcAft>
                      </a:pPr>
                      <a:r>
                        <a:rPr sz="750" b="0">
                          <a:solidFill>
                            <a:srgbClr val="504D46"/>
                          </a:solidFill>
                          <a:latin typeface="Archivo"/>
                        </a:rPr>
                        <a:t>Parts catalogue and stock with low-stock reorder flags.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Vendor escalation</a:t>
                      </a:r>
                    </a:p>
                    <a:p>
                      <a:pPr>
                        <a:spcBef>
                          <a:spcPts val="0"/>
                        </a:spcBef>
                        <a:spcAft>
                          <a:spcPts val="0"/>
                        </a:spcAft>
                      </a:pPr>
                      <a:r>
                        <a:rPr sz="750" b="0">
                          <a:solidFill>
                            <a:srgbClr val="504D46"/>
                          </a:solidFill>
                          <a:latin typeface="Archivo"/>
                        </a:rPr>
                        <a:t>CPA §56/§61 vendor claim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open → escalated → under_review → resolved → closed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vendor_escalation</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Warranty claims</a:t>
                      </a:r>
                    </a:p>
                    <a:p>
                      <a:pPr>
                        <a:spcBef>
                          <a:spcPts val="0"/>
                        </a:spcBef>
                        <a:spcAft>
                          <a:spcPts val="0"/>
                        </a:spcAft>
                      </a:pPr>
                      <a:r>
                        <a:rPr sz="750" b="0">
                          <a:solidFill>
                            <a:srgbClr val="504D46"/>
                          </a:solidFill>
                          <a:latin typeface="Archivo"/>
                        </a:rPr>
                        <a:t>OEM 10-state RMA workflow.</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submitted → accepted → in_repair → shipped → closed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warranty_claim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Warranty recovery</a:t>
                      </a:r>
                    </a:p>
                    <a:p>
                      <a:pPr>
                        <a:spcBef>
                          <a:spcPts val="0"/>
                        </a:spcBef>
                        <a:spcAft>
                          <a:spcPts val="0"/>
                        </a:spcAft>
                      </a:pPr>
                      <a:r>
                        <a:rPr sz="750" b="0">
                          <a:solidFill>
                            <a:srgbClr val="504D46"/>
                          </a:solidFill>
                          <a:latin typeface="Archivo"/>
                        </a:rPr>
                        <a:t>Supplier cost-recovery against warranty defects.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initiated → assessment → settlement → completed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warranty_recovery  ◆</a:t>
                      </a:r>
                    </a:p>
                  </a:txBody>
                  <a:tcPr anchor="ctr" marT="25400" marB="25400" marL="50800" marR="50800">
                    <a:solidFill>
                      <a:srgbClr val="FFFF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Safety &amp; Permits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2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1261872"/>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HSE incidents</a:t>
                      </a:r>
                    </a:p>
                    <a:p>
                      <a:pPr>
                        <a:spcBef>
                          <a:spcPts val="0"/>
                        </a:spcBef>
                        <a:spcAft>
                          <a:spcPts val="0"/>
                        </a:spcAft>
                      </a:pPr>
                      <a:r>
                        <a:rPr sz="750" b="0">
                          <a:solidFill>
                            <a:srgbClr val="504D46"/>
                          </a:solidFill>
                          <a:latin typeface="Archivo"/>
                        </a:rPr>
                        <a:t>OHSA s24 + NEMA s30 incident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reported → under_investigation → closed → escalated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hse_incident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Protection tests</a:t>
                      </a:r>
                    </a:p>
                    <a:p>
                      <a:pPr>
                        <a:spcBef>
                          <a:spcPts val="0"/>
                        </a:spcBef>
                        <a:spcAft>
                          <a:spcPts val="0"/>
                        </a:spcAft>
                      </a:pPr>
                      <a:r>
                        <a:rPr sz="750" b="0">
                          <a:solidFill>
                            <a:srgbClr val="504D46"/>
                          </a:solidFill>
                          <a:latin typeface="Archivo"/>
                        </a:rPr>
                        <a:t>NRS 097-2-3 + NERSA Grid Code protection relay and anti-islanding comp</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Data &amp; Integrations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Ingestion</a:t>
                      </a:r>
                    </a:p>
                    <a:p>
                      <a:pPr>
                        <a:spcBef>
                          <a:spcPts val="0"/>
                        </a:spcBef>
                        <a:spcAft>
                          <a:spcPts val="0"/>
                        </a:spcAft>
                      </a:pPr>
                      <a:r>
                        <a:rPr sz="750" b="0">
                          <a:solidFill>
                            <a:srgbClr val="504D46"/>
                          </a:solidFill>
                          <a:latin typeface="Archivo"/>
                        </a:rPr>
                        <a:t>OEM connections (FusionSolar, SolarEdge, SMA, Sungrow, Modbus, Eskom A</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Integrations</a:t>
                      </a:r>
                    </a:p>
                    <a:p>
                      <a:pPr>
                        <a:spcBef>
                          <a:spcPts val="0"/>
                        </a:spcBef>
                        <a:spcAft>
                          <a:spcPts val="0"/>
                        </a:spcAft>
                      </a:pPr>
                      <a:r>
                        <a:rPr sz="750" b="0">
                          <a:solidFill>
                            <a:srgbClr val="504D46"/>
                          </a:solidFill>
                          <a:latin typeface="Archivo"/>
                        </a:rPr>
                        <a:t>Connect inverters and generation assets — credentials, live telemetry,</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Data sources</a:t>
                      </a:r>
                    </a:p>
                    <a:p>
                      <a:pPr>
                        <a:spcBef>
                          <a:spcPts val="0"/>
                        </a:spcBef>
                        <a:spcAft>
                          <a:spcPts val="0"/>
                        </a:spcAft>
                      </a:pPr>
                      <a:r>
                        <a:rPr sz="750" b="0">
                          <a:solidFill>
                            <a:srgbClr val="504D46"/>
                          </a:solidFill>
                          <a:latin typeface="Archivo"/>
                        </a:rPr>
                        <a:t>Sensor connections and data-ingest APIs — Modbus, SunSpec, MQTT, REST,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Participant links</a:t>
                      </a:r>
                    </a:p>
                    <a:p>
                      <a:pPr>
                        <a:spcBef>
                          <a:spcPts val="0"/>
                        </a:spcBef>
                        <a:spcAft>
                          <a:spcPts val="0"/>
                        </a:spcAft>
                      </a:pPr>
                      <a:r>
                        <a:rPr sz="750" b="0">
                          <a:solidFill>
                            <a:srgbClr val="504D46"/>
                          </a:solidFill>
                          <a:latin typeface="Archivo"/>
                        </a:rPr>
                        <a:t>Two-party onboarding handshake linking stations to downstream particip</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ESCO / O&amp;M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Reporting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5 journeys in this group</a:t>
            </a:r>
            <a:r>
              <a:rPr sz="1050" b="0">
                <a:solidFill>
                  <a:srgbClr val="504D46"/>
                </a:solidFill>
                <a:latin typeface="Archivo"/>
              </a:rPr>
              <a:t>   ·   metered: per active facility · per work order</a:t>
            </a:r>
          </a:p>
        </p:txBody>
      </p:sp>
      <p:graphicFrame>
        <p:nvGraphicFramePr>
          <p:cNvPr id="10" name="Table 9"/>
          <p:cNvGraphicFramePr>
            <a:graphicFrameLocks noGrp="1"/>
          </p:cNvGraphicFramePr>
          <p:nvPr/>
        </p:nvGraphicFramePr>
        <p:xfrm>
          <a:off x="548640" y="1783080"/>
          <a:ext cx="11064240" cy="2523744"/>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Audit log</a:t>
                      </a:r>
                    </a:p>
                    <a:p>
                      <a:pPr>
                        <a:spcBef>
                          <a:spcPts val="0"/>
                        </a:spcBef>
                        <a:spcAft>
                          <a:spcPts val="0"/>
                        </a:spcAft>
                      </a:pPr>
                      <a:r>
                        <a:rPr sz="750" b="0">
                          <a:solidFill>
                            <a:srgbClr val="504D46"/>
                          </a:solidFill>
                          <a:latin typeface="Archivo"/>
                        </a:rPr>
                        <a:t>Tamper-evident audit chain and evidence log.</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Revenue assurance</a:t>
                      </a:r>
                    </a:p>
                    <a:p>
                      <a:pPr>
                        <a:spcBef>
                          <a:spcPts val="0"/>
                        </a:spcBef>
                        <a:spcAft>
                          <a:spcPts val="0"/>
                        </a:spcAft>
                      </a:pPr>
                      <a:r>
                        <a:rPr sz="750" b="0">
                          <a:solidFill>
                            <a:srgbClr val="504D46"/>
                          </a:solidFill>
                          <a:latin typeface="Archivo"/>
                        </a:rPr>
                        <a:t>Settlement-vs-expected reconciliation and recovery.</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reconciling → variance_flagged → recovery_claimed → recovered…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generation_revenue_assurance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Accruals</a:t>
                      </a:r>
                    </a:p>
                    <a:p>
                      <a:pPr>
                        <a:spcBef>
                          <a:spcPts val="0"/>
                        </a:spcBef>
                        <a:spcAft>
                          <a:spcPts val="0"/>
                        </a:spcAft>
                      </a:pPr>
                      <a:r>
                        <a:rPr sz="750" b="0">
                          <a:solidFill>
                            <a:srgbClr val="504D46"/>
                          </a:solidFill>
                          <a:latin typeface="Archivo"/>
                        </a:rPr>
                        <a:t>Real-time generation accrual ledger from inverter data.</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Invoices</a:t>
                      </a:r>
                    </a:p>
                    <a:p>
                      <a:pPr>
                        <a:spcBef>
                          <a:spcPts val="0"/>
                        </a:spcBef>
                        <a:spcAft>
                          <a:spcPts val="0"/>
                        </a:spcAft>
                      </a:pPr>
                      <a:r>
                        <a:rPr sz="750" b="0">
                          <a:solidFill>
                            <a:srgbClr val="504D46"/>
                          </a:solidFill>
                          <a:latin typeface="Archivo"/>
                        </a:rPr>
                        <a:t>Monthly settlement invoices derived from the accruals ledger.</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Carbon credits</a:t>
                      </a:r>
                    </a:p>
                    <a:p>
                      <a:pPr>
                        <a:spcBef>
                          <a:spcPts val="0"/>
                        </a:spcBef>
                        <a:spcAft>
                          <a:spcPts val="0"/>
                        </a:spcAft>
                      </a:pPr>
                      <a:r>
                        <a:rPr sz="750" b="0">
                          <a:solidFill>
                            <a:srgbClr val="504D46"/>
                          </a:solidFill>
                          <a:latin typeface="Archivo"/>
                        </a:rPr>
                        <a:t>Monthly carbon credit records auto-minted from the accruals ledger.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EPC Contractor</a:t>
            </a:r>
          </a:p>
        </p:txBody>
      </p:sp>
      <p:sp>
        <p:nvSpPr>
          <p:cNvPr id="6" name="TextBox 5"/>
          <p:cNvSpPr txBox="1"/>
          <p:nvPr/>
        </p:nvSpPr>
        <p:spPr>
          <a:xfrm>
            <a:off x="640080" y="3429000"/>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11 journeys across 5 groups  ·  metered: per submittal · per package</a:t>
            </a:r>
          </a:p>
          <a:p>
            <a:pPr algn="l">
              <a:spcBef>
                <a:spcPts val="0"/>
              </a:spcBef>
              <a:spcAft>
                <a:spcPts val="400"/>
              </a:spcAft>
            </a:pPr>
            <a:r>
              <a:rPr sz="1150" b="0">
                <a:solidFill>
                  <a:srgbClr val="FFFFFF"/>
                </a:solidFill>
                <a:latin typeface="Archivo"/>
              </a:rPr>
              <a:t>Document Control  ·  Quality Management  ·  Site Setup  ·  Safety &amp; HSE  ·  Handover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EPC CONTRACTOR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Document Control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submittal · per package</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Submittals</a:t>
                      </a:r>
                    </a:p>
                    <a:p>
                      <a:pPr>
                        <a:spcBef>
                          <a:spcPts val="0"/>
                        </a:spcBef>
                        <a:spcAft>
                          <a:spcPts val="0"/>
                        </a:spcAft>
                      </a:pPr>
                      <a:r>
                        <a:rPr sz="750" b="0">
                          <a:solidFill>
                            <a:srgbClr val="504D46"/>
                          </a:solidFill>
                          <a:latin typeface="Archivo"/>
                        </a:rPr>
                        <a:t>Drawing and document submittal register.</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assigned_to_reviewer → closed_out → contractor_dra…</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ipp_submittal</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RFIs</a:t>
                      </a:r>
                    </a:p>
                    <a:p>
                      <a:pPr>
                        <a:spcBef>
                          <a:spcPts val="0"/>
                        </a:spcBef>
                        <a:spcAft>
                          <a:spcPts val="0"/>
                        </a:spcAft>
                      </a:pPr>
                      <a:r>
                        <a:rPr sz="750" b="0">
                          <a:solidFill>
                            <a:srgbClr val="504D46"/>
                          </a:solidFill>
                          <a:latin typeface="Archivo"/>
                        </a:rPr>
                        <a:t>Request for information log and responses.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Change orders</a:t>
                      </a:r>
                    </a:p>
                    <a:p>
                      <a:pPr>
                        <a:spcBef>
                          <a:spcPts val="0"/>
                        </a:spcBef>
                        <a:spcAft>
                          <a:spcPts val="0"/>
                        </a:spcAft>
                      </a:pPr>
                      <a:r>
                        <a:rPr sz="750" b="0">
                          <a:solidFill>
                            <a:srgbClr val="504D46"/>
                          </a:solidFill>
                          <a:latin typeface="Archivo"/>
                        </a:rPr>
                        <a:t>Contract change order management.</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approved → cancelled → deferred → disputed → draft → impact_a…</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project_change_order</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Technical queries</a:t>
                      </a:r>
                    </a:p>
                    <a:p>
                      <a:pPr>
                        <a:spcBef>
                          <a:spcPts val="0"/>
                        </a:spcBef>
                        <a:spcAft>
                          <a:spcPts val="0"/>
                        </a:spcAft>
                      </a:pPr>
                      <a:r>
                        <a:rPr sz="750" b="0">
                          <a:solidFill>
                            <a:srgbClr val="504D46"/>
                          </a:solidFill>
                          <a:latin typeface="Archivo"/>
                        </a:rPr>
                        <a:t>Technical query register and resolution.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5F3EF"/>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EPC CONTRACTOR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Quality Management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4 journeys in this group</a:t>
            </a:r>
            <a:r>
              <a:rPr sz="1050" b="0">
                <a:solidFill>
                  <a:srgbClr val="504D46"/>
                </a:solidFill>
                <a:latin typeface="Archivo"/>
              </a:rPr>
              <a:t>   ·   metered: per submittal · per package</a:t>
            </a:r>
          </a:p>
        </p:txBody>
      </p:sp>
      <p:graphicFrame>
        <p:nvGraphicFramePr>
          <p:cNvPr id="10" name="Table 9"/>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ITPs</a:t>
                      </a:r>
                    </a:p>
                    <a:p>
                      <a:pPr>
                        <a:spcBef>
                          <a:spcPts val="0"/>
                        </a:spcBef>
                        <a:spcAft>
                          <a:spcPts val="0"/>
                        </a:spcAft>
                      </a:pPr>
                      <a:r>
                        <a:rPr sz="750" b="0">
                          <a:solidFill>
                            <a:srgbClr val="504D46"/>
                          </a:solidFill>
                          <a:latin typeface="Archivo"/>
                        </a:rPr>
                        <a:t>Inspection and test plans.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draft → approved → in_progress → completed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itp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NCRs</a:t>
                      </a:r>
                    </a:p>
                    <a:p>
                      <a:pPr>
                        <a:spcBef>
                          <a:spcPts val="0"/>
                        </a:spcBef>
                        <a:spcAft>
                          <a:spcPts val="0"/>
                        </a:spcAft>
                      </a:pPr>
                      <a:r>
                        <a:rPr sz="750" b="0">
                          <a:solidFill>
                            <a:srgbClr val="504D46"/>
                          </a:solidFill>
                          <a:latin typeface="Archivo"/>
                        </a:rPr>
                        <a:t>Non-conformance reports and corrective action.</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open → under_review → corrective_action → closed</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ncr  ◆</a:t>
                      </a:r>
                    </a:p>
                  </a:txBody>
                  <a:tcPr anchor="ctr" marT="25400" marB="25400" marL="50800" marR="50800">
                    <a:solidFill>
                      <a:srgbClr val="F5F3EF"/>
                    </a:solidFill>
                  </a:tcPr>
                </a:tc>
              </a:tr>
              <a:tr h="420624">
                <a:tc>
                  <a:txBody>
                    <a:bodyPr wrap="square"/>
                    <a:lstStyle/>
                    <a:p>
                      <a:pPr>
                        <a:spcBef>
                          <a:spcPts val="0"/>
                        </a:spcBef>
                        <a:spcAft>
                          <a:spcPts val="0"/>
                        </a:spcAft>
                      </a:pPr>
                      <a:r>
                        <a:rPr sz="1000" b="1">
                          <a:solidFill>
                            <a:srgbClr val="005358"/>
                          </a:solidFill>
                          <a:latin typeface="Archivo"/>
                        </a:rPr>
                        <a:t>Punch list</a:t>
                      </a:r>
                    </a:p>
                    <a:p>
                      <a:pPr>
                        <a:spcBef>
                          <a:spcPts val="0"/>
                        </a:spcBef>
                        <a:spcAft>
                          <a:spcPts val="0"/>
                        </a:spcAft>
                      </a:pPr>
                      <a:r>
                        <a:rPr sz="750" b="0">
                          <a:solidFill>
                            <a:srgbClr val="504D46"/>
                          </a:solidFill>
                          <a:latin typeface="Archivo"/>
                        </a:rPr>
                        <a:t>Pre-COD punch list items and closure.</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open → in_progress → closed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punch_list  ◆</a:t>
                      </a:r>
                    </a:p>
                  </a:txBody>
                  <a:tcPr anchor="ctr" marT="25400" marB="25400" marL="50800" marR="50800">
                    <a:solidFill>
                      <a:srgbClr val="FFFFFF"/>
                    </a:solidFill>
                  </a:tcPr>
                </a:tc>
              </a:tr>
              <a:tr h="420624">
                <a:tc>
                  <a:txBody>
                    <a:bodyPr wrap="square"/>
                    <a:lstStyle/>
                    <a:p>
                      <a:pPr>
                        <a:spcBef>
                          <a:spcPts val="0"/>
                        </a:spcBef>
                        <a:spcAft>
                          <a:spcPts val="0"/>
                        </a:spcAft>
                      </a:pPr>
                      <a:r>
                        <a:rPr sz="1000" b="1">
                          <a:solidFill>
                            <a:srgbClr val="005358"/>
                          </a:solidFill>
                          <a:latin typeface="Archivo"/>
                        </a:rPr>
                        <a:t>Method statements</a:t>
                      </a:r>
                    </a:p>
                    <a:p>
                      <a:pPr>
                        <a:spcBef>
                          <a:spcPts val="0"/>
                        </a:spcBef>
                        <a:spcAft>
                          <a:spcPts val="0"/>
                        </a:spcAft>
                      </a:pPr>
                      <a:r>
                        <a:rPr sz="750" b="0">
                          <a:solidFill>
                            <a:srgbClr val="504D46"/>
                          </a:solidFill>
                          <a:latin typeface="Archivo"/>
                        </a:rPr>
                        <a:t>Construction method statement approvals.</a:t>
                      </a:r>
                    </a:p>
                  </a:txBody>
                  <a:tcPr anchor="ctr" marT="25400" marB="25400" marL="50800" marR="50800">
                    <a:solidFill>
                      <a:srgbClr val="F5F3E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active → approved → archived → closed → drafted → rejected → …</a:t>
                      </a:r>
                    </a:p>
                  </a:txBody>
                  <a:tcPr anchor="ctr" marT="25400" marB="25400" marL="50800" marR="50800">
                    <a:solidFill>
                      <a:srgbClr val="F5F3EF"/>
                    </a:solidFill>
                  </a:tcPr>
                </a:tc>
                <a:tc>
                  <a:txBody>
                    <a:bodyPr wrap="square"/>
                    <a:lstStyle/>
                    <a:p>
                      <a:pPr>
                        <a:spcBef>
                          <a:spcPts val="0"/>
                        </a:spcBef>
                        <a:spcAft>
                          <a:spcPts val="0"/>
                        </a:spcAft>
                      </a:pPr>
                      <a:r>
                        <a:rPr sz="850" b="0">
                          <a:solidFill>
                            <a:srgbClr val="1B1812"/>
                          </a:solidFill>
                          <a:latin typeface="Archivo"/>
                        </a:rPr>
                        <a:t>chain: ipp_method_statement  ◆</a:t>
                      </a:r>
                    </a:p>
                  </a:txBody>
                  <a:tcPr anchor="ctr" marT="25400" marB="25400" marL="50800" marR="50800">
                    <a:solidFill>
                      <a:srgbClr val="F5F3EF"/>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EPC CONTRACTOR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Site Setup</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submittal · per package</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Site diary</a:t>
                      </a:r>
                    </a:p>
                    <a:p>
                      <a:pPr>
                        <a:spcBef>
                          <a:spcPts val="0"/>
                        </a:spcBef>
                        <a:spcAft>
                          <a:spcPts val="0"/>
                        </a:spcAft>
                      </a:pPr>
                      <a:r>
                        <a:rPr sz="750" b="0">
                          <a:solidFill>
                            <a:srgbClr val="504D46"/>
                          </a:solidFill>
                          <a:latin typeface="Archivo"/>
                        </a:rPr>
                        <a:t>Daily construction diary and inspection records.</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archived → correction_accepted → countersigned → disputed → e…</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ipp_construction_diary  ◆</a:t>
                      </a:r>
                    </a:p>
                  </a:txBody>
                  <a:tcPr anchor="ctr" marT="25400" marB="25400" marL="50800" marR="50800">
                    <a:solidFill>
                      <a:srgbClr val="FFFFFF"/>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EPC CONTRACTOR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Safety &amp; HSE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submittal · per package</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HSE incidents</a:t>
                      </a:r>
                    </a:p>
                    <a:p>
                      <a:pPr>
                        <a:spcBef>
                          <a:spcPts val="0"/>
                        </a:spcBef>
                        <a:spcAft>
                          <a:spcPts val="0"/>
                        </a:spcAft>
                      </a:pPr>
                      <a:r>
                        <a:rPr sz="750" b="0">
                          <a:solidFill>
                            <a:srgbClr val="504D46"/>
                          </a:solidFill>
                          <a:latin typeface="Archivo"/>
                        </a:rPr>
                        <a:t>OHSA s24 + NEMA s30 incident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L3</a:t>
                      </a:r>
                    </a:p>
                  </a:txBody>
                  <a:tcPr anchor="ctr" marT="25400" marB="25400" marL="50800" marR="50800">
                    <a:solidFill>
                      <a:srgbClr val="7A8C8E"/>
                    </a:solidFill>
                  </a:tcPr>
                </a:tc>
                <a:tc>
                  <a:txBody>
                    <a:bodyPr wrap="square"/>
                    <a:lstStyle/>
                    <a:p>
                      <a:pPr>
                        <a:spcBef>
                          <a:spcPts val="0"/>
                        </a:spcBef>
                        <a:spcAft>
                          <a:spcPts val="0"/>
                        </a:spcAft>
                      </a:pPr>
                      <a:r>
                        <a:rPr sz="850" b="0">
                          <a:solidFill>
                            <a:srgbClr val="1B1812"/>
                          </a:solidFill>
                          <a:latin typeface="Archivo"/>
                        </a:rPr>
                        <a:t>reported → under_investigation → closed → escalated</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chain: hse_incident  ◆</a:t>
                      </a:r>
                    </a:p>
                  </a:txBody>
                  <a:tcPr anchor="ctr" marT="25400" marB="25400" marL="50800" marR="50800">
                    <a:solidFill>
                      <a:srgbClr val="FFFF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EPC CONTRACTOR  ·  USER JOURNEYS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Handover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2004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1 journeys in this group</a:t>
            </a:r>
            <a:r>
              <a:rPr sz="1050" b="0">
                <a:solidFill>
                  <a:srgbClr val="504D46"/>
                </a:solidFill>
                <a:latin typeface="Archivo"/>
              </a:rPr>
              <a:t>   ·   metered: per submittal · per package</a:t>
            </a:r>
          </a:p>
        </p:txBody>
      </p:sp>
      <p:graphicFrame>
        <p:nvGraphicFramePr>
          <p:cNvPr id="10" name="Table 9"/>
          <p:cNvGraphicFramePr>
            <a:graphicFrameLocks noGrp="1"/>
          </p:cNvGraphicFramePr>
          <p:nvPr/>
        </p:nvGraphicFramePr>
        <p:xfrm>
          <a:off x="548640" y="1783080"/>
          <a:ext cx="11064240" cy="841248"/>
        </p:xfrm>
        <a:graphic>
          <a:graphicData uri="http://schemas.openxmlformats.org/drawingml/2006/table">
            <a:tbl>
              <a:tblPr firstRow="1" bandRow="1">
                <a:tableStyleId>{5C22544A-7EE6-4342-B048-85BDC9FD1C3A}</a:tableStyleId>
              </a:tblPr>
              <a:tblGrid>
                <a:gridCol w="3200400"/>
                <a:gridCol w="868680"/>
                <a:gridCol w="4892040"/>
                <a:gridCol w="2103120"/>
              </a:tblGrid>
              <a:tr h="420624">
                <a:tc>
                  <a:txBody>
                    <a:bodyPr wrap="square"/>
                    <a:lstStyle/>
                    <a:p>
                      <a:pPr>
                        <a:spcBef>
                          <a:spcPts val="0"/>
                        </a:spcBef>
                        <a:spcAft>
                          <a:spcPts val="0"/>
                        </a:spcAft>
                      </a:pPr>
                      <a:r>
                        <a:rPr sz="1050" b="1">
                          <a:solidFill>
                            <a:srgbClr val="FFFFFF"/>
                          </a:solidFill>
                          <a:latin typeface="Archivo"/>
                        </a:rPr>
                        <a:t>Journey</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Tier</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Lifecycle pipeline</a:t>
                      </a:r>
                    </a:p>
                  </a:txBody>
                  <a:tcPr anchor="ctr" marT="25400" marB="25400" marL="50800" marR="50800">
                    <a:solidFill>
                      <a:srgbClr val="005358"/>
                    </a:solidFill>
                  </a:tcPr>
                </a:tc>
                <a:tc>
                  <a:txBody>
                    <a:bodyPr wrap="square"/>
                    <a:lstStyle/>
                    <a:p>
                      <a:pPr>
                        <a:spcBef>
                          <a:spcPts val="0"/>
                        </a:spcBef>
                        <a:spcAft>
                          <a:spcPts val="0"/>
                        </a:spcAft>
                      </a:pPr>
                      <a:r>
                        <a:rPr sz="1050" b="1">
                          <a:solidFill>
                            <a:srgbClr val="FFFFFF"/>
                          </a:solidFill>
                          <a:latin typeface="Archivo"/>
                        </a:rPr>
                        <a:t>Backed by</a:t>
                      </a:r>
                    </a:p>
                  </a:txBody>
                  <a:tcPr anchor="ctr" marT="25400" marB="25400" marL="50800" marR="50800">
                    <a:solidFill>
                      <a:srgbClr val="005358"/>
                    </a:solidFill>
                  </a:tcPr>
                </a:tc>
              </a:tr>
              <a:tr h="420624">
                <a:tc>
                  <a:txBody>
                    <a:bodyPr wrap="square"/>
                    <a:lstStyle/>
                    <a:p>
                      <a:pPr>
                        <a:spcBef>
                          <a:spcPts val="0"/>
                        </a:spcBef>
                        <a:spcAft>
                          <a:spcPts val="0"/>
                        </a:spcAft>
                      </a:pPr>
                      <a:r>
                        <a:rPr sz="1000" b="1">
                          <a:solidFill>
                            <a:srgbClr val="005358"/>
                          </a:solidFill>
                          <a:latin typeface="Archivo"/>
                        </a:rPr>
                        <a:t>Audit log</a:t>
                      </a:r>
                    </a:p>
                    <a:p>
                      <a:pPr>
                        <a:spcBef>
                          <a:spcPts val="0"/>
                        </a:spcBef>
                        <a:spcAft>
                          <a:spcPts val="0"/>
                        </a:spcAft>
                      </a:pPr>
                      <a:r>
                        <a:rPr sz="750" b="0">
                          <a:solidFill>
                            <a:srgbClr val="504D46"/>
                          </a:solidFill>
                          <a:latin typeface="Archivo"/>
                        </a:rPr>
                        <a:t>Handover documentation and evidence chain.</a:t>
                      </a:r>
                    </a:p>
                  </a:txBody>
                  <a:tcPr anchor="ctr" marT="25400" marB="25400" marL="50800" marR="50800">
                    <a:solidFill>
                      <a:srgbClr val="FFFFFF"/>
                    </a:solidFill>
                  </a:tcPr>
                </a:tc>
                <a:tc>
                  <a:txBody>
                    <a:bodyPr wrap="square"/>
                    <a:lstStyle/>
                    <a:p>
                      <a:pPr>
                        <a:spcBef>
                          <a:spcPts val="0"/>
                        </a:spcBef>
                        <a:spcAft>
                          <a:spcPts val="0"/>
                        </a:spcAft>
                      </a:pPr>
                      <a:r>
                        <a:rPr sz="1000" b="1">
                          <a:solidFill>
                            <a:srgbClr val="FFFFFF"/>
                          </a:solidFill>
                          <a:latin typeface="Archivo"/>
                        </a:rPr>
                        <a:t>—</a:t>
                      </a:r>
                    </a:p>
                  </a:txBody>
                  <a:tcPr anchor="ctr" marT="25400" marB="25400" marL="50800" marR="50800">
                    <a:solidFill>
                      <a:srgbClr val="504D46"/>
                    </a:solidFill>
                  </a:tcPr>
                </a:tc>
                <a:tc>
                  <a:txBody>
                    <a:bodyPr wrap="square"/>
                    <a:lstStyle/>
                    <a:p>
                      <a:pPr>
                        <a:spcBef>
                          <a:spcPts val="0"/>
                        </a:spcBef>
                        <a:spcAft>
                          <a:spcPts val="0"/>
                        </a:spcAft>
                      </a:pPr>
                      <a:r>
                        <a:rPr sz="850" b="0">
                          <a:solidFill>
                            <a:srgbClr val="1B1812"/>
                          </a:solidFill>
                          <a:latin typeface="Archivo"/>
                        </a:rPr>
                        <a:t>—</a:t>
                      </a:r>
                    </a:p>
                  </a:txBody>
                  <a:tcPr anchor="ctr" marT="25400" marB="25400" marL="50800" marR="50800">
                    <a:solidFill>
                      <a:srgbClr val="FFFFFF"/>
                    </a:solidFill>
                  </a:tcPr>
                </a:tc>
                <a:tc>
                  <a:txBody>
                    <a:bodyPr wrap="square"/>
                    <a:lstStyle/>
                    <a:p>
                      <a:pPr>
                        <a:spcBef>
                          <a:spcPts val="0"/>
                        </a:spcBef>
                        <a:spcAft>
                          <a:spcPts val="0"/>
                        </a:spcAft>
                      </a:pPr>
                      <a:r>
                        <a:rPr sz="850" b="0">
                          <a:solidFill>
                            <a:srgbClr val="1B1812"/>
                          </a:solidFill>
                          <a:latin typeface="Archivo"/>
                        </a:rPr>
                        <a:t>list / record surface</a:t>
                      </a:r>
                    </a:p>
                  </a:txBody>
                  <a:tcPr anchor="ctr" marT="25400" marB="25400" marL="50800" marR="50800">
                    <a:solidFill>
                      <a:srgbClr val="FFFFFF"/>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1828800"/>
            <a:ext cx="10972800" cy="365760"/>
          </a:xfrm>
          <a:prstGeom prst="rect">
            <a:avLst/>
          </a:prstGeom>
          <a:noFill/>
        </p:spPr>
        <p:txBody>
          <a:bodyPr wrap="square" anchor="t" lIns="25400" rIns="25400" tIns="25400" bIns="25400">
            <a:spAutoFit/>
          </a:bodyPr>
          <a:lstStyle/>
          <a:p>
            <a:pPr algn="l">
              <a:spcBef>
                <a:spcPts val="0"/>
              </a:spcBef>
              <a:spcAft>
                <a:spcPts val="400"/>
              </a:spcAft>
            </a:pPr>
            <a:r>
              <a:rPr sz="1300" b="1">
                <a:solidFill>
                  <a:srgbClr val="D18E35"/>
                </a:solidFill>
                <a:latin typeface="Archivo"/>
              </a:rPr>
              <a:t>PART 3 · PROCESS FLOWS</a:t>
            </a:r>
          </a:p>
        </p:txBody>
      </p:sp>
      <p:sp>
        <p:nvSpPr>
          <p:cNvPr id="6" name="TextBox 5"/>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Every Process Flow</a:t>
            </a:r>
          </a:p>
        </p:txBody>
      </p:sp>
      <p:sp>
        <p:nvSpPr>
          <p:cNvPr id="7" name="TextBox 6"/>
          <p:cNvSpPr txBox="1"/>
          <p:nvPr/>
        </p:nvSpPr>
        <p:spPr>
          <a:xfrm>
            <a:off x="640080" y="3456432"/>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All 207 governed state machines, drawn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IPP lifecycle</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70 process flows drawn  ·  owner: IPP Developer  ·  metered: per active project · per stage-gate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OE_AUDIT_CHAIN_BLOCK</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Audit-chain block</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Admin</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Open for independent verification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Fork block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Emergency seal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Reconcile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Archive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Restate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Reject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Suspend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Resume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suspended</a:t>
            </a:r>
          </a:p>
        </p:txBody>
      </p:sp>
      <p:sp>
        <p:nvSpPr>
          <p:cNvPr id="32" name="Rounded Rectangle 31"/>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restated</a:t>
            </a:r>
          </a:p>
        </p:txBody>
      </p:sp>
      <p:sp>
        <p:nvSpPr>
          <p:cNvPr id="33" name="Rounded Rectangle 32"/>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forked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14 states  ·  5 terminal outcomes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OE_IPP_EVM</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Cost &amp; EVM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Log change request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change request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 reforecast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Draft reforecast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Draw contingency reserve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Submit to PM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Draw management reserve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Reconcile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Cancel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1" name="TextBox 3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12 states  ·  2 terminal outcomes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OE_DSCR_REPORTS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DSCR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Accept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Withdraw</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covenant breach</a:t>
            </a:r>
          </a:p>
        </p:txBody>
      </p:sp>
      <p:sp>
        <p:nvSpPr>
          <p:cNvPr id="18" name="Rounded Rectangle 1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9" name="TextBox 1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10 states  ·  3 terminal outcomes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OE_DFR</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Daily field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Open entries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Submit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Approve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Distribute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Archive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Close entries</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Correct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Void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Withdraw</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12 states  ·  3 terminal outcomes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OE_IPP_FINAL_COMPLETION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Final completion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adjudicated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application_submitted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defects_outstanding</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fcc_issued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inspection_complete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inspection_scheduled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retention_released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snag_list_cleared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snag_list_issued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retention released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adjudicated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OE_HANDOVER_DOSSIER</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Handover dossier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Require revision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Revise and resubmit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Schedule witnessed acceptance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Remediate punch</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Transfer training</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Archive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Withdraw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Void</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Rounded Rectangle 3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15 states  ·  4 terminal outcomes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OE_IPP_MIRS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Material inspection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conditional_approval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delivered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delivery_notified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detailed_inspection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incorporated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initial_inspection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quarantined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rejected_on_site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results_pending</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returned_to_supplier</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test_sampling</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incorporated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returned to supplier</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2 terminal outcomes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OE_IPP_OM_HANDOVER</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O&amp;M handover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compilation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conditional_acceptance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deficiencies_raised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deficiencies_resolved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internal_review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om_review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submitted_to_om</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8" name="Rounded Rectangle 37"/>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5 terminal outcomes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OE_IPP_PAYMENT_CERTS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Payment certificate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adjudicated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final_payment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paid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revised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submitted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paid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 payment</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adjudicated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Rounded Rectangle 37"/>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5 terminal outcomes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OE_IPP_PROGRESS_CLAIMS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Progress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engineer_certified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final_account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partial_payment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payment_processed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pm_review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quantity_survey_review</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submitted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suspended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 account</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OE_IPP_RFI</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RFI</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Escalate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Triage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Commence research</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Coordinate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Request clarification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Archive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Void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Convert to change order</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Link to dispute</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14 states  ·  3 terminal outcomes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OE_PROJECT_RISKS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Risk analysis (EMV)</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Assess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Quantify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Escalate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Reanalyze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Withdraw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Cancel</a:t>
            </a:r>
          </a:p>
        </p:txBody>
      </p:sp>
      <p:sp>
        <p:nvSpPr>
          <p:cNvPr id="22" name="TextBox 2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3" name="Rounded Rectangle 2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24" name="Rounded Rectangle 2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25" name="Rounded Rectangle 2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6" name="Rounded Rectangle 25"/>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7" name="TextBox 2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6 actions  ·  12 states  ·  4 terminal outcomes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OE_IPP_SITE_INSTRUCTIONS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Site instruction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dispute_resolved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ie_verified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in_execution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issued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11 states  ·  3 terminal outcomes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OE_IPP_SUBCONTRACTORS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Subcontractor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Demobilize subcontractor</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Mobilize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terminated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12 states  ·  2 terminal outcomes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OE_IPP_SUBMITTAL</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Submittal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Reject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Assemble package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Screen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Coordinate 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Draft response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Approve with comments</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Archive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Void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Escalate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15 states  ·  3 terminal outcomes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OE_IPP_TQS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Technical query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allocated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design_change_required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logged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raised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response_approved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response_drafted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response_issued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under_review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2 terminal outcomes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0  ·  OE_IPP_SCHEDULE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WBS &amp; schedule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Assess impact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Propose recovery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Mark recovered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Resume schedule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Approve rebaseline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Reject rebaseline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Mark late finish</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Suspend schedule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7" name="Rounded Rectangle 26"/>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28" name="Rounded Rectangle 27"/>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9" name="Rounded Rectangle 28"/>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late finish</a:t>
            </a:r>
          </a:p>
        </p:txBody>
      </p:sp>
      <p:sp>
        <p:nvSpPr>
          <p:cNvPr id="30" name="TextBox 2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8 actions  ·  12 states  ·  3 terminal outcomes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19  ·  OE_PROCUREMENT_RFPS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Procurement RFP</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Award RFP</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Sign contract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Cancel RFP</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Publish</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Open bids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Close bids</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evaluation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Shortlist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Reject all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Mark delivered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Resolve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delivered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20  ·  OE_COD_CHAIN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Construction / COD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Grid synchronize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Certify COD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Cancel project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Sign epc</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Issue ntp</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Mobilize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Mechanical complete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Cold commission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Begin reliability run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cod certified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1" name="TextBox 3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10 states  ·  2 terminal outcomes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23  ·  OE_INSURANCE_CLAIM_CHAIN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Insurance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Agree quantum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Dispute quantum</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Record settlement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Begin assessment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Assign adjuster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Propose quantum</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Resolve dispute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Decline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Withdraw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declined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4" name="Rounded Rectangle 33"/>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10 states  ·  4 terminal outcomes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96  ·  OE_IPP_DOCUMENT_CONTROL</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Document control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Transmit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Revise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Approve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Archive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Reject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Withdraw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Hold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Resume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14 states  ·  3 terminal outcomes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96  ·  OE_SUBMITTAL_RFI</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Submittal / RFI</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Respond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Approve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Incorporate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Void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Distribute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Start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Request clarification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Provide clarification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Resubmit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Close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clean</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14 states  ·  3 terminal outcomes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98  ·  OE_PUNCH_LIST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Punch list item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EPC</a:t>
            </a:r>
            <a:r>
              <a:rPr sz="1050" b="0">
                <a:solidFill>
                  <a:srgbClr val="504D46"/>
                </a:solidFill>
                <a:latin typeface="Archivo"/>
              </a:rPr>
              <a:t>   ·   cross-role spine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Assess item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Assign remediation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Request re-inspection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Accept work</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Close item</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Void item</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remediation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Reinspect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Reject reinspection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Park</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Resume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11 states  ·  3 terminal outcomes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99  ·  OE_ITP_INSPECTION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Inspection &amp; test plan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EPC</a:t>
            </a:r>
            <a:r>
              <a:rPr sz="1050" b="0">
                <a:solidFill>
                  <a:srgbClr val="504D46"/>
                </a:solidFill>
                <a:latin typeface="Archivo"/>
              </a:rPr>
              <a:t>   ·   cross-role spine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ITP</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ITP</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Schedule inspection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Record result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Reject ITP</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Open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Release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Begin inspection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Attend witness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Pass</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Fail</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Raise corrective action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Re inspect</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Release for use</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Archive</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48640"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16. Withdraw</a:t>
            </a:r>
          </a:p>
        </p:txBody>
      </p:sp>
      <p:sp>
        <p:nvSpPr>
          <p:cNvPr id="40" name="Rounded Rectangle 39"/>
          <p:cNvSpPr/>
          <p:nvPr/>
        </p:nvSpPr>
        <p:spPr>
          <a:xfrm>
            <a:off x="2743199"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17. Void</a:t>
            </a:r>
          </a:p>
        </p:txBody>
      </p:sp>
      <p:cxnSp>
        <p:nvCxnSpPr>
          <p:cNvPr id="41" name="Connector 40"/>
          <p:cNvCxnSpPr/>
          <p:nvPr/>
        </p:nvCxnSpPr>
        <p:spPr>
          <a:xfrm>
            <a:off x="2633471" y="4910328"/>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52395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3" name="Rounded Rectangle 42"/>
          <p:cNvSpPr/>
          <p:nvPr/>
        </p:nvSpPr>
        <p:spPr>
          <a:xfrm>
            <a:off x="548640"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4" name="Rounded Rectangle 43"/>
          <p:cNvSpPr/>
          <p:nvPr/>
        </p:nvSpPr>
        <p:spPr>
          <a:xfrm>
            <a:off x="2743199"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45" name="Rounded Rectangle 44"/>
          <p:cNvSpPr/>
          <p:nvPr/>
        </p:nvSpPr>
        <p:spPr>
          <a:xfrm>
            <a:off x="4937758"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6" name="Rounded Rectangle 45"/>
          <p:cNvSpPr/>
          <p:nvPr/>
        </p:nvSpPr>
        <p:spPr>
          <a:xfrm>
            <a:off x="7132317"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47" name="TextBox 4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17 actions  ·  16 states  ·  4 terminal outcomes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131  ·  OE_STAGE_GATES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Stage gate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board_briefing_circulated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cab_held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conditions_satisfied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conditions_set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decision_recorded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evidence_compiled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gate_conditional_pass</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gate_deferred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gate_passed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gate_proposed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gate_rejected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gate_withdrawn</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ie_reviewed</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lender_reviewed</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48640"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notified_downstream</a:t>
            </a:r>
          </a:p>
        </p:txBody>
      </p:sp>
      <p:sp>
        <p:nvSpPr>
          <p:cNvPr id="40" name="TextBox 39"/>
          <p:cNvSpPr txBox="1"/>
          <p:nvPr/>
        </p:nvSpPr>
        <p:spPr>
          <a:xfrm>
            <a:off x="548640" y="52395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1" name="Rounded Rectangle 40"/>
          <p:cNvSpPr/>
          <p:nvPr/>
        </p:nvSpPr>
        <p:spPr>
          <a:xfrm>
            <a:off x="548640"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2" name="Rounded Rectangle 41"/>
          <p:cNvSpPr/>
          <p:nvPr/>
        </p:nvSpPr>
        <p:spPr>
          <a:xfrm>
            <a:off x="2743199"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 rejected</a:t>
            </a:r>
          </a:p>
        </p:txBody>
      </p:sp>
      <p:sp>
        <p:nvSpPr>
          <p:cNvPr id="43" name="Rounded Rectangle 42"/>
          <p:cNvSpPr/>
          <p:nvPr/>
        </p:nvSpPr>
        <p:spPr>
          <a:xfrm>
            <a:off x="4937758"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gate withdrawn</a:t>
            </a:r>
          </a:p>
        </p:txBody>
      </p:sp>
      <p:sp>
        <p:nvSpPr>
          <p:cNvPr id="44" name="TextBox 4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16 states  ·  3 terminal outcomes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136  ·  OE_IPP_NCRS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Non-conformance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EPC</a:t>
            </a:r>
            <a:r>
              <a:rPr sz="1050" b="0">
                <a:solidFill>
                  <a:srgbClr val="504D46"/>
                </a:solidFill>
                <a:latin typeface="Archivo"/>
              </a:rPr>
              <a:t>   ·   cross-role spine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accepted_as_is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corrective_action_planned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disposition_proposed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disposition_reviewed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raised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reinspection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rejected_escalated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rework_in_progress</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under_investigation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 as is</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 escalated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137  ·  OE_IPP_METHOD_STATEMENTS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Method statement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EPC</a:t>
            </a:r>
            <a:r>
              <a:rPr sz="1050" b="0">
                <a:solidFill>
                  <a:srgbClr val="504D46"/>
                </a:solidFill>
                <a:latin typeface="Archivo"/>
              </a:rPr>
              <a:t>   ·   cross-role spine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active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reviewed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risk_assessed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suspended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toolbox_briefed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work_completed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138  ·  OE_IPP_ENV_MONITORING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Environmental monitoring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compliance_assessed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corrective_action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exceedance_flagged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report_drafted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report_submitted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results_received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sample_submitted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sampling</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scheduled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under_investigation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2 terminal outcomes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143  ·  OE_IPP_CONSTRUCTION_DIARY</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Site diary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EPC</a:t>
            </a:r>
            <a:r>
              <a:rPr sz="1050" b="0">
                <a:solidFill>
                  <a:srgbClr val="504D46"/>
                </a:solidFill>
                <a:latin typeface="Archivo"/>
              </a:rPr>
              <a:t>   ·   cross-role spine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Countersign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missed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voided</a:t>
            </a:r>
          </a:p>
        </p:txBody>
      </p:sp>
      <p:sp>
        <p:nvSpPr>
          <p:cNvPr id="17" name="TextBox 1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12 states  ·  3 terminal outcomes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145  ·  OE_IPP_DLP_DEFECTS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DLP defect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escalated_to_ncr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identified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ie_accepted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in_rectification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notified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rectified_pending_inspection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 to ncr</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sp>
        <p:nvSpPr>
          <p:cNvPr id="35" name="Rounded Rectangle 3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11 states  ·  4 terminal outcomes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150  ·  OE_IPP_LAND_REGISTER</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Land register update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Abandon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Supersede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deeds registered</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abandoned</a:t>
            </a:r>
          </a:p>
        </p:txBody>
      </p:sp>
      <p:sp>
        <p:nvSpPr>
          <p:cNvPr id="18" name="Rounded Rectangle 1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superseded</a:t>
            </a:r>
          </a:p>
        </p:txBody>
      </p:sp>
      <p:sp>
        <p:nvSpPr>
          <p:cNvPr id="19" name="TextBox 1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11 states  ·  3 terminal outcomes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151  ·  OE_IPP_ENV_CLOSURE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Environmental closure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audit_report_drafted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closure_issued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closure_recommended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emp_audit_initiated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nema_review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nema_submission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remediation_complete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remediation_required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site_inspection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stakeholder_review</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closure issued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153  ·  OE_IPP_IE_CERT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IE milestone certification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borrower_review</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cert_issued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cert_rejected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cert_request_submitted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comments_raised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comments_resolved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draft_report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ie_site_visit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 issued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 rejected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9 states  ·  3 terminal outcomes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154  ·  OE_IPP_TPA</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TPA / wheeling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appeal_determined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appeal_filed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application_rejected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commercial_terms_proposed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negotiation_in_progress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network_owner_review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technical_assessment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terms_agreed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tpa_agreement_signed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tpa_application_submitted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wheeling_active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wheeling active</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2 terminal outcomes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157  ·  OE_IPP_REFINANCING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Refinancing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abandoned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conditions_precedent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credit_approval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financial_close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legal_documentation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lender_default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nersa_clearance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recovery_in_progress</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refinancing_mandated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sarb_exchange_control</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term_sheet_signed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financial close</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abandoned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recovery in progress</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158  ·  OE_IPP_FM</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Force majeure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fm_arbitration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fm_arbitration_determined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fm_disputed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fm_event_occurred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fm_monitoring</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fm_notice_issued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fm_notice_verified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fm_prolonged_termination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fm_relief_in_progress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fm_resolved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 resolved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 prolonged termination</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Rounded Rectangle 3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fm arbitration determined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11 states  ·  4 terminal outcomes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160  ·  OE_IPP_CONTRACTOR_DEFAULTS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Contractor default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replacement appointed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settlement agreed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161  ·  OE_IPP_ECO_REPORTS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ECO annual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audit_due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corrective_action_in_progress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eco_appointed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enforcement_referral</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non_compliance_identified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queries_raised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report_drafting</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responses_submitted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site_inspection_in_progress</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submitted_to_dffe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under_review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enforcement referral</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2 terminal outcomes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162  ·  OE_IPP_LTA_CERTIFICATES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LTA drawdown certificate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appeal_determined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appeal_raised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borrower_comments_submitted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certificate_approved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certificate_qualified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certificate_refused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certificate_requested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conditions_resolved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draft_certificate_issued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final_certificate_in_review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progress_assessment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site_inspection_in_progress</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 approved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conditions resolved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 refused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 determined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163  ·  OE_IPP_LAND_AMENDMENTS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Land amendment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 granted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 refused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 determined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164  ·  OE_IPP_COMMUNITY_TRUST_REPORTS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Community trust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accepted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rejected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 determined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165  ·  OE_IPP_GRID_COMPLIANCE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Grid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 compliant notice</a:t>
            </a:r>
          </a:p>
        </p:txBody>
      </p:sp>
      <p:sp>
        <p:nvSpPr>
          <p:cNvPr id="15" name="TextBox 1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2 terminal outcomes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166  ·  OE_IPP_CCC_NEGOTIATIONS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Connection cost contribution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arbitration_in_progress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ccc_agreed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ccc_initiated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ccc_rejected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cost_assessment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dispute_filed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expert_determination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ipp_review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load_flow_study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negotiation_in_progress</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provisional_agreement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regulatory_determination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ccc agreed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ccc 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regulatory determination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167  ·  OE_IPP_OM_CONTRACTS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O&amp;M contract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contract executed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renewal failed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novation executed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168  ·  OE_IPP_BFS_STUDIES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BFS study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analysis_in_progress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bfs_certified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bfs_rejected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data_collection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draft_bfs_issued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ipp_comments_submitted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peer_review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queries_raised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responses_submitted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scope_definition</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bfs certified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bfs rejected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11 states  ·  2 terminal outcomes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169  ·  OE_IPP_EA_AMENDMENTS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EA amendment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amendment_granted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amendment_refused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application_in_preparation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application_submitted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dffe_completeness_review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dffe_final_review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ea_amendment_triggered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public_participation_closed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public_participation_open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s24g_referral</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scope_defined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specialist_review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 granted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 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s24g referral</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170  ·  OE_IPP_WUL_APPLICATIONS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Water-use licence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application_preparation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application_submitted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dws_completeness_review</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dws_final_review</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public_participation_closed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public_participation_open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site_assessment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technical_assessment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wul_application_triggered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wul_granted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wul_lapsed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wul_refused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 granted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 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wul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171  ·  OE_IPP_HRA_ASSESSMENTS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Heritage assessment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desktop_study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field_survey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final_review</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heritage_watchlist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hra_approved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hra_refused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hra_report_preparation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hra_submitted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hra_triggered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sahra_review</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specialist_assessment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 approved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hra 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heritage watchlist</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172  ·  OE_IPP_AEL_APPLICATIONS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AEL application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ael_granted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ael_lapsed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ael_refused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ael_triggered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application_preparation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application_submitted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authority_completeness_review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authority_final_review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emissions_inventory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public_participation_closed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public_participation_open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technical_assessment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 granted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 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ael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174  ·  OE_IPP_LC_REPORTS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Local content &amp; SED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clarification_requested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clarification_submitted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completeness_check</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conditional_compliance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data_collection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internal_verification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non_compliant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period_open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report_preparation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report_submitted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technical_assessment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 compliant</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conditional compliance</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175  ·  OE_IPP_MILESTONE_CERTIFICATIONS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Milestone certification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milestone certified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milestone rejected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milestone lapsed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176  ·  OE_IPP_ESMR</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E&amp;S monitoring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certificate_issued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certificate_withheld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clarification_requested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clarification_submitted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data_collection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lender_ta_review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material_breach_declared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monitoring_compilation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report_submitted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reporting_period_open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ta_report_preparation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 issued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 withheld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material breach declared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177  ·  OE_IPP_IE_ANNUAL_REVIEWS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IE annual review</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data_submission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draft_report_issued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escalated_to_lenders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ie_analysis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ie_field_inspection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ie_final_review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ipp_response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remediation_required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report_issued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review_closed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review_triggered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scope_definition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review 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remediation required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 to lenders</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178  ·  OE_IPP_INSURANCE_RENEWALS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Insurance renewal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broker_instruction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confirmed_adequate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confirmed_inadequate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coverage_gap_analysis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coverage_lapsed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documentation_preparation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documents_submitted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ipp_lender_review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lender_confirmation_requested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market_placement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renewal_triggered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terms_received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confirmed adequate</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confirmed inadequate</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coverage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179  ·  OE_IPP_PERF_SECURITIES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Performance security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security confirmed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security rejected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security lapsed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180  ·  OE_IPP_CEP_COMPLIANCE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Community equity participation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cep_compliant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cep_lapsed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cep_non_compliant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cep_triggered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community_dev_verification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distribution_calculation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distributions_paid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dmre_submission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documentation_compiled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payment_preparation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stakeholder_identification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trustee_approval</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 compliant</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 non compliant</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cep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181  ·  OE_IPP_SED_COMPLIANCE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SED annual spend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audit_complete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beneficiary_identification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board_approval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dmre_submission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expenditure_verification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independent_audit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programme_planning</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sed_compliant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sed_lapsed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sed_non_compliant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sed_triggered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spend_execution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 compliant</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 non compliant</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sed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182  ·  OE_IPP_BBBEE_VERIFICATION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BBBEE verification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agency_assessment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agency_engagement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bbbee_non_compliant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bbbee_verified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certificate_issued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certificate_lapsed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data_submission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documentation_preparation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final_assessment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ipp_review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preliminary_score_issued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verification_triggered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bbbee verified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bbbee non compliant</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certificate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183  ·  OE_IPP_LENDER_REPORTING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Lender reporting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package acknowledged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package disputed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covenant breach</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184  ·  OE_IPP_LICENCE_RETURNS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NERSA licence return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acknowledgement_pending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board_approval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clarification_requested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clarification_submitted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data_assembly</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internal_review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nersa_review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portal_submission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return_accepted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return_lapsed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return_rejected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return_triggered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 accepted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 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185  ·  OE_IPP_REIPPPP_REPORTS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REIPPPP progress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acknowledgement_pending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board_approval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data_collection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ed_spend_reconciliation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internal_review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ipp_office_submission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job_creation_tabulation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local_content_verification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report_accepted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report_cycle_opened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report_lapsed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report_rejected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accepted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186  ·  OE_IPP_EQUITY_TRANSFERS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Equity transfer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transfer completed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transfer rejected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transfer lapsed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187  ·  OE_IPP_QUARTERLY_GEN_REPORTS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Quarterly generation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accepted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rejected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lapsed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188  ·  OE_IPP_ANNUAL_COMPLIANCE_ASSESSMENTS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Annual compliance assessment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assessment accepted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assessment deficient</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assessment lapsed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189  ·  OE_IPP_ANNUAL_AUDITS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Annual audit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audit_completed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audit_cycle_opened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audit_fieldwork</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audit_lapsed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audit_qualified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audit_queries_resolution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board_approval</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cipc_submission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draft_opinion_review</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management_accounts_review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trial_balance_preparation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year_end_journals</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 completed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 qualified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audit lapsed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190  ·  OE_EMP_COMPLIANCE_REPORTS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EMP compliance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accepted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rejected</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report lapsed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192  ·  OE_CP_TRACKER</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Conditions precedent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conditional_pass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cure_underway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documented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identified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notice_served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outstanding</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satisfied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submitted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under_verification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satisfied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198  ·  OE_KYC_VERIFICATIONS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KYC verification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Admin</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Reinstate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Suspend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Verify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0" name="Rounded Rectangle 1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verified</a:t>
            </a:r>
          </a:p>
        </p:txBody>
      </p:sp>
      <p:sp>
        <p:nvSpPr>
          <p:cNvPr id="21" name="Rounded Rectangle 2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2" name="Rounded Rectangle 2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23" name="TextBox 22"/>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4 actions  ·  11 states  ·  3 terminal outcomes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202  ·  OE_GREEN_BOND_REPORTS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Green bond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Publish</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Refile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published</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1" name="TextBox 2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14 states  ·  3 terminal outcomes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IPP LIFECYCLE  ·  WAVE 207  ·  OE_MILESTONE_VARIANCE_REPORTS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Milestone variance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project · per stage-gate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dfi accepted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remediation accepted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critical delay</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12 states  ·  4 terminal outcomes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Offtake &amp; PPA</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16 process flows drawn  ·  owner: Offtaker  ·  metered: per MWh settled · per PPA</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7  ·  OE_OFFTAKER_PPA_OBLIGATIONS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delivery obligation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a:t>
            </a:r>
            <a:r>
              <a:rPr sz="1050" b="0">
                <a:solidFill>
                  <a:srgbClr val="504D46"/>
                </a:solidFill>
                <a:latin typeface="Archivo"/>
              </a:rPr>
              <a:t>   ·   single-role flow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Accept cure plan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delivered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take or pay</a:t>
            </a:r>
          </a:p>
        </p:txBody>
      </p:sp>
      <p:sp>
        <p:nvSpPr>
          <p:cNvPr id="17" name="TextBox 1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5 states  ·  3 terminal outcomes</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22  ·  OE_PPA_CONTRACT_CHAIN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contract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a:t>
            </a:r>
            <a:r>
              <a:rPr sz="1050" b="0">
                <a:solidFill>
                  <a:srgbClr val="504D46"/>
                </a:solidFill>
                <a:latin typeface="Archivo"/>
              </a:rPr>
              <a:t>   ·   single-role flow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Execute PPA</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Commence delivery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Terminate PPA</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Begin negotiation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Lock terms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Legal sign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Cancel PPA</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Dispute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Resolve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Expire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terminated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10 states  ·  3 terminal outcomes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32  ·  OE_TOP_CASES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Take-or-pay case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Propose quantum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Accept quantum</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Settle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Dispute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Close year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Issue statement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Request evidence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Submit evidence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Waive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10 states  ·  3 terminal outcomes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39  ·  OE_TARIFF_INDEXATION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Tariff indexation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Agree tariff</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Apply tariff</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Raise dispute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Publish index</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Calculate escalation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Issue notice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Recalculate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Reissue notice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Refer to arbitration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applied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arbitrated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11 states  ·  3 terminal outcomes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43  ·  OE_TARIFF_DETERMINATIONS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Tariff determination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 → Grid</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Open public consultation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Issue determination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Request reconsideration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 application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analysis</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Prepare draft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Table for council</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Implement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Remit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implemented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remitted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5" name="Rounded Rectangle 3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4 terminal outcomes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46  ·  OE_CURTAILMENT_CLAIMS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Curtailment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claim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Confirm compensable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Settle compensation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Dispute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classification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Reject non-compensable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validation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Propose quantum</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Agree quantum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Recalculate quantum</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Refer to arbitration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claim</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compensation settled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arbitrated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 compensable</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54  ·  OE_PPA_PAYMENT_SECURITIES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Payment security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instrument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Activate security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Initiate drawdown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Forfeit security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verification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Reject instrument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Open adequacy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Confirm adequate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Require increase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Open replenishment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Flag expiry</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Release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released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forfeited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62  ·  OE_PPA_TERMINATIONS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termination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Serve notice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Confirm termination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Agree ETA</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Dispute ETA</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Open cure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Confirm cure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Escalate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Open eta assessment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Resolve dispute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Initiate settlement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Confirm settlement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reinstated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78  ·  OE_PPA_CHANGE_IN_LAW</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change-in-law</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claim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Issue determination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Refer to arbitration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Implement relief</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Withdraw claim</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Open eligibility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Confirm eligible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Reject ineligible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Acknowledge claim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Enter negotiation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Dispute claim</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Reach agreement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Determine no relief</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Award relief</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Award no relief</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0" name="Rounded Rectangle 3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implemented</a:t>
            </a:r>
          </a:p>
        </p:txBody>
      </p:sp>
      <p:sp>
        <p:nvSpPr>
          <p:cNvPr id="41" name="Rounded Rectangle 4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42" name="Rounded Rectangle 4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3" name="TextBox 42"/>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15 actions  ·  12 states  ·  3 terminal outcomes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87  ·  OE_PPA_NOMINATIONS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nomination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DA nomination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Ingest meter</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Reconcile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Settle deviation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Raise dispute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Confirm da</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Reject da</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Submit id revision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 gate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Complete delivery</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Excuse period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Cancel nomination</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deviation settled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excused</a:t>
            </a:r>
          </a:p>
        </p:txBody>
      </p:sp>
      <p:sp>
        <p:nvSpPr>
          <p:cNvPr id="38" name="Rounded Rectangle 3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12 states  ·  3 terminal outcomes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101  ·  OE_PPA_ANNUAL_RECON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annual reconciliation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Reconcile year</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Sign off</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Settle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Raise dispute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Restate year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Collect data</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Classify variance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Compute top residual</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Apply cpi capacity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Resolve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Invoice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Cancel year</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restated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103  ·  OE_ESG_DISCLOSURE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ESG disclosure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 → Offtaker → Regulator</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Engage assurance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Complete assurance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File with regulator</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Restate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Collect data</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Verify boundary</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Compute metrics</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Compile draft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Submit for review</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Start assurance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Publish disclosure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Archive year</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Raise dispute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Resolve dispute</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Cancel year</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0" name="Rounded Rectangle 3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1" name="Rounded Rectangle 4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2" name="TextBox 4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15 actions  ·  0 states  ·  2 terminal outcomes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155  ·  OE_IPP_PPA_VARIATION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PPA variation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variation application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ppa amended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 determined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0 states  ·  4 terminal outcomes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197  ·  OE_UNSERVED_ENERGY_CLAIMS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Unserved-energy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Grid</a:t>
            </a:r>
            <a:r>
              <a:rPr sz="1050" b="0">
                <a:solidFill>
                  <a:srgbClr val="504D46"/>
                </a:solidFill>
                <a:latin typeface="Archivo"/>
              </a:rPr>
              <a:t>   ·   cross-role spine   ·   metered: per MWh settled · per PPA</a:t>
            </a:r>
          </a:p>
        </p:txBody>
      </p:sp>
      <p:sp>
        <p:nvSpPr>
          <p:cNvPr id="11" name="TextBox 10"/>
          <p:cNvSpPr txBox="1"/>
          <p:nvPr/>
        </p:nvSpPr>
        <p:spPr>
          <a:xfrm>
            <a:off x="548640" y="2194560"/>
            <a:ext cx="10972800" cy="91440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Operational surface — list, initiate and maintain records; state transitions are governed at the action level with audit on every change.</a:t>
            </a:r>
          </a:p>
        </p:txBody>
      </p:sp>
      <p:sp>
        <p:nvSpPr>
          <p:cNvPr id="12" name="TextBox 1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3" name="Rounded Rectangle 1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claim settled</a:t>
            </a:r>
          </a:p>
        </p:txBody>
      </p:sp>
      <p:sp>
        <p:nvSpPr>
          <p:cNvPr id="14" name="Rounded Rectangle 1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award made</a:t>
            </a:r>
          </a:p>
        </p:txBody>
      </p:sp>
      <p:sp>
        <p:nvSpPr>
          <p:cNvPr id="15" name="Rounded Rectangle 1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claim withdrawn</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0 states  ·  3 terminal outcomes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204  ·  OE_SLB_KPI_RATCHETS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SLB KPI ratchet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a:t>
            </a:r>
            <a:r>
              <a:rPr sz="1050" b="0">
                <a:solidFill>
                  <a:srgbClr val="504D46"/>
                </a:solidFill>
                <a:latin typeface="Archivo"/>
              </a:rPr>
              <a:t>   ·   single-role flow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ratchet applied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ratchet waived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kpi missed</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0 states  ·  4 terminal outcomes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OFFTAKE &amp; PPA  ·  WAVE 210  ·  OE_GREEN_TARIFF_DISCLOSURES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Green-tariff disclosure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Support</a:t>
            </a:r>
            <a:r>
              <a:rPr sz="1050" b="0">
                <a:solidFill>
                  <a:srgbClr val="504D46"/>
                </a:solidFill>
                <a:latin typeface="Archivo"/>
              </a:rPr>
              <a:t>   ·   cross-role spine   ·   metered: per MWh settled · per PPA</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Reject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Withdraw</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disclosed</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18" name="Rounded Rectangle 1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9" name="TextBox 1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0 states  ·  3 terminal outcomes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Trading &amp; settlement</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22 process flows drawn  ·  owner: Trader  ·  metered: bps on notional · per settlement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0  ·  OE_IPP_VARIATION_ORDERS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Variation order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adjudicated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completed_pending_payment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disputed_pricing</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in_progress</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instructed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paid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quotation_reviewed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quotation_submitted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paid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adjudicated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16  ·  OM_WORK_ORDERS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Work order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Depart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Arrive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Diagnose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Repair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Test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Complete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Assign technician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Verify completion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Cancel work order</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2 terminal outcomes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16  ·  OM_WORK_ORDERS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Work order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Assign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Acknowledge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Arrive on site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Diagnose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Repair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Complete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Verify</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Cancel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Depart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Test</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2 terminal outcomes</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29  ·  OE_POSLIMIT_CASES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Position limit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 → Regulator</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reduction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Issue margin call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Force liquidate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Raise warning</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Escalate intraday</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Escalate overnight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Require reduction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Accept cure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Mark false alarm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false alarm</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9 states  ·  3 terminal outcomes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31  ·  OE_DISPOSITION_CASES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Disposition case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Triage case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Require corrective action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Escalate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Assign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investigation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action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Complete action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Dismiss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Refer</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dismissed</a:t>
            </a:r>
          </a:p>
        </p:txBody>
      </p:sp>
      <p:sp>
        <p:nvSpPr>
          <p:cNvPr id="34" name="Rounded Rectangle 33"/>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referred</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11 states  ·  4 terminal outcomes</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36  ·  OE_BEST_EXECUTION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Best execution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execution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Escalate exception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Solicit quotes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Record quotes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Evaluate best execution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Execute order</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Execute with override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Review TCA</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 case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Expire RFQ</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exception escalated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rfq expired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11 states  ·  3 terminal outcomes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44  ·  OE_TRADE_REPORTS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Trade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to repository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Flag reconciliation break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Generate report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Acknowledge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Reconcile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Resolve break</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Correct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Confirm complete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Reject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Exempt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Cancel</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confirmed complete</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exempted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3 terminal outcomes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52  ·  OE_MARKET_ABUSE_CASES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Market abuse case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 → Regulator</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Clear case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File STOR</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Triage alert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Open investigation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Compile evidence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Complete analysis</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Dismiss alert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Refer to regulator</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Commence enforcement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Impose sanction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Raise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Resolve dispute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cleared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sanctioned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 resolved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60  ·  OE_ALGO_CERTIFICATIONS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Algo certification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 → Regulator</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Grant certification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Invoke kill-switch</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Begin documentation review</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Start conformance testing</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Validate risk controls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Submit for certification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Deploy live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Trigger recertification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Complete recertification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Reinstate system</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Require remediation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Resubmit after remediation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Reject certification</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Decommission system</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decommissioned</a:t>
            </a:r>
          </a:p>
        </p:txBody>
      </p:sp>
      <p:sp>
        <p:nvSpPr>
          <p:cNvPr id="40" name="TextBox 3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12 states  ·  2 terminal outcomes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76  ·  OE_TRADE_ALLOCATIONS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Trade allocation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Affirm confirmation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Flag break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Prepare allocation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Allocate block</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Designate give up</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Accept give up</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Issue confirmation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Match trade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Instruct settlement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Settle trade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break</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Cancel trade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2 terminal outcomes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81  ·  OE_PROJECT_CHANGE_ORDERS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Change order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change order</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Incorporate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Cancel</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screening</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Submit for approval</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Defer</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Resubmit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Resolve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incorporated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Rounded Rectangle 3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4 terminal outcomes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84  ·  OE_BLACK_START_CAPABILITIES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Black-start capability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 → Trader</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Award contract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Complete drill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Recertify capability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Fail drill</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Terminate contract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Issue solicitation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Close solicitation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Execute contract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Schedule drill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Commence drill</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Require remediation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Complete remediation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recertified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contract terminated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2 terminal outcomes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85  ·  OE_SETTLEMENT_FAILS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Settlement fail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Initiate buy-in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Close resolved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Write off</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Record fail</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Grant extension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penalty</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Execute buy in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Settle buy in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Switch cash compensation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Close cash</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Raise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Resolve dispute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Suspend force majeure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Resume</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resolved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40" name="TextBox 3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12 states  ·  2 terminal outcomes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90  ·  OE_BENCHMARK_TRANSITIONS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Benchmark transition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Assess impact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Classify fallback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Notify counterparty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Execute amendment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Settle value transfer</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Complete transition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Raise dispute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Cancel</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Record response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Draft amendment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Place on hold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Resume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Terminate legacy</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transitioned clean</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terminated legacy</a:t>
            </a:r>
          </a:p>
        </p:txBody>
      </p:sp>
      <p:sp>
        <p:nvSpPr>
          <p:cNvPr id="40" name="Rounded Rectangle 3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1" name="TextBox 4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13 states  ·  3 terminal outcomes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105  ·  OE_IMBALANCE_SETTLEMENT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Imbalance settlement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Receive meter data</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Reconcile nominations</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Issue invoice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Acknowledge invoice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Open dispute window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Resolve dispute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Revise invoice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Record payment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Archive period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Cancel period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Compute imbalance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Price imbalance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Raise dispute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Mark settled</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0" name="Rounded Rectangle 3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1" name="TextBox 4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15 states  ·  3 terminal outcomes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107  ·  OE_PRETRADE_CREDIT_CHECK</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Pre-trade credit check</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Verify KYC</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Check credit line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Assess settlement risk</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Check concentration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Verify halt status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Validate mark age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Manually reject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5" name="Rounded Rectangle 24"/>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cleared</a:t>
            </a:r>
          </a:p>
        </p:txBody>
      </p:sp>
      <p:sp>
        <p:nvSpPr>
          <p:cNvPr id="26" name="Rounded Rectangle 25"/>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27" name="Rounded Rectangle 26"/>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8" name="Rounded Rectangle 27"/>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manually cleared</a:t>
            </a:r>
          </a:p>
        </p:txBody>
      </p:sp>
      <p:sp>
        <p:nvSpPr>
          <p:cNvPr id="29" name="Rounded Rectangle 28"/>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manually rejected</a:t>
            </a:r>
          </a:p>
        </p:txBody>
      </p:sp>
      <p:sp>
        <p:nvSpPr>
          <p:cNvPr id="30" name="TextBox 2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7 actions  ·  0 states  ·  5 terminal outcomes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111  ·  OE_PNL_ATTRIBUTION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P&amp;L attribution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Run MTM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Compute realised P&amp;L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Compute unrealised P&amp;L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Decompose attribution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Decompose risk</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Compare to benchmark</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Submit to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Hold for 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Override hold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Reconcile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Archive P&amp;L</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Flag variance investigation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Approve P&amp;L</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Publish P&amp;L</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Restate P&amp;L</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0" name="Rounded Rectangle 3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1" name="TextBox 4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15 actions  ·  15 states  ·  1 terminal outcome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201  ·  OE_FSCA_COMPLIANCE_REPORTS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FSCA compliance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 → Support</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Refile after remediation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filed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refiled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revocation risk</a:t>
            </a:r>
          </a:p>
        </p:txBody>
      </p:sp>
      <p:sp>
        <p:nvSpPr>
          <p:cNvPr id="17" name="TextBox 1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0 states  ·  3 terminal outcomes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216  ·  OE_FSCA_CONDUCT_REPORTS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FSCA conduct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Reject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Withdraw</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Accept report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Escalate breach</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0" name="Rounded Rectangle 1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21" name="Rounded Rectangle 2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2" name="Rounded Rectangle 2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23" name="Rounded Rectangle 22"/>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4" name="TextBox 2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4 actions  ·  10 states  ·  4 terminal outcomes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222  ·  OE_CROSS_BORDER_TRADES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Cross-border trade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application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trade executed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fsca rejected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sarb rejected</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8" name="Rounded Rectangle 17"/>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19" name="TextBox 1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12 states  ·  5 terminal outcomes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229  ·  OE_VIRTUAL_PPA_SETTLEMENTS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Virtual PPA / CfD settlement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Cancel settlement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Acknowledge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Dispute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1" name="TextBox 2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12 states  ·  3 terminal outcomes</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TRADING &amp; SETTLEMENT  ·  WAVE 232  ·  OE_ISDA_AGREEMENTS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ISDA agreement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bps on notional · per settlement</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Suspend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Activate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Terminate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executed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active</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terminated</a:t>
            </a:r>
          </a:p>
        </p:txBody>
      </p:sp>
      <p:sp>
        <p:nvSpPr>
          <p:cNvPr id="21" name="Rounded Rectangle 20"/>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suspended</a:t>
            </a:r>
          </a:p>
        </p:txBody>
      </p:sp>
      <p:sp>
        <p:nvSpPr>
          <p:cNvPr id="22" name="TextBox 2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12 states  ·  4 terminal outcomes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Carbon</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21 process flows drawn  ·  owner: Carbon Fund  ·  metered: per credit issued / retired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0  ·  OE_CARBON_BUDGET_REGISTRATIONS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Carbon budget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Finalise</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final</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15 states  ·  2 terminal outcomes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0  ·  OE_CERTIFICATE_BUNDLES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Certificate bundle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Validate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Retire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Expire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Cancel</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0" name="Rounded Rectangle 1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retired</a:t>
            </a:r>
          </a:p>
        </p:txBody>
      </p:sp>
      <p:sp>
        <p:nvSpPr>
          <p:cNvPr id="21" name="Rounded Rectangle 2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22" name="Rounded Rectangle 2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3" name="TextBox 22"/>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4 actions  ·  7 states  ·  3 terminal outcomes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0  ·  OE_VCM_PROJECTS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VCM project development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Cancel</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credits issued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14 states  ·  2 terminal outcomes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4  ·  OE_ARTICLE6_ADJUSTMENTS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Article 6 corresponding adjustment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 → Trader → Regulator</a:t>
            </a:r>
            <a:r>
              <a:rPr sz="1050" b="0">
                <a:solidFill>
                  <a:srgbClr val="504D46"/>
                </a:solidFill>
                <a:latin typeface="Archivo"/>
              </a:rPr>
              <a:t>   ·   cross-role spine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Block</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Unblock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unfccc ledger</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blocked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5 states  ·  2 terminal outcomes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11  ·  MRV_SUBMISSIONS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MRV verification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 → Regulator</a:t>
            </a:r>
            <a:r>
              <a:rPr sz="1050" b="0">
                <a:solidFill>
                  <a:srgbClr val="504D46"/>
                </a:solidFill>
                <a:latin typeface="Archivo"/>
              </a:rPr>
              <a:t>   ·   cross-role spine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Authorize issuance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Issue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Start review</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Withdraw submission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2" name="Rounded Rectangle 2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doe opinion adverse</a:t>
            </a:r>
          </a:p>
        </p:txBody>
      </p:sp>
      <p:sp>
        <p:nvSpPr>
          <p:cNvPr id="23" name="Rounded Rectangle 2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doe opinion disclaimer</a:t>
            </a:r>
          </a:p>
        </p:txBody>
      </p:sp>
      <p:sp>
        <p:nvSpPr>
          <p:cNvPr id="24" name="Rounded Rectangle 2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cra rejected</a:t>
            </a:r>
          </a:p>
        </p:txBody>
      </p:sp>
      <p:sp>
        <p:nvSpPr>
          <p:cNvPr id="25" name="Rounded Rectangle 2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issued</a:t>
            </a:r>
          </a:p>
        </p:txBody>
      </p:sp>
      <p:sp>
        <p:nvSpPr>
          <p:cNvPr id="26" name="Rounded Rectangle 25"/>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7" name="TextBox 2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5 actions  ·  14 states  ·  5 terminal outcomes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17  ·  CARBON_RETIREMENTS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Credit retirement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validation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Finalize retirement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Mark adjustment pending</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Mark adjusted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Cancel</a:t>
            </a:r>
          </a:p>
        </p:txBody>
      </p:sp>
      <p:sp>
        <p:nvSpPr>
          <p:cNvPr id="22" name="TextBox 21"/>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3" name="Rounded Rectangle 22"/>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retired</a:t>
            </a:r>
          </a:p>
        </p:txBody>
      </p:sp>
      <p:sp>
        <p:nvSpPr>
          <p:cNvPr id="24" name="Rounded Rectangle 23"/>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5" name="Rounded Rectangle 24"/>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6" name="TextBox 2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6 actions  ·  0 states  ·  3 terminal outcomes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37  ·  OE_CARBON_REGISTRATION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Project registration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for validation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Register project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Draft pdd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Request corrections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Resubmit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Open consultation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Authorize dna</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Request registration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Activate crediting</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crediting active</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11 states  ·  3 terminal outcomes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42  ·  OE_CARBON_REVERSALS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Carbon reversal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assessment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Cancel buffer credits</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Escalate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Quantify loss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Propose buffer cancellation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Verify remediation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Require replacement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Submit replacement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Verify replacement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Close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Dismiss false alarm</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false alarm</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3 terminal outcomes</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48  ·  OE_CARBON_OFFSET_CLAIMS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Carbon offset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 → Offtaker</a:t>
            </a:r>
            <a:r>
              <a:rPr sz="1050" b="0">
                <a:solidFill>
                  <a:srgbClr val="504D46"/>
                </a:solidFill>
                <a:latin typeface="Archivo"/>
              </a:rPr>
              <a:t>   ·   cross-role spine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claim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Grant allowance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Claw back</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Screen eligibility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Earmark credits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Raise query</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Respond query</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Reject claim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Apply to return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Reconcile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reconciled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clawed back</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56  ·  OE_CREDITING_PERIOD_RENEWALS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Crediting renewal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application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Renew crediting period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Refuse renewal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Check completeness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Request revision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Resubmit application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baseline reassessment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Complete baseline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Complete additionality retest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Validate (VVB)</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 application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Lapse renewal</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renewed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65  ·  OE_CARBON_ERPAS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Carbon ERPA</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Verify delivery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Flag shortfall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Settle delivery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Execute erpa</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Schedule delivery</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Initiate delivery</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Initiate make good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Complete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Raise dispute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Resolve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Terminate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terminated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68  ·  OE_COUNTERPARTY_MARGIN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Counterparty margin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Trader</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Issue margin call</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Declare default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Record collateral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Cure breach</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Restrict positions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Open cure period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close-out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Draw default fund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Record recovery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Write off</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Issue warning</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recovered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70  ·  OE_REC_LIFECYCLE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REC certificate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IPP</a:t>
            </a:r>
            <a:r>
              <a:rPr sz="1050" b="0">
                <a:solidFill>
                  <a:srgbClr val="504D46"/>
                </a:solidFill>
                <a:latin typeface="Archivo"/>
              </a:rPr>
              <a:t>   ·   cross-role spine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issuance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Allocate consumption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Retire certificate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Claw back</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eligibility 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Reject issuance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List for transfer</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Transfer certificate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Raise dispute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Resolve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Cancel certificate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Expire certificate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retired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clawed back</a:t>
            </a:r>
          </a:p>
        </p:txBody>
      </p:sp>
      <p:sp>
        <p:nvSpPr>
          <p:cNvPr id="38" name="Rounded Rectangle 37"/>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5 terminal outcomes</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73  ·  OE_POA_CPA_INCLUSIONS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CPA inclusion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Screen eligibility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inclusion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Exclude CPA</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Check methodology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Request loa</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Submit inclusion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monitoring</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Verify period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Continue monitoring</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Reject cpa</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 cpa</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Complete cpa</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excluded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82  ·  OE_CARBON_ISSUANCES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Credit issuance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screening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Verify against MRV</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Confirm issuance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Assign serials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Submit to registry</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Place on hold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Resume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Return for correction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Resubmit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Raise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Resolve dispute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Withdraw</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Cancel</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issued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40" name="Rounded Rectangle 3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1" name="Rounded Rectangle 40"/>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2" name="TextBox 4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0 states  ·  4 terminal outcomes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91  ·  OE_CCP_ASSESSMENTS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CCP assessment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assessment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Submit for decision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Grant CCP label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Deny CCP label</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screening</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eligibility check</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Complete vvb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Place on hold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Resume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Return for remediation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Resubmit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Raise dispute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Resolve dispute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Withdraw</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ccp label granted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ccp label denied</a:t>
            </a:r>
          </a:p>
        </p:txBody>
      </p:sp>
      <p:sp>
        <p:nvSpPr>
          <p:cNvPr id="40" name="Rounded Rectangle 3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1" name="TextBox 4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0 states  ·  3 terminal outcomes</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109  ·  OE_CARBON_CREDIT_RATING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Credit quality rating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Start desk review</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Compute composite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Publish rating</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Escalate to integrity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Score methodology</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Score additionality</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Score permanence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Score leakage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Score cobenefits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Start monitoring</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Trigger rerating</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Rerate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Downgrade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Withdraw</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Remediate</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0" name="Rounded Rectangle 3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 rated</a:t>
            </a:r>
          </a:p>
        </p:txBody>
      </p:sp>
      <p:sp>
        <p:nvSpPr>
          <p:cNvPr id="41" name="Rounded Rectangle 4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2" name="Rounded Rectangle 4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 to integrity</a:t>
            </a:r>
          </a:p>
        </p:txBody>
      </p:sp>
      <p:sp>
        <p:nvSpPr>
          <p:cNvPr id="43" name="Rounded Rectangle 42"/>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downgraded</a:t>
            </a:r>
          </a:p>
        </p:txBody>
      </p:sp>
      <p:sp>
        <p:nvSpPr>
          <p:cNvPr id="44" name="TextBox 4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15 actions  ·  0 states  ·  4 terminal outcomes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200  ·  OE_CARBON_TAX_RETURNS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Carbon tax return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allowances_applied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assessment_issued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data_collection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emissions_calc</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internal_approved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payment_made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period_open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return_prepared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submitted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under_sars_review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payment made</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2 terminal outcomes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206  ·  OE_CARBON_REGISTRY_TRANSFERS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Registry transfer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Authorize transfer</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 notified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aml rejected</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registry rejected</a:t>
            </a:r>
          </a:p>
        </p:txBody>
      </p:sp>
      <p:sp>
        <p:nvSpPr>
          <p:cNvPr id="18" name="Rounded Rectangle 17"/>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19" name="TextBox 1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13 states  ·  5 terminal outcomes</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213  ·  OE_METHODOLOGY_AMENDMENTS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Methodology amendment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a:t>
            </a:r>
            <a:r>
              <a:rPr sz="1050" b="0">
                <a:solidFill>
                  <a:srgbClr val="504D46"/>
                </a:solidFill>
                <a:latin typeface="Archivo"/>
              </a:rPr>
              <a:t>   ·   single-role flow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amendment_approved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amendment_rejected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deviation_identified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dna_notified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major_deviation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materiality_assessment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methodology_update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minor_deviation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revalidation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validator_assigned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 approved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 rejected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11 states  ·  3 terminal outcomes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CARBON  ·  WAVE 225  ·  OE_CARBON_SCOPE3_DISCLOSURES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Scope 3 disclosure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Carbon → Offtaker</a:t>
            </a:r>
            <a:r>
              <a:rPr sz="1050" b="0">
                <a:solidFill>
                  <a:srgbClr val="504D46"/>
                </a:solidFill>
                <a:latin typeface="Archivo"/>
              </a:rPr>
              <a:t>   ·   cross-role spine   ·   metered: per credit issued / retired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Close data collection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Complete review</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Issue assurance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File disclosure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0" name="Rounded Rectangle 1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disclosure filed</a:t>
            </a:r>
          </a:p>
        </p:txBody>
      </p:sp>
      <p:sp>
        <p:nvSpPr>
          <p:cNvPr id="21" name="Rounded Rectangle 2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assurance qualified</a:t>
            </a:r>
          </a:p>
        </p:txBody>
      </p:sp>
      <p:sp>
        <p:nvSpPr>
          <p:cNvPr id="22" name="Rounded Rectangle 2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3" name="TextBox 22"/>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4 actions  ·  0 states  ·  3 terminal outcomes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Grid operations</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18 process flows drawn  ·  owner: Grid Operator  ·  metered: per connection · per MW dispatched</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13  ·  OE_DISPATCH_NOMINATIONS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Dispatch nomination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 → Regulator</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Accept nomination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Settle imbalance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Raise dispute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 nomination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Activate dispatch</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Record performance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Close out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Resolve dispute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 disputed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9" name="Rounded Rectangle 28"/>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0" name="Rounded Rectangle 29"/>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nomination rejected</a:t>
            </a:r>
          </a:p>
        </p:txBody>
      </p:sp>
      <p:sp>
        <p:nvSpPr>
          <p:cNvPr id="31" name="Rounded Rectangle 30"/>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disputed</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9 actions  ·  10 states  ·  3 terminal outcomes</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18  ·  OE_PLANNED_OUTAGES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Planned outage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Grid</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for review</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outage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 outage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Cancel</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Reschedule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Notify</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Commence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Begin restore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Mark restored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Close</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3 terminal outcomes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28  ·  OE_GCA_CONNECTIONS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Grid connection agreement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Grid</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Accept cost estimate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Execute agreement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Energise connection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 application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Request studies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studies</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Issue cost estimate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Draft agreement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Begin construction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Commission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 service</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12 states  ·  3 terminal outcomes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34  ·  OE_LOAD_CURTAILMENT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Load curtailment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 → IPP</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 instruction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Lift instruction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Refuse instruction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Start curtailment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Report target achieved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Report partial</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Reconcile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Open post mortem</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 post mortem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Close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11 states  ·  3 terminal outcomes</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50  ·  OE_RESERVE_ACTIVATIONS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Reserve activation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 → IPP</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 activation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Settle activation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Flag non-performance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Begin ramp</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Confirm sustaining</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Release instruction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Open 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Verify performance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Settle penalty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Raise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instruction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 resolved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58  ·  OE_GRID_CAPACITY_ALLOCATIONS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Capacity allocation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 → IPP</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Issue capacity offer</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Accept offer</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Allocate capacity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Reject application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Withdraw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2" name="Rounded Rectangle 2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capacity allocated</a:t>
            </a:r>
          </a:p>
        </p:txBody>
      </p:sp>
      <p:sp>
        <p:nvSpPr>
          <p:cNvPr id="23" name="Rounded Rectangle 2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4" name="Rounded Rectangle 2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25" name="Rounded Rectangle 2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relinquished</a:t>
            </a:r>
          </a:p>
        </p:txBody>
      </p:sp>
      <p:sp>
        <p:nvSpPr>
          <p:cNvPr id="26" name="Rounded Rectangle 25"/>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7" name="TextBox 2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5 actions  ·  12 states  ·  5 terminal outcomes</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67  ·  OE_GRID_CODE_COMPLIANCE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Grid code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Grid</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corrective-action plan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CAP</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Escalate to disconnection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Raise non conformance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assessment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Require corrective action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Reject cap</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Begin remediation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Initiate retest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Confirm compliance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Impose restriction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 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disconnection issued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67  ·  OE_GRID_CODE_COMPLIANCE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Grid-code non-conformance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a:t>
            </a:r>
            <a:r>
              <a:rPr sz="1050" b="0">
                <a:solidFill>
                  <a:srgbClr val="504D46"/>
                </a:solidFill>
                <a:latin typeface="Archivo"/>
              </a:rPr>
              <a:t>   ·   single-role flow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Raise non-conformance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Begin assessment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Require corrective action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Approve CAP</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remediation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Initiate retest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Confirm compliance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Impose operating restriction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Escalate to disconnection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Withdraw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Submit cap</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Reject cap</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 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disconnection issued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75  ·  OE_CONNECTION_ENERGIZATION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Connection energization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Grid</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commissioning programme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Authorize energization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Issue COD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Suspend commissioning</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Approve program</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Conduct inspection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cold commissioning</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Authorize synchronization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Begin trial operation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Begin compliance testing</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Resume commissioning</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connection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commercial operation</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connection withdrawn</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2 terminal outcomes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77  ·  OE_RESERVE_ACCOUNT_CHAIN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Reserve account (DSRA/MRA)</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Confirm funding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Flag shortfall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Replenish reserve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Declare breach</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Waive requirement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Schedule funding</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Commence funding</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Open cure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Authorize drawdown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Execute drawdown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Request release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Release reserve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Cancel reserve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released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breached</a:t>
            </a:r>
          </a:p>
        </p:txBody>
      </p:sp>
      <p:sp>
        <p:nvSpPr>
          <p:cNvPr id="38" name="Rounded Rectangle 3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11 states  ·  3 terminal outcomes</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110  ·  OE_TRANSMISSION_OUTAGE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Transmission outage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a:t>
            </a:r>
            <a:r>
              <a:rPr sz="1050" b="0">
                <a:solidFill>
                  <a:srgbClr val="504D46"/>
                </a:solidFill>
                <a:latin typeface="Archivo"/>
              </a:rPr>
              <a:t>   ·   single-role flow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Start security assessment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Reject outage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Withdraw request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Approve outage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Commence outage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Verify return to service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Emergency cancel</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Run n1 contingency</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Submit to reliability committee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Open outage window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Suspend outage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Resume outage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Extend outage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Complete outage</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Close post outage review</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48640"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16. Archive outage</a:t>
            </a:r>
          </a:p>
        </p:txBody>
      </p:sp>
      <p:sp>
        <p:nvSpPr>
          <p:cNvPr id="40" name="TextBox 39"/>
          <p:cNvSpPr txBox="1"/>
          <p:nvPr/>
        </p:nvSpPr>
        <p:spPr>
          <a:xfrm>
            <a:off x="548640" y="52395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1" name="Rounded Rectangle 40"/>
          <p:cNvSpPr/>
          <p:nvPr/>
        </p:nvSpPr>
        <p:spPr>
          <a:xfrm>
            <a:off x="548640"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2" name="Rounded Rectangle 41"/>
          <p:cNvSpPr/>
          <p:nvPr/>
        </p:nvSpPr>
        <p:spPr>
          <a:xfrm>
            <a:off x="2743199"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43" name="Rounded Rectangle 42"/>
          <p:cNvSpPr/>
          <p:nvPr/>
        </p:nvSpPr>
        <p:spPr>
          <a:xfrm>
            <a:off x="4937758"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4" name="Rounded Rectangle 43"/>
          <p:cNvSpPr/>
          <p:nvPr/>
        </p:nvSpPr>
        <p:spPr>
          <a:xfrm>
            <a:off x="7132317"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emergency cancelled</a:t>
            </a:r>
          </a:p>
        </p:txBody>
      </p:sp>
      <p:sp>
        <p:nvSpPr>
          <p:cNvPr id="45" name="TextBox 4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16 actions  ·  16 states  ·  4 terminal outcomes</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199  ·  OE_SMART_METER_ASSETS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Smart-meter asset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Grid → IPP</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Decommission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operational</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decommissioned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0 states  ·  2 terminal outcomes</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205  ·  OE_DEMAND_RESPONSE_EVENTS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Demand-response event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 → Support</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 notification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Activate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Cancel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 performance</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1" name="TextBox 2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0 states  ·  3 terminal outcomes</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211  ·  OE_SUBSTATION_ASSETS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Substation asset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a:t>
            </a:r>
            <a:r>
              <a:rPr sz="1050" b="0">
                <a:solidFill>
                  <a:srgbClr val="504D46"/>
                </a:solidFill>
                <a:latin typeface="Archivo"/>
              </a:rPr>
              <a:t>   ·   single-role flow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Energise asset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Decommission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decommissioned</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failed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12 states  ·  2 terminal outcomes</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215  ·  OE_EOP_ACTIVATIONS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EOP activation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a:t>
            </a:r>
            <a:r>
              <a:rPr sz="1050" b="0">
                <a:solidFill>
                  <a:srgbClr val="504D46"/>
                </a:solidFill>
                <a:latin typeface="Archivo"/>
              </a:rPr>
              <a:t>   ·   single-role flow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activation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 completed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 outstanding</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 to regulator</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11 states  ·  4 terminal outcomes</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219  ·  OE_WHEELING_ACCESS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Wheeling access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Offtaker → Grid</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Activate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Terminate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Withdraw</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terminated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1" name="TextBox 2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12 states  ·  3 terminal outcomes</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221  ·  OE_EXPORT_CURTAILMENTS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Export curtailment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Grid</a:t>
            </a:r>
            <a:r>
              <a:rPr sz="1050" b="0">
                <a:solidFill>
                  <a:srgbClr val="504D46"/>
                </a:solidFill>
                <a:latin typeface="Archivo"/>
              </a:rPr>
              <a:t>   ·   cross-role spine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claim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Settle claim</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Reject claim</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1" name="Rounded Rectangle 20"/>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2" name="TextBox 2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12 states  ·  4 terminal outcomes</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GRID OPERATIONS  ·  WAVE 234  ·  OE_INTERCONNECTOR_SCHEDULES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Interconnector schedule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Grid</a:t>
            </a:r>
            <a:r>
              <a:rPr sz="1050" b="0">
                <a:solidFill>
                  <a:srgbClr val="504D46"/>
                </a:solidFill>
                <a:latin typeface="Archivo"/>
              </a:rPr>
              <a:t>   ·   single-role flow   ·   metered: per connection · per MW dispatched</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Cancel schedule</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12 states  ·  2 terminal outcomes</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Lending &amp; finance</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17 process flows drawn  ·  owner: Lender  ·  metered: flat per drawdown · bps on facility</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0  ·  OE_CREDIT_INSURANCE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Credit insurance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Lapse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Cancel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Activate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Decline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0" name="Rounded Rectangle 1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claim paid</a:t>
            </a:r>
          </a:p>
        </p:txBody>
      </p:sp>
      <p:sp>
        <p:nvSpPr>
          <p:cNvPr id="21" name="Rounded Rectangle 2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22" name="Rounded Rectangle 2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3" name="Rounded Rectangle 22"/>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declined</a:t>
            </a:r>
          </a:p>
        </p:txBody>
      </p:sp>
      <p:sp>
        <p:nvSpPr>
          <p:cNvPr id="24" name="TextBox 2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4 actions  ·  13 states  ·  4 terminal outcomes</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21  ·  OE_DRAWDOWN_CHAIN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Drawdown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drawdown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Reject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Submit documents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Begin ie review</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Pass to cp</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Query</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Resume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Fund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Cancel</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10 states  ·  3 terminal outcomes</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30  ·  OE_DISBURSEMENT_CASES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Disbursement UoP</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Close reconciliation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Demand clawback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Request invoices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Submit invoices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validation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Request ie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Accept ie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Waive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7" name="Rounded Rectangle 26"/>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reconciled</a:t>
            </a:r>
          </a:p>
        </p:txBody>
      </p:sp>
      <p:sp>
        <p:nvSpPr>
          <p:cNvPr id="28" name="Rounded Rectangle 27"/>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clawback executed</a:t>
            </a:r>
          </a:p>
        </p:txBody>
      </p:sp>
      <p:sp>
        <p:nvSpPr>
          <p:cNvPr id="29" name="Rounded Rectangle 28"/>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sp>
        <p:nvSpPr>
          <p:cNvPr id="30" name="TextBox 2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8 actions  ·  9 states  ·  3 terminal outcomes</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38  ·  OE_COVENANT_CERTIFICATES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Covenant certificate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 → Regulator</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review</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Declare breach</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Submit certificate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Verify ratios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Confirm compliant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Flag non submission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Request waiver</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Grant waiver</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Require cure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Confirm cured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Accelerate</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a:t>
            </a:r>
          </a:p>
        </p:txBody>
      </p:sp>
      <p:sp>
        <p:nvSpPr>
          <p:cNvPr id="33" name="Rounded Rectangle 3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waiver granted</a:t>
            </a:r>
          </a:p>
        </p:txBody>
      </p:sp>
      <p:sp>
        <p:nvSpPr>
          <p:cNvPr id="34" name="Rounded Rectangle 3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cured</a:t>
            </a:r>
          </a:p>
        </p:txBody>
      </p:sp>
      <p:sp>
        <p:nvSpPr>
          <p:cNvPr id="35" name="Rounded Rectangle 34"/>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accelerated</a:t>
            </a:r>
          </a:p>
        </p:txBody>
      </p:sp>
      <p:sp>
        <p:nvSpPr>
          <p:cNvPr id="36" name="TextBox 3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11 states  ·  4 terminal outcomes</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45  ·  OE_LOAN_DEFAULTS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Loan default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Accelerate facility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Write off</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Begin review</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Reserve rights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Issue default notice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Open cure period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Confirm cure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Dismiss</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Agree standstill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Commence enforcement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Agree restructure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Close enforcement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restructured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enforced closed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53  ·  OE_CREDIT_FACILITY_APPLICATIONS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Credit origination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facility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Decline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Screen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Assess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Refer committee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Refer back</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Approve with conditions</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Satisfy conditions</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Issue agreement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Satisfy cp</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Activate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facility available</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declined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61  ·  OE_LOAN_TRANSFERS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Loan transfer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transfer</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Fail KYC/AML screening</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Begin KYC/AML screening</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Request remediation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Resubmit screening</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Clear screening</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Refuse consent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Grant consent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Execute transfer certificate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Settle transfer</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Complete transfer</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transfer</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declined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69  ·  OE_SECURITY_PERFECTION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Security perfection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Confirm perfected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Mark lapsed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Begin documentation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Execute security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Lodge registration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Confirm registration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Reject registration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Begin perfection review</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Flag overdue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Cure overdue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Release security</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released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86  ·  OE_DSCR_MONITORING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DSCR monitoring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Compute ratios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Record breach</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Enter lock-up</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Declare acceleration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Waive breach</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Collect data</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Certify clean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Place on watch</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Propose cure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Reject cure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Execute cure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Validate cure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Fail cure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certified clean</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accelerated</a:t>
            </a:r>
          </a:p>
        </p:txBody>
      </p:sp>
      <p:sp>
        <p:nvSpPr>
          <p:cNvPr id="38" name="Rounded Rectangle 3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waived</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12 states  ·  3 terminal outcomes</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95  ·  OE_SLL_KPI_COMPLIANCE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SLL KPI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Attest KPI</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Compute ratchet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Amend margin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Record KPI breach</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Fail cure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Set baseline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Collect measurement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Start verification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Open cure period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Validate cure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Raise restatement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 verify</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Trigger sustainability event</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Cancel</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margin amended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 failed</a:t>
            </a:r>
          </a:p>
        </p:txBody>
      </p:sp>
      <p:sp>
        <p:nvSpPr>
          <p:cNvPr id="40" name="Rounded Rectangle 3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1" name="Rounded Rectangle 40"/>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sustainability event</a:t>
            </a:r>
          </a:p>
        </p:txBody>
      </p:sp>
      <p:sp>
        <p:nvSpPr>
          <p:cNvPr id="42" name="TextBox 4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12 states  ·  4 terminal outcomes</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108  ·  OE_LOAN_RESTRUCTURE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Loan restructure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Start preliminary assessment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Draft proposal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Submit to committee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Mark effective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Escalate to default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Abandon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Approve proposal</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Reject proposal</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Revise proposal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Negotiate term sheet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Sign term sheet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Draft documentation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Launch consent solicitation</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Record consent</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Sign amendment</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48640"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16. Monitor compliance</a:t>
            </a:r>
          </a:p>
        </p:txBody>
      </p:sp>
      <p:sp>
        <p:nvSpPr>
          <p:cNvPr id="40" name="Rounded Rectangle 39"/>
          <p:cNvSpPr/>
          <p:nvPr/>
        </p:nvSpPr>
        <p:spPr>
          <a:xfrm>
            <a:off x="2743199"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17. Complete restructure</a:t>
            </a:r>
          </a:p>
        </p:txBody>
      </p:sp>
      <p:cxnSp>
        <p:nvCxnSpPr>
          <p:cNvPr id="41" name="Connector 40"/>
          <p:cNvCxnSpPr/>
          <p:nvPr/>
        </p:nvCxnSpPr>
        <p:spPr>
          <a:xfrm>
            <a:off x="2633471" y="4910328"/>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52395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3" name="Rounded Rectangle 42"/>
          <p:cNvSpPr/>
          <p:nvPr/>
        </p:nvSpPr>
        <p:spPr>
          <a:xfrm>
            <a:off x="548640"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44" name="Rounded Rectangle 43"/>
          <p:cNvSpPr/>
          <p:nvPr/>
        </p:nvSpPr>
        <p:spPr>
          <a:xfrm>
            <a:off x="2743199"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 by committee</a:t>
            </a:r>
          </a:p>
        </p:txBody>
      </p:sp>
      <p:sp>
        <p:nvSpPr>
          <p:cNvPr id="45" name="Rounded Rectangle 44"/>
          <p:cNvSpPr/>
          <p:nvPr/>
        </p:nvSpPr>
        <p:spPr>
          <a:xfrm>
            <a:off x="4937758"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abandoned</a:t>
            </a:r>
          </a:p>
        </p:txBody>
      </p:sp>
      <p:sp>
        <p:nvSpPr>
          <p:cNvPr id="46" name="Rounded Rectangle 45"/>
          <p:cNvSpPr/>
          <p:nvPr/>
        </p:nvSpPr>
        <p:spPr>
          <a:xfrm>
            <a:off x="7132317"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 to default</a:t>
            </a:r>
          </a:p>
        </p:txBody>
      </p:sp>
      <p:sp>
        <p:nvSpPr>
          <p:cNvPr id="47" name="TextBox 4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17 actions  ·  15 states  ·  4 terminal outcomes</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194  ·  OE_FACILITY_AMENDMENTS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Facility amendment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 → Regulator</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amendment_requested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consent_obtained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documentation_prepared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effective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eligibility_assessed</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execution_signed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lender_circulated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majority_response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unanimous_required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effective</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4 terminal outcomes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195  ·  OE_ESAP_COMPLIANCE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ESAP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action_plan_required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action_plan_submitted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breach_declared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data_collection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draft_report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lender_review</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major_findings</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minor_findings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monitoring_period_open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site_verification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verified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verified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breach declared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12 states  ·  3 terminal outcomes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203  ·  OE_CAPITAL_ADEQUACY_REPORTS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Capital-adequacy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Support</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Refile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Withdraw</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accepted</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capital breach</a:t>
            </a:r>
          </a:p>
        </p:txBody>
      </p:sp>
      <p:sp>
        <p:nvSpPr>
          <p:cNvPr id="18" name="Rounded Rectangle 1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9" name="TextBox 1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0 states  ·  3 terminal outcomes</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214  ·  OE_ESAP_MONITORING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ESAP monitoring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a:t>
            </a:r>
            <a:r>
              <a:rPr sz="1050" b="0">
                <a:solidFill>
                  <a:srgbClr val="504D46"/>
                </a:solidFill>
                <a:latin typeface="Archivo"/>
              </a:rPr>
              <a:t>   ·   single-role flow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ESAP</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Escalate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6" name="Rounded Rectangle 1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satisfactory</a:t>
            </a:r>
          </a:p>
        </p:txBody>
      </p:sp>
      <p:sp>
        <p:nvSpPr>
          <p:cNvPr id="17" name="Rounded Rectangle 1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escalated</a:t>
            </a:r>
          </a:p>
        </p:txBody>
      </p:sp>
      <p:sp>
        <p:nvSpPr>
          <p:cNvPr id="18" name="Rounded Rectangle 1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non compliant</a:t>
            </a:r>
          </a:p>
        </p:txBody>
      </p:sp>
      <p:sp>
        <p:nvSpPr>
          <p:cNvPr id="19" name="Rounded Rectangle 18"/>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0" name="TextBox 1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2 actions  ·  12 states  ·  4 terminal outcomes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223  ·  OE_CP_CLEARANCES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CP clearance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a:t>
            </a:r>
            <a:r>
              <a:rPr sz="1050" b="0">
                <a:solidFill>
                  <a:srgbClr val="504D46"/>
                </a:solidFill>
                <a:latin typeface="Archivo"/>
              </a:rPr>
              <a:t>   ·   single-role flow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CP clearance</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drawdown authorized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cp defaulted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12 states  ·  4 terminal outcomes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LENDING &amp; FINANCE  ·  WAVE 231  ·  OE_CONSTRUCTION_COST_REPORTS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IE cost-to-complete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Lender → IPP</a:t>
            </a:r>
            <a:r>
              <a:rPr sz="1050" b="0">
                <a:solidFill>
                  <a:srgbClr val="504D46"/>
                </a:solidFill>
                <a:latin typeface="Archivo"/>
              </a:rPr>
              <a:t>   ·   cross-role spine   ·   metered: flat per drawdown · bps on facility</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Cancel monitoring period</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budget compliant</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resolved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default triggered</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12 states  ·  4 terminal outcomes</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Asset O&amp;M &amp; service</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25 process flows drawn  ·  owner: ESCO / OEM  ·  metered: per active facility · per work order</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12  ·  OM_SITES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Site commissioning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Energise site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Hand over to O&amp;M</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Mark failed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Register site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Register devices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Wire ingestion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Confirm first telemetry</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Decommission site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7" name="Rounded Rectangle 26"/>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in om</a:t>
            </a:r>
          </a:p>
        </p:txBody>
      </p:sp>
      <p:sp>
        <p:nvSpPr>
          <p:cNvPr id="28" name="Rounded Rectangle 27"/>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commissioning failed</a:t>
            </a:r>
          </a:p>
        </p:txBody>
      </p:sp>
      <p:sp>
        <p:nvSpPr>
          <p:cNvPr id="29" name="Rounded Rectangle 28"/>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decommissioned</a:t>
            </a:r>
          </a:p>
        </p:txBody>
      </p:sp>
      <p:sp>
        <p:nvSpPr>
          <p:cNvPr id="30" name="TextBox 2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8 actions  ·  9 states  ·  3 terminal outcomes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14  ·  SUPPORT_TICKETS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Support ticket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Triage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Pick up</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Wait for user</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User responded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Resolve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Close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Reopen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Escalate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7" name="Rounded Rectangle 26"/>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28" name="Rounded Rectangle 27"/>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29" name="TextBox 2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8 actions  ·  7 states  ·  2 terminal outcomes</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15  ·  OE_WARRANTY_CLAIMS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Warranty claim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IPP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to OEM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claim</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Deny claim</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Triage claim</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Acknowledge claim</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Dispute denial</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Uphold denial</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Fulfill claim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Close claim</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10 states  ·  1 terminal outcome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24  ·  OE_PR_CHAIN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 underperformance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Start warning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Begin investigation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Dispatch intervention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Verify recovery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Escalate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Complete rca</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Close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 escalated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Mark false alarm</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Close false alarm</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2" name="TextBox 3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9 states  ·  1 terminal outcome</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25  ·  OE_HSE_INCIDENTS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HSE incident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 → IPP → EPC</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Triage incident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Notify authority</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Begin investigation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Dispatch corrective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Close incident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Complete rca</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Verify corrective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Escalate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 escalated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Mark false alarm</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Close false alarm</a:t>
            </a:r>
          </a:p>
        </p:txBody>
      </p:sp>
      <p:sp>
        <p:nvSpPr>
          <p:cNvPr id="31" name="TextBox 3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2" name="Rounded Rectangle 3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3" name="TextBox 32"/>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11 actions  ·  10 states  ·  1 terminal outcome</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26  ·  OE_CYBER_INCIDENTS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Cyber incident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Regulator → IPP</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Triage incident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Contain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Notify regulator</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Notify subjects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Complete RCA</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Verify remediation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Close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Escalate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Skip notify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Begin investigation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Dispatch remediation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Close escalated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Mark false alarm</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Close false alarm</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12 states  ·  1 terminal outcome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35  ·  OE_VENDOR_ESCALATION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Vendor escalation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Vendor triage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Record vendor decision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Escalate to OEM</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Record OEM decision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Issue recall</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Oem investigate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Start remediation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Escalate to arbitration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Withdraw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recall issued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arbitration</a:t>
            </a:r>
          </a:p>
        </p:txBody>
      </p:sp>
      <p:sp>
        <p:nvSpPr>
          <p:cNvPr id="34" name="Rounded Rectangle 33"/>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11 states  ·  4 terminal outcomes</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41  ·  OE_PROBLEM_RECORDS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Problem record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Categorize problem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Begin investigation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Identify root cause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Raise change (RFC)</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Escalate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Log known error</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Propose fix</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Accept workaround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Deploy fix</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Verify resolution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Close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Cancel</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47  ·  OE_CHANGE_REQUESTS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Change request (RFC)</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Assess change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Submit to CAB</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Approve change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Emergency approve (ECAB)</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Roll back</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Reject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Schedule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Begin implementation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Complete implementation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Initiate pir</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Close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Cancel</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rolled back</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51  ·  OE_AVAILABILITY_GUARANTEES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Availability guarantee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 → Grid</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measurement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Flag shortfall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Assess LDs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Settle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Waive LDs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Open adjustment review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Reconcile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Confirm meets guarantee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Agree cure plan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Raise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 resolved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55  ·  OE_SECURITY_REMEDIATIONS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Security remediation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Triage vulnerability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Approve remediation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Complete rollout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Accept risk</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Roll back patch</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Assess impact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Apply mitigation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Mark not affected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Emergency authorize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Scope fleet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Begin rollout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Verify</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resolved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not affected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risk accepted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rolled back</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59  ·  OE_PM_COMPLIANCE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PM compliance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Assign work</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Complete work</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Close PM</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Approve deferral</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Skip PM</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Start work</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Place on hold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Open verification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Require rework</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Request deferral</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Reject deferral</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Cancel pm</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deferred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skipped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63  ·  OE_WARRANTY_RECOVERIES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Warranty recovery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claim</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Complete assessment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Approve recovery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Confirm recovery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Write off</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Acknowledge claim</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assessment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Reject claim</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Raise dispute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Resolve dispute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Initiate recovery</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claim</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recovered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64  ·  OE_PERMIT_TO_WORK</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Permit to work</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Verify isolation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Issue permit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Complete work</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Close permit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Revoke permit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Begin assessment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Approve isolation plan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Start work</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Suspend work</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Resume work</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Reject permit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permit closed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permit rejected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permit revoked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71  ·  OE_ASSET_PROGNOSTICS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Asset prognostic</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Triage prediction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Raise work order</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Record failure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Dismiss prediction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Auto suppress</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Diagnose root cause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Plan action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Begin monitoring</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Confirm resolved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Escalate prognostic</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Expire prognostic</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Reopen recurrence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resolved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dismissed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auto suppressed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38" name="Rounded Rectangle 37"/>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confirmed failure</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5 terminal outcomes</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72  ·  OE_SPARE_PARTS_PROVISIONING</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Spare-parts provisioning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Raise requisition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Issue PO</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Receive goods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Issue part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Cancel provisioning</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Approve requisition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Flag backorder</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Expedite backorder</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Confirm shipment</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Pass inspection</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Reject inspection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Reserve stock</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issued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returned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79  ·  OE_GENERATION_REVENUE_ASSURANCE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Generation revenue assurance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Run reconciliation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Flag variance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Issue recovery claim</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Confirm recovery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Raise dispute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Write off</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Ingest data</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 clean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Open investigation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Classify leakage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dispute recovered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Resolve dispute writeoff</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Cancel reconciliation</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recovered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clean</a:t>
            </a:r>
          </a:p>
        </p:txBody>
      </p:sp>
      <p:sp>
        <p:nvSpPr>
          <p:cNvPr id="38" name="Rounded Rectangle 3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39" name="Rounded Rectangle 38"/>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0" name="TextBox 3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12 states  ·  4 terminal outcomes</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80  ·  OE_SERVICE_CONTRACTS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Service contract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 → ESCO</a:t>
            </a:r>
            <a:r>
              <a:rPr sz="1050" b="0">
                <a:solidFill>
                  <a:srgbClr val="504D46"/>
                </a:solidFill>
                <a:latin typeface="Archivo"/>
              </a:rPr>
              <a:t>   ·   cross-role spine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Begin negotiation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Enter grace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Reinstate coverage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renewed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1" name="TextBox 2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12 states  ·  3 terminal outcomes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88  ·  OE_BESS_SOH</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BESS state-of-health</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Activate monitoring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Require augmentation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Plan augmentation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Complete works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Recommission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Raise dispute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Decommission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Detect drift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Assess cause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Start works</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dispute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Cancel programme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recommissioned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decommissioned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89  ·  OE_OEM_FIELD_CHANGE_ORDERS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OEM field-change order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 receipt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Suspend campaign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Resume campaign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completed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1" name="TextBox 2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12 states  ·  3 terminal outcomes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102  ·  OE_SOILING_AUDIT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Soiling audit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ESCO</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Measure soiling</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Assess economics</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Authorize cleaning</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Measure post-clean</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Settle audit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Raise dispute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Schedule inspection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Record inspection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Start cleaning</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Complete cleaning</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Validate gain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Resolve dispute</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Cancel audit</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12 states  ·  2 terminal outcomes</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104  ·  OE_SERVICE_REQUEST_CHAIN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Service request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request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Assign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Mark fulfilled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Close request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Reject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Check entitlement</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Request approval</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Start fulfilment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Request user info</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Receive user response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Verify</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Archive request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Cancel request</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Reopen request</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8" name="Rounded Rectangle 3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fulfilled</a:t>
            </a:r>
          </a:p>
        </p:txBody>
      </p:sp>
      <p:sp>
        <p:nvSpPr>
          <p:cNvPr id="39" name="Rounded Rectangle 3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40" name="Rounded Rectangle 3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1" name="Rounded Rectangle 40"/>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42" name="Rounded Rectangle 41"/>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3" name="TextBox 42"/>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14 actions  ·  14 states  ·  5 terminal outcomes</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150  ·  IPP_PERFORMANCE_BONDS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Performance bond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Replace bond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Forfeit bond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Acknowledge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Release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0" name="Rounded Rectangle 19"/>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released</a:t>
            </a:r>
          </a:p>
        </p:txBody>
      </p:sp>
      <p:sp>
        <p:nvSpPr>
          <p:cNvPr id="21" name="Rounded Rectangle 20"/>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expired</a:t>
            </a:r>
          </a:p>
        </p:txBody>
      </p:sp>
      <p:sp>
        <p:nvSpPr>
          <p:cNvPr id="22" name="Rounded Rectangle 21"/>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forfeited</a:t>
            </a:r>
          </a:p>
        </p:txBody>
      </p:sp>
      <p:sp>
        <p:nvSpPr>
          <p:cNvPr id="23" name="Rounded Rectangle 22"/>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replaced</a:t>
            </a:r>
          </a:p>
        </p:txBody>
      </p:sp>
      <p:sp>
        <p:nvSpPr>
          <p:cNvPr id="24" name="TextBox 2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4 actions  ·  6 states  ·  4 terminal outcomes</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208  ·  OE_CSAT_RECORDS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CSAT lifecycle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closed_escalated</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closed_satisfied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follow_up_received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follow_up_sent</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no_response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score_analysis</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survey_completed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survey_pending</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survey_sent</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satisfied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escalated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 response</a:t>
            </a:r>
          </a:p>
        </p:txBody>
      </p:sp>
      <p:sp>
        <p:nvSpPr>
          <p:cNvPr id="34" name="TextBox 33"/>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10 states  ·  3 terminal outcomes</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ASSET O&amp;M &amp; SERVICE  ·  WAVE 217  ·  OE_SLA_PERFORMANCE_REPORTS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SLA performance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Support</a:t>
            </a:r>
            <a:r>
              <a:rPr sz="1050" b="0">
                <a:solidFill>
                  <a:srgbClr val="504D46"/>
                </a:solidFill>
                <a:latin typeface="Archivo"/>
              </a:rPr>
              <a:t>   ·   single-role flow   ·   metered: per active facility · per work order</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Dispute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Withdraw</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disputed</a:t>
            </a:r>
          </a:p>
        </p:txBody>
      </p:sp>
      <p:sp>
        <p:nvSpPr>
          <p:cNvPr id="20" name="Rounded Rectangle 19"/>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remediation plan</a:t>
            </a:r>
          </a:p>
        </p:txBody>
      </p:sp>
      <p:sp>
        <p:nvSpPr>
          <p:cNvPr id="21" name="Rounded Rectangle 20"/>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2" name="TextBox 21"/>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9 states  ·  4 terminal outcomes</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Regulation</a:t>
            </a:r>
          </a:p>
        </p:txBody>
      </p:sp>
      <p:sp>
        <p:nvSpPr>
          <p:cNvPr id="6" name="TextBox 5"/>
          <p:cNvSpPr txBox="1"/>
          <p:nvPr/>
        </p:nvSpPr>
        <p:spPr>
          <a:xfrm>
            <a:off x="640080" y="3429000"/>
            <a:ext cx="10972800" cy="54864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18 process flows drawn  ·  owner: Regulator  ·  metered: per certified export · per case</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0  ·  OE_REGULATOR_EXPORT_PACK</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Regulator export pack</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Admin → Regulator</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Countersign pack</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Get counterparty signoff</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Restate pack</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Package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Archive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Withdraw</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Suspend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5" name="Rounded Rectangle 24"/>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26" name="Rounded Rectangle 25"/>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 by regulator</a:t>
            </a:r>
          </a:p>
        </p:txBody>
      </p:sp>
      <p:sp>
        <p:nvSpPr>
          <p:cNvPr id="27" name="Rounded Rectangle 26"/>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8" name="TextBox 2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7 actions  ·  16 states  ·  3 terminal outcomes</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5  ·  OE_COMPLIANCE_NOTICES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notice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 notice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Mark satisfied</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Withdraw notice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satisfied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0" name="TextBox 1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5 states  ·  2 terminal outcomes</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5  ·  OE_REGULATOR_INBOX</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Regulator inbox item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Acknowledge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Escalate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Dismiss</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8" name="Rounded Rectangle 17"/>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acknowledged</a:t>
            </a:r>
          </a:p>
        </p:txBody>
      </p:sp>
      <p:sp>
        <p:nvSpPr>
          <p:cNvPr id="19" name="Rounded Rectangle 18"/>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dismissed</a:t>
            </a:r>
          </a:p>
        </p:txBody>
      </p:sp>
      <p:sp>
        <p:nvSpPr>
          <p:cNvPr id="20" name="TextBox 19"/>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3 actions  ·  4 states  ·  2 terminal outcomes</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27  ·  OE_ED_COMMITMENTS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ED commitment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Regulator</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cure plan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Verify compliant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Issue penalty</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Activate monitoring</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Flag variance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Require cure plan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Approve cure plan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Close compliant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Close with penalty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Escalate to DTI</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Close escalated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Mark false alarm</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Close false alarm</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11 states  ·  1 terminal outcome</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33  ·  OE_LICENCE_RENEWALS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Licence renewal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 → IPP</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File renewal application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Grant renewal</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Refuse renewal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Check completeness</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Open consultation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Start evaluation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Draft decision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Council vote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Amend</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Withdraw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1" name="Rounded Rectangle 30"/>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granted</a:t>
            </a:r>
          </a:p>
        </p:txBody>
      </p:sp>
      <p:sp>
        <p:nvSpPr>
          <p:cNvPr id="32" name="Rounded Rectangle 31"/>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amended</a:t>
            </a:r>
          </a:p>
        </p:txBody>
      </p:sp>
      <p:sp>
        <p:nvSpPr>
          <p:cNvPr id="33" name="Rounded Rectangle 32"/>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sp>
        <p:nvSpPr>
          <p:cNvPr id="34" name="Rounded Rectangle 33"/>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5" name="TextBox 3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10 actions  ·  11 states  ·  4 terminal outcomes</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40  ·  OE_COMPLIANCE_INSPECTIONS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Compliance inspection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 → IPP</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Issue findings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Begin remediation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Close compliant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Impose penalty</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inspection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Draft findings</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Close no findings</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Issue directive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Verify remediation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Lodge appeal</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Resolve appeal</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Close enforcement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Withdraw</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compliant closed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enforcement closed</a:t>
            </a:r>
          </a:p>
        </p:txBody>
      </p:sp>
      <p:sp>
        <p:nvSpPr>
          <p:cNvPr id="38" name="Rounded Rectangle 3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9" name="TextBox 3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12 states  ·  3 terminal outcomes</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49  ·  OE_LICENCE_APPLICATIONS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Licence application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 → IPP</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Submit information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Open public participation</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Grant licence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Refuse licence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Begin completeness review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Request information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Accept application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Begin technical evaluation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Refer to Council</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Issue licence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Withdraw application</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Lapse application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licence issued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57  ·  OE_SSEG_REGISTRATIONS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SSEG registration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 → IPP</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Approve registration</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Refer to licensing</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Refuse registration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Begin eligibility screening</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Request information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Submit information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Begin technical verification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Determine exemption</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Approve with conditions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Satisfy conditions</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Issue certificate</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registration</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Lapse registration</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registered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referred to licensing</a:t>
            </a:r>
          </a:p>
        </p:txBody>
      </p:sp>
      <p:sp>
        <p:nvSpPr>
          <p:cNvPr id="38" name="Rounded Rectangle 37"/>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refused</a:t>
            </a:r>
          </a:p>
        </p:txBody>
      </p:sp>
      <p:sp>
        <p:nvSpPr>
          <p:cNvPr id="39" name="Rounded Rectangle 38"/>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0" name="Rounded Rectangle 39"/>
          <p:cNvSpPr/>
          <p:nvPr/>
        </p:nvSpPr>
        <p:spPr>
          <a:xfrm>
            <a:off x="9326876"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lapsed</a:t>
            </a:r>
          </a:p>
        </p:txBody>
      </p:sp>
      <p:sp>
        <p:nvSpPr>
          <p:cNvPr id="41" name="TextBox 40"/>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13 actions  ·  12 states  ·  5 terminal outcomes</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66  ·  OE_REGULATOR_COMPLAINTS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Complaint resolution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Screen admissibility</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Issue ruling</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Record appeal</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Refer to licensee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Settle at licensee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Escalate to investigation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Initiate mediation</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Convene hearing</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Monitor remedy</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Confirm compliance</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Dismiss complaint</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Record withdrawal</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resolved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dismissed</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appealed</a:t>
            </a:r>
          </a:p>
        </p:txBody>
      </p:sp>
      <p:sp>
        <p:nvSpPr>
          <p:cNvPr id="37" name="Rounded Rectangle 3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4 terminal outcomes</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74  ·  OE_REGULATOR_LEVIES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Levy assessment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 → Grid</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Issue levy invoice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Record settlement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Escalate to enforcement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Review assessment</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Record objection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Resolve objection</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Confirm payable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Record partial payment</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Flag arrears</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Issue final demand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Write off</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Withdraw assessment</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4" name="Rounded Rectangle 3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35" name="Rounded Rectangle 3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written off</a:t>
            </a:r>
          </a:p>
        </p:txBody>
      </p:sp>
      <p:sp>
        <p:nvSpPr>
          <p:cNvPr id="36" name="Rounded Rectangle 3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37" name="TextBox 3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12 actions  ·  12 states  ·  3 terminal outcomes</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93  ·  OE_ENFORCEMENT_ACTIONS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Enforcement action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Dismiss</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Open representations</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Initiate enforcement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Withdraw</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Cancel</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2" name="Rounded Rectangle 21"/>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paid</a:t>
            </a:r>
          </a:p>
        </p:txBody>
      </p:sp>
      <p:sp>
        <p:nvSpPr>
          <p:cNvPr id="23" name="Rounded Rectangle 22"/>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dismissed</a:t>
            </a:r>
          </a:p>
        </p:txBody>
      </p:sp>
      <p:sp>
        <p:nvSpPr>
          <p:cNvPr id="24" name="Rounded Rectangle 23"/>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25" name="TextBox 2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5 actions  ·  12 states  ·  3 terminal outcomes</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106  ·  OE_ENFORCEMENT_ACTION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Enforcement action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Issue notice</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Adjudicate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Impose sanction</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Mark settled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Withdraw</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Draft notice</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Acknowledge notice</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Submit response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9. Start adjudication</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10. Open appeal window</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11. Lodge appeal</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12. Decide appeal</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13. Re adjudicate</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32317"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14. Commence enforcement</a:t>
            </a:r>
          </a:p>
        </p:txBody>
      </p:sp>
      <p:cxnSp>
        <p:nvCxnSpPr>
          <p:cNvPr id="36" name="Connector 35"/>
          <p:cNvCxnSpPr/>
          <p:nvPr/>
        </p:nvCxnSpPr>
        <p:spPr>
          <a:xfrm>
            <a:off x="7022589"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26876"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15. Archive action</a:t>
            </a:r>
          </a:p>
        </p:txBody>
      </p:sp>
      <p:cxnSp>
        <p:nvCxnSpPr>
          <p:cNvPr id="38" name="Connector 37"/>
          <p:cNvCxnSpPr/>
          <p:nvPr/>
        </p:nvCxnSpPr>
        <p:spPr>
          <a:xfrm>
            <a:off x="9217148"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48640" y="4626864"/>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16. Cancel action</a:t>
            </a:r>
          </a:p>
        </p:txBody>
      </p:sp>
      <p:sp>
        <p:nvSpPr>
          <p:cNvPr id="40" name="TextBox 39"/>
          <p:cNvSpPr txBox="1"/>
          <p:nvPr/>
        </p:nvSpPr>
        <p:spPr>
          <a:xfrm>
            <a:off x="548640" y="52395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41" name="Rounded Rectangle 40"/>
          <p:cNvSpPr/>
          <p:nvPr/>
        </p:nvSpPr>
        <p:spPr>
          <a:xfrm>
            <a:off x="548640"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settled</a:t>
            </a:r>
          </a:p>
        </p:txBody>
      </p:sp>
      <p:sp>
        <p:nvSpPr>
          <p:cNvPr id="42" name="Rounded Rectangle 41"/>
          <p:cNvSpPr/>
          <p:nvPr/>
        </p:nvSpPr>
        <p:spPr>
          <a:xfrm>
            <a:off x="2743199"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43" name="Rounded Rectangle 42"/>
          <p:cNvSpPr/>
          <p:nvPr/>
        </p:nvSpPr>
        <p:spPr>
          <a:xfrm>
            <a:off x="4937758"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44" name="Rounded Rectangle 43"/>
          <p:cNvSpPr/>
          <p:nvPr/>
        </p:nvSpPr>
        <p:spPr>
          <a:xfrm>
            <a:off x="7132317" y="55321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45" name="TextBox 44"/>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16 actions  ·  16 states  ·  4 terminal outcomes</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121  ·  OE_CONTROL_ENVIRONMENT_AUDIT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Control-environment audit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Admin → Regulator</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Plan ToD test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2. Collect ToD evidence</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3. Plan ToOE test</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4. Collect ToOE evidence</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 Accept with exception</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6. Suspend control</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7. Initiate re-test</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8. Archive</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27" name="Rounded Rectangle 26"/>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archived</a:t>
            </a:r>
          </a:p>
        </p:txBody>
      </p:sp>
      <p:sp>
        <p:nvSpPr>
          <p:cNvPr id="28" name="Rounded Rectangle 27"/>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deficient</a:t>
            </a:r>
          </a:p>
        </p:txBody>
      </p:sp>
      <p:sp>
        <p:nvSpPr>
          <p:cNvPr id="29" name="TextBox 28"/>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8 actions  ·  16 states  ·  2 terminal outcomes</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156  ·  OE_IPP_CHANGE_OF_CONTROL</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Change of control</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Regulator</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 notification</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control transferred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rejected</a:t>
            </a:r>
          </a:p>
        </p:txBody>
      </p:sp>
      <p:sp>
        <p:nvSpPr>
          <p:cNvPr id="17" name="Rounded Rectangle 16"/>
          <p:cNvSpPr/>
          <p:nvPr/>
        </p:nvSpPr>
        <p:spPr>
          <a:xfrm>
            <a:off x="7132317"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appeal determined</a:t>
            </a:r>
          </a:p>
        </p:txBody>
      </p:sp>
      <p:sp>
        <p:nvSpPr>
          <p:cNvPr id="18" name="TextBox 1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0 states  ·  4 terminal outcomes</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193  ·  OE_LICENCE_OBLIGATIONS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Licence obligation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STATES — governed status set</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assessed_compliant</a:t>
            </a:r>
          </a:p>
        </p:txBody>
      </p:sp>
      <p:sp>
        <p:nvSpPr>
          <p:cNvPr id="13" name="Rounded Rectangle 12"/>
          <p:cNvSpPr/>
          <p:nvPr/>
        </p:nvSpPr>
        <p:spPr>
          <a:xfrm>
            <a:off x="2743199"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assessed_non_compliant</a:t>
            </a:r>
          </a:p>
        </p:txBody>
      </p:sp>
      <p:cxnSp>
        <p:nvCxnSpPr>
          <p:cNvPr id="14" name="Connector 13"/>
          <p:cNvCxnSpPr/>
          <p:nvPr/>
        </p:nvCxnSpPr>
        <p:spPr>
          <a:xfrm>
            <a:off x="2633471"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8"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assessment_due</a:t>
            </a:r>
          </a:p>
        </p:txBody>
      </p:sp>
      <p:cxnSp>
        <p:nvCxnSpPr>
          <p:cNvPr id="16" name="Connector 15"/>
          <p:cNvCxnSpPr/>
          <p:nvPr/>
        </p:nvCxnSpPr>
        <p:spPr>
          <a:xfrm>
            <a:off x="4828030"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17"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breached</a:t>
            </a:r>
          </a:p>
        </p:txBody>
      </p:sp>
      <p:cxnSp>
        <p:nvCxnSpPr>
          <p:cNvPr id="18" name="Connector 17"/>
          <p:cNvCxnSpPr/>
          <p:nvPr/>
        </p:nvCxnSpPr>
        <p:spPr>
          <a:xfrm>
            <a:off x="7022589"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26876"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cure_active</a:t>
            </a:r>
          </a:p>
        </p:txBody>
      </p:sp>
      <p:cxnSp>
        <p:nvCxnSpPr>
          <p:cNvPr id="20" name="Connector 19"/>
          <p:cNvCxnSpPr/>
          <p:nvPr/>
        </p:nvCxnSpPr>
        <p:spPr>
          <a:xfrm>
            <a:off x="9217148" y="2386584"/>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cured</a:t>
            </a:r>
          </a:p>
        </p:txBody>
      </p:sp>
      <p:sp>
        <p:nvSpPr>
          <p:cNvPr id="22" name="Rounded Rectangle 21"/>
          <p:cNvSpPr/>
          <p:nvPr/>
        </p:nvSpPr>
        <p:spPr>
          <a:xfrm>
            <a:off x="2743199"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evidence_gathered</a:t>
            </a:r>
          </a:p>
        </p:txBody>
      </p:sp>
      <p:cxnSp>
        <p:nvCxnSpPr>
          <p:cNvPr id="23" name="Connector 22"/>
          <p:cNvCxnSpPr/>
          <p:nvPr/>
        </p:nvCxnSpPr>
        <p:spPr>
          <a:xfrm>
            <a:off x="2633471"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58"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evidence_submitted</a:t>
            </a:r>
          </a:p>
        </p:txBody>
      </p:sp>
      <p:cxnSp>
        <p:nvCxnSpPr>
          <p:cNvPr id="25" name="Connector 24"/>
          <p:cNvCxnSpPr/>
          <p:nvPr/>
        </p:nvCxnSpPr>
        <p:spPr>
          <a:xfrm>
            <a:off x="4828030"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17"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monitoring_active</a:t>
            </a:r>
          </a:p>
        </p:txBody>
      </p:sp>
      <p:cxnSp>
        <p:nvCxnSpPr>
          <p:cNvPr id="27" name="Connector 26"/>
          <p:cNvCxnSpPr/>
          <p:nvPr/>
        </p:nvCxnSpPr>
        <p:spPr>
          <a:xfrm>
            <a:off x="7022589"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26876" y="2944368"/>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notice_issued</a:t>
            </a:r>
          </a:p>
        </p:txBody>
      </p:sp>
      <p:cxnSp>
        <p:nvCxnSpPr>
          <p:cNvPr id="29" name="Connector 28"/>
          <p:cNvCxnSpPr/>
          <p:nvPr/>
        </p:nvCxnSpPr>
        <p:spPr>
          <a:xfrm>
            <a:off x="9217148" y="3227832"/>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query_raised</a:t>
            </a:r>
          </a:p>
        </p:txBody>
      </p:sp>
      <p:sp>
        <p:nvSpPr>
          <p:cNvPr id="31" name="Rounded Rectangle 30"/>
          <p:cNvSpPr/>
          <p:nvPr/>
        </p:nvSpPr>
        <p:spPr>
          <a:xfrm>
            <a:off x="2743199"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query_resolved</a:t>
            </a:r>
          </a:p>
        </p:txBody>
      </p:sp>
      <p:cxnSp>
        <p:nvCxnSpPr>
          <p:cNvPr id="32" name="Connector 31"/>
          <p:cNvCxnSpPr/>
          <p:nvPr/>
        </p:nvCxnSpPr>
        <p:spPr>
          <a:xfrm>
            <a:off x="2633471"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37758" y="3785616"/>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under_review</a:t>
            </a:r>
          </a:p>
        </p:txBody>
      </p:sp>
      <p:cxnSp>
        <p:nvCxnSpPr>
          <p:cNvPr id="34" name="Connector 33"/>
          <p:cNvCxnSpPr/>
          <p:nvPr/>
        </p:nvCxnSpPr>
        <p:spPr>
          <a:xfrm>
            <a:off x="4828030" y="4069080"/>
            <a:ext cx="109728" cy="0"/>
          </a:xfrm>
          <a:prstGeom prst="line">
            <a:avLst/>
          </a:prstGeom>
          <a:ln w="15875">
            <a:solidFill>
              <a:srgbClr val="D18E3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36" name="Rounded Rectangle 35"/>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cured</a:t>
            </a:r>
          </a:p>
        </p:txBody>
      </p:sp>
      <p:sp>
        <p:nvSpPr>
          <p:cNvPr id="37" name="Rounded Rectangle 36"/>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breached</a:t>
            </a:r>
          </a:p>
        </p:txBody>
      </p:sp>
      <p:sp>
        <p:nvSpPr>
          <p:cNvPr id="38" name="TextBox 37"/>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0 actions  ·  13 states  ·  2 terminal outcomes</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209  ·  OE_PUBLIC_CONSULTATIONS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Public consultation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6" name="TextBox 15"/>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11 states  ·  2 terminal outcomes</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220  ·  OE_MARKET_CONDUCT_EXAMS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Market-conduct exam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Regulator</a:t>
            </a:r>
            <a:r>
              <a:rPr sz="1050" b="0">
                <a:solidFill>
                  <a:srgbClr val="504D46"/>
                </a:solidFill>
                <a:latin typeface="Archivo"/>
              </a:rPr>
              <a:t>   ·   single-role flow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Withdraw</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enforcement action</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closed satisfactory</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withdrawn</a:t>
            </a:r>
          </a:p>
        </p:txBody>
      </p:sp>
      <p:sp>
        <p:nvSpPr>
          <p:cNvPr id="17" name="TextBox 1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13 states  ·  3 terminal outcomes</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REGULATION  ·  WAVE 230  ·  OE_CBT_SED_REPORTS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CBT/SED annual report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10561320" y="457200"/>
            <a:ext cx="1143000" cy="502920"/>
          </a:xfrm>
          <a:prstGeom prst="round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chivo"/>
              </a:rPr>
              <a:t>L4 tier</a:t>
            </a:r>
          </a:p>
        </p:txBody>
      </p:sp>
      <p:sp>
        <p:nvSpPr>
          <p:cNvPr id="10" name="TextBox 9"/>
          <p:cNvSpPr txBox="1"/>
          <p:nvPr/>
        </p:nvSpPr>
        <p:spPr>
          <a:xfrm>
            <a:off x="548640" y="1371600"/>
            <a:ext cx="987552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Actors: </a:t>
            </a:r>
            <a:r>
              <a:rPr sz="1100" b="1">
                <a:solidFill>
                  <a:srgbClr val="005358"/>
                </a:solidFill>
                <a:latin typeface="Archivo"/>
              </a:rPr>
              <a:t>IPP → Support → Regulator</a:t>
            </a:r>
            <a:r>
              <a:rPr sz="1050" b="0">
                <a:solidFill>
                  <a:srgbClr val="504D46"/>
                </a:solidFill>
                <a:latin typeface="Archivo"/>
              </a:rPr>
              <a:t>   ·   cross-role spine   ·   metered: per certified export · per case</a:t>
            </a:r>
          </a:p>
        </p:txBody>
      </p:sp>
      <p:sp>
        <p:nvSpPr>
          <p:cNvPr id="11" name="TextBox 10"/>
          <p:cNvSpPr txBox="1"/>
          <p:nvPr/>
        </p:nvSpPr>
        <p:spPr>
          <a:xfrm>
            <a:off x="548640" y="1783080"/>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LIFECYCLE — ordered actions</a:t>
            </a:r>
          </a:p>
        </p:txBody>
      </p:sp>
      <p:sp>
        <p:nvSpPr>
          <p:cNvPr id="12" name="Rounded Rectangle 11"/>
          <p:cNvSpPr/>
          <p:nvPr/>
        </p:nvSpPr>
        <p:spPr>
          <a:xfrm>
            <a:off x="548640" y="2103120"/>
            <a:ext cx="2084831" cy="566928"/>
          </a:xfrm>
          <a:prstGeom prst="roundRect">
            <a:avLst/>
          </a:prstGeom>
          <a:solidFill>
            <a:srgbClr val="F5F3EF"/>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1. Escalate to enforcement</a:t>
            </a:r>
          </a:p>
        </p:txBody>
      </p:sp>
      <p:sp>
        <p:nvSpPr>
          <p:cNvPr id="13" name="TextBox 12"/>
          <p:cNvSpPr txBox="1"/>
          <p:nvPr/>
        </p:nvSpPr>
        <p:spPr>
          <a:xfrm>
            <a:off x="548640" y="4782312"/>
            <a:ext cx="10972800" cy="274320"/>
          </a:xfrm>
          <a:prstGeom prst="rect">
            <a:avLst/>
          </a:prstGeom>
          <a:noFill/>
        </p:spPr>
        <p:txBody>
          <a:bodyPr wrap="square" anchor="t" lIns="25400" rIns="25400" tIns="25400" bIns="25400">
            <a:spAutoFit/>
          </a:bodyPr>
          <a:lstStyle/>
          <a:p>
            <a:pPr algn="l">
              <a:spcBef>
                <a:spcPts val="0"/>
              </a:spcBef>
              <a:spcAft>
                <a:spcPts val="400"/>
              </a:spcAft>
            </a:pPr>
            <a:r>
              <a:rPr sz="1000" b="1">
                <a:solidFill>
                  <a:srgbClr val="D18E35"/>
                </a:solidFill>
                <a:latin typeface="Archivo"/>
              </a:rPr>
              <a:t>TERMINAL OUTCOMES</a:t>
            </a:r>
          </a:p>
        </p:txBody>
      </p:sp>
      <p:sp>
        <p:nvSpPr>
          <p:cNvPr id="14" name="Rounded Rectangle 13"/>
          <p:cNvSpPr/>
          <p:nvPr/>
        </p:nvSpPr>
        <p:spPr>
          <a:xfrm>
            <a:off x="548640"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approved</a:t>
            </a:r>
          </a:p>
        </p:txBody>
      </p:sp>
      <p:sp>
        <p:nvSpPr>
          <p:cNvPr id="15" name="Rounded Rectangle 14"/>
          <p:cNvSpPr/>
          <p:nvPr/>
        </p:nvSpPr>
        <p:spPr>
          <a:xfrm>
            <a:off x="2743199"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cancelled</a:t>
            </a:r>
          </a:p>
        </p:txBody>
      </p:sp>
      <p:sp>
        <p:nvSpPr>
          <p:cNvPr id="16" name="Rounded Rectangle 15"/>
          <p:cNvSpPr/>
          <p:nvPr/>
        </p:nvSpPr>
        <p:spPr>
          <a:xfrm>
            <a:off x="4937758" y="5074920"/>
            <a:ext cx="2084831" cy="50292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escalated</a:t>
            </a:r>
          </a:p>
        </p:txBody>
      </p:sp>
      <p:sp>
        <p:nvSpPr>
          <p:cNvPr id="17" name="TextBox 16"/>
          <p:cNvSpPr txBox="1"/>
          <p:nvPr/>
        </p:nvSpPr>
        <p:spPr>
          <a:xfrm>
            <a:off x="548640" y="6126480"/>
            <a:ext cx="10058400" cy="274320"/>
          </a:xfrm>
          <a:prstGeom prst="rect">
            <a:avLst/>
          </a:prstGeom>
          <a:noFill/>
        </p:spPr>
        <p:txBody>
          <a:bodyPr wrap="square" anchor="t" lIns="25400" rIns="25400" tIns="25400" bIns="25400">
            <a:spAutoFit/>
          </a:bodyPr>
          <a:lstStyle/>
          <a:p>
            <a:pPr algn="l">
              <a:spcBef>
                <a:spcPts val="0"/>
              </a:spcBef>
              <a:spcAft>
                <a:spcPts val="400"/>
              </a:spcAft>
            </a:pPr>
            <a:r>
              <a:rPr sz="900" b="0">
                <a:solidFill>
                  <a:srgbClr val="504D46"/>
                </a:solidFill>
                <a:latin typeface="Archivo"/>
              </a:rPr>
              <a:t>1 actions  ·  0 states  ·  3 terminal outcomes</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1828800"/>
            <a:ext cx="10972800" cy="365760"/>
          </a:xfrm>
          <a:prstGeom prst="rect">
            <a:avLst/>
          </a:prstGeom>
          <a:noFill/>
        </p:spPr>
        <p:txBody>
          <a:bodyPr wrap="square" anchor="t" lIns="25400" rIns="25400" tIns="25400" bIns="25400">
            <a:spAutoFit/>
          </a:bodyPr>
          <a:lstStyle/>
          <a:p>
            <a:pPr algn="l">
              <a:spcBef>
                <a:spcPts val="0"/>
              </a:spcBef>
              <a:spcAft>
                <a:spcPts val="400"/>
              </a:spcAft>
            </a:pPr>
            <a:r>
              <a:rPr sz="1300" b="1">
                <a:solidFill>
                  <a:srgbClr val="D18E35"/>
                </a:solidFill>
                <a:latin typeface="Archivo"/>
              </a:rPr>
              <a:t>PART 4 · GTM</a:t>
            </a:r>
          </a:p>
        </p:txBody>
      </p:sp>
      <p:sp>
        <p:nvSpPr>
          <p:cNvPr id="6" name="TextBox 5"/>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Go-To-Market</a:t>
            </a:r>
          </a:p>
        </p:txBody>
      </p:sp>
      <p:sp>
        <p:nvSpPr>
          <p:cNvPr id="7" name="TextBox 6"/>
          <p:cNvSpPr txBox="1"/>
          <p:nvPr/>
        </p:nvSpPr>
        <p:spPr>
          <a:xfrm>
            <a:off x="640080" y="3456432"/>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Land the wedge, expand the network</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HOW WE FRAME THE MARKET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Positioning &amp; category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463040"/>
            <a:ext cx="11064240" cy="91440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005358"/>
                </a:solidFill>
                <a:latin typeface="Archivo"/>
              </a:rPr>
              <a:t>CEC is the shared transaction record for South Africa's unbundling energy market—the single platform where IPPs, traders, lenders, offtakers, grid operators, and regulators do the deal, settle it, and prove it.</a:t>
            </a:r>
          </a:p>
        </p:txBody>
      </p:sp>
      <p:sp>
        <p:nvSpPr>
          <p:cNvPr id="10" name="TextBox 9"/>
          <p:cNvSpPr txBox="1"/>
          <p:nvPr/>
        </p:nvSpPr>
        <p:spPr>
          <a:xfrm>
            <a:off x="548640" y="2468880"/>
            <a:ext cx="11064240" cy="365760"/>
          </a:xfrm>
          <a:prstGeom prst="rect">
            <a:avLst/>
          </a:prstGeom>
          <a:noFill/>
        </p:spPr>
        <p:txBody>
          <a:bodyPr wrap="square" anchor="t" lIns="25400" rIns="25400" tIns="25400" bIns="25400">
            <a:spAutoFit/>
          </a:bodyPr>
          <a:lstStyle/>
          <a:p>
            <a:pPr algn="l">
              <a:spcBef>
                <a:spcPts val="0"/>
              </a:spcBef>
              <a:spcAft>
                <a:spcPts val="400"/>
              </a:spcAft>
            </a:pPr>
            <a:r>
              <a:rPr sz="1200" b="1">
                <a:solidFill>
                  <a:srgbClr val="D18E35"/>
                </a:solidFill>
                <a:latin typeface="Archivo"/>
              </a:rPr>
              <a:t>Category:  </a:t>
            </a:r>
            <a:r>
              <a:rPr sz="1250" b="0">
                <a:solidFill>
                  <a:srgbClr val="1B1812"/>
                </a:solidFill>
                <a:latin typeface="Archivo"/>
              </a:rPr>
              <a:t>Energy Market Transaction Platform (the system of record for multi-party energy deals)</a:t>
            </a:r>
          </a:p>
        </p:txBody>
      </p:sp>
      <p:sp>
        <p:nvSpPr>
          <p:cNvPr id="11" name="TextBox 10"/>
          <p:cNvSpPr txBox="1"/>
          <p:nvPr/>
        </p:nvSpPr>
        <p:spPr>
          <a:xfrm>
            <a:off x="548640" y="3017520"/>
            <a:ext cx="1106424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DIFFERENTIATORS</a:t>
            </a:r>
          </a:p>
        </p:txBody>
      </p:sp>
      <p:sp>
        <p:nvSpPr>
          <p:cNvPr id="12" name="TextBox 11"/>
          <p:cNvSpPr txBox="1"/>
          <p:nvPr/>
        </p:nvSpPr>
        <p:spPr>
          <a:xfrm>
            <a:off x="548640" y="3337560"/>
            <a:ext cx="11064240" cy="4480560"/>
          </a:xfrm>
          <a:prstGeom prst="rect">
            <a:avLst/>
          </a:prstGeom>
          <a:noFill/>
        </p:spPr>
        <p:txBody>
          <a:bodyPr wrap="square" anchor="t" lIns="25400" rIns="25400" tIns="25400" bIns="25400">
            <a:spAutoFit/>
          </a:bodyPr>
          <a:lstStyle/>
          <a:p>
            <a:pPr algn="l">
              <a:spcBef>
                <a:spcPts val="0"/>
              </a:spcBef>
              <a:spcAft>
                <a:spcPts val="700"/>
              </a:spcAft>
            </a:pPr>
            <a:r>
              <a:rPr sz="1150" b="1">
                <a:solidFill>
                  <a:srgbClr val="D18E35"/>
                </a:solidFill>
                <a:latin typeface="Archivo"/>
              </a:rPr>
              <a:t>●  </a:t>
            </a:r>
            <a:r>
              <a:rPr sz="1150" b="0">
                <a:solidFill>
                  <a:srgbClr val="1B1812"/>
                </a:solidFill>
                <a:latin typeface="Archivo"/>
              </a:rPr>
              <a:t>Shared multi-party transaction record—not 11 disconnected portals; every role transacts against one source of truth, so the deal, settlement and audit are the same object</a:t>
            </a:r>
          </a:p>
          <a:p>
            <a:pPr algn="l">
              <a:spcBef>
                <a:spcPts val="0"/>
              </a:spcBef>
              <a:spcAft>
                <a:spcPts val="700"/>
              </a:spcAft>
            </a:pPr>
            <a:r>
              <a:rPr sz="1150" b="1">
                <a:solidFill>
                  <a:srgbClr val="D18E35"/>
                </a:solidFill>
                <a:latin typeface="Archivo"/>
              </a:rPr>
              <a:t>●  </a:t>
            </a:r>
            <a:r>
              <a:rPr sz="1150" b="0">
                <a:solidFill>
                  <a:srgbClr val="1B1812"/>
                </a:solidFill>
                <a:latin typeface="Archivo"/>
              </a:rPr>
              <a:t>207 governed lifecycle chains (78 cross-role) at L3–L5 depth—real state machines with pre-trade gating, cascades and dunning, not the read-only dashboards of single-point tools (NTT, Power Factors) or the spreadsheet status quo</a:t>
            </a:r>
          </a:p>
          <a:p>
            <a:pPr algn="l">
              <a:spcBef>
                <a:spcPts val="0"/>
              </a:spcBef>
              <a:spcAft>
                <a:spcPts val="700"/>
              </a:spcAft>
            </a:pPr>
            <a:r>
              <a:rPr sz="1150" b="1">
                <a:solidFill>
                  <a:srgbClr val="D18E35"/>
                </a:solidFill>
                <a:latin typeface="Archivo"/>
              </a:rPr>
              <a:t>●  </a:t>
            </a:r>
            <a:r>
              <a:rPr sz="1150" b="0">
                <a:solidFill>
                  <a:srgbClr val="1B1812"/>
                </a:solidFill>
                <a:latin typeface="Archivo"/>
              </a:rPr>
              <a:t>L5 regulator-grade tamper-evident audit + certified exports aligned to ERA 2006, NERSA Grid Code, POPIA, Carbon Tax Act, REIPPPP, JSE-SRL—compliance is native, not bolted on like generic ERPs (SAP)</a:t>
            </a:r>
          </a:p>
          <a:p>
            <a:pPr algn="l">
              <a:spcBef>
                <a:spcPts val="0"/>
              </a:spcBef>
              <a:spcAft>
                <a:spcPts val="700"/>
              </a:spcAft>
            </a:pPr>
            <a:r>
              <a:rPr sz="1150" b="1">
                <a:solidFill>
                  <a:srgbClr val="D18E35"/>
                </a:solidFill>
                <a:latin typeface="Archivo"/>
              </a:rPr>
              <a:t>●  </a:t>
            </a:r>
            <a:r>
              <a:rPr sz="1150" b="0">
                <a:solidFill>
                  <a:srgbClr val="1B1812"/>
                </a:solidFill>
                <a:latin typeface="Archivo"/>
              </a:rPr>
              <a:t>Born for SA's unbundling moment—NTCSA, wheeling framework, 100MW-threshold removal and Carbon Tax Phase-2 modelled into the chains, not retrofitted from a foreign trading-only product</a:t>
            </a:r>
          </a:p>
          <a:p>
            <a:pPr algn="l">
              <a:spcBef>
                <a:spcPts val="0"/>
              </a:spcBef>
              <a:spcAft>
                <a:spcPts val="700"/>
              </a:spcAft>
            </a:pPr>
            <a:r>
              <a:rPr sz="1150" b="1">
                <a:solidFill>
                  <a:srgbClr val="D18E35"/>
                </a:solidFill>
                <a:latin typeface="Archivo"/>
              </a:rPr>
              <a:t>●  </a:t>
            </a:r>
            <a:r>
              <a:rPr sz="1150" b="0">
                <a:solidFill>
                  <a:srgbClr val="1B1812"/>
                </a:solidFill>
                <a:latin typeface="Archivo"/>
              </a:rPr>
              <a:t>Single Cloudflare-edge multi-tenant app—instant counterparty onboarding and near-zero marginal cost per new participant, versus bespoke utility IT and multi-month SI implementations</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WHO WE LAND FIRST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Ideal customer profiles &amp; the wedge per segment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155680" cy="2487168"/>
        </p:xfrm>
        <a:graphic>
          <a:graphicData uri="http://schemas.openxmlformats.org/drawingml/2006/table">
            <a:tbl>
              <a:tblPr firstRow="1" bandRow="1">
                <a:tableStyleId>{5C22544A-7EE6-4342-B048-85BDC9FD1C3A}</a:tableStyleId>
              </a:tblPr>
              <a:tblGrid>
                <a:gridCol w="2651760"/>
                <a:gridCol w="4846320"/>
                <a:gridCol w="3657600"/>
              </a:tblGrid>
              <a:tr h="414528">
                <a:tc>
                  <a:txBody>
                    <a:bodyPr/>
                    <a:lstStyle/>
                    <a:p>
                      <a:r>
                        <a:rPr sz="900" b="1">
                          <a:solidFill>
                            <a:srgbClr val="FFFFFF"/>
                          </a:solidFill>
                          <a:latin typeface="Archivo"/>
                        </a:rPr>
                        <a:t>Segment</a:t>
                      </a:r>
                    </a:p>
                  </a:txBody>
                  <a:tcPr anchor="ctr">
                    <a:solidFill>
                      <a:srgbClr val="005358"/>
                    </a:solidFill>
                  </a:tcPr>
                </a:tc>
                <a:tc>
                  <a:txBody>
                    <a:bodyPr/>
                    <a:lstStyle/>
                    <a:p>
                      <a:r>
                        <a:rPr sz="900" b="1">
                          <a:solidFill>
                            <a:srgbClr val="FFFFFF"/>
                          </a:solidFill>
                          <a:latin typeface="Archivo"/>
                        </a:rPr>
                        <a:t>Pain today</a:t>
                      </a:r>
                    </a:p>
                  </a:txBody>
                  <a:tcPr anchor="ctr">
                    <a:solidFill>
                      <a:srgbClr val="005358"/>
                    </a:solidFill>
                  </a:tcPr>
                </a:tc>
                <a:tc>
                  <a:txBody>
                    <a:bodyPr/>
                    <a:lstStyle/>
                    <a:p>
                      <a:r>
                        <a:rPr sz="900" b="1">
                          <a:solidFill>
                            <a:srgbClr val="FFFFFF"/>
                          </a:solidFill>
                          <a:latin typeface="Archivo"/>
                        </a:rPr>
                        <a:t>Wedge</a:t>
                      </a:r>
                    </a:p>
                  </a:txBody>
                  <a:tcPr anchor="ctr">
                    <a:solidFill>
                      <a:srgbClr val="005358"/>
                    </a:solidFill>
                  </a:tcPr>
                </a:tc>
              </a:tr>
              <a:tr h="414528">
                <a:tc>
                  <a:txBody>
                    <a:bodyPr/>
                    <a:lstStyle/>
                    <a:p>
                      <a:r>
                        <a:rPr sz="850" b="1">
                          <a:solidFill>
                            <a:srgbClr val="005358"/>
                          </a:solidFill>
                          <a:latin typeface="Archivo"/>
                        </a:rPr>
                        <a:t>Private-wheeling C&amp;I IPP developers &amp; aggregators</a:t>
                      </a:r>
                    </a:p>
                  </a:txBody>
                  <a:tcPr anchor="ctr" marT="25400" marB="25400">
                    <a:solidFill>
                      <a:srgbClr val="FFFFFF"/>
                    </a:solidFill>
                  </a:tcPr>
                </a:tc>
                <a:tc>
                  <a:txBody>
                    <a:bodyPr/>
                    <a:lstStyle/>
                    <a:p>
                      <a:r>
                        <a:rPr sz="850" b="0">
                          <a:solidFill>
                            <a:srgbClr val="1B1812"/>
                          </a:solidFill>
                          <a:latin typeface="Archivo"/>
                        </a:rPr>
                        <a:t>Wheeling deals run on spreadsheets+email across NTCSA, municipality, offtaker, lender, ESCO—no shared record, settl</a:t>
                      </a:r>
                    </a:p>
                  </a:txBody>
                  <a:tcPr anchor="ctr" marT="25400" marB="25400">
                    <a:solidFill>
                      <a:srgbClr val="FFFFFF"/>
                    </a:solidFill>
                  </a:tcPr>
                </a:tc>
                <a:tc>
                  <a:txBody>
                    <a:bodyPr/>
                    <a:lstStyle/>
                    <a:p>
                      <a:r>
                        <a:rPr sz="850" b="0">
                          <a:solidFill>
                            <a:srgbClr val="1B1812"/>
                          </a:solidFill>
                          <a:latin typeface="Archivo"/>
                        </a:rPr>
                        <a:t>IPP project-lifecycle chains (procurement→COD→PPA exec→settlement) as the system of record for </a:t>
                      </a:r>
                    </a:p>
                  </a:txBody>
                  <a:tcPr anchor="ctr" marT="25400" marB="25400">
                    <a:solidFill>
                      <a:srgbClr val="FFFFFF"/>
                    </a:solidFill>
                  </a:tcPr>
                </a:tc>
              </a:tr>
              <a:tr h="414528">
                <a:tc>
                  <a:txBody>
                    <a:bodyPr/>
                    <a:lstStyle/>
                    <a:p>
                      <a:r>
                        <a:rPr sz="850" b="1">
                          <a:solidFill>
                            <a:srgbClr val="005358"/>
                          </a:solidFill>
                          <a:latin typeface="Archivo"/>
                        </a:rPr>
                        <a:t>Corporate &amp; municipal energy offtakers</a:t>
                      </a:r>
                    </a:p>
                  </a:txBody>
                  <a:tcPr anchor="ctr" marT="25400" marB="25400">
                    <a:solidFill>
                      <a:srgbClr val="F5F3EF"/>
                    </a:solidFill>
                  </a:tcPr>
                </a:tc>
                <a:tc>
                  <a:txBody>
                    <a:bodyPr/>
                    <a:lstStyle/>
                    <a:p>
                      <a:r>
                        <a:rPr sz="850" b="0">
                          <a:solidFill>
                            <a:srgbClr val="1B1812"/>
                          </a:solidFill>
                          <a:latin typeface="Archivo"/>
                        </a:rPr>
                        <a:t>Manage 3-10 PPAs across providers with no contracted-vs-delivered visibility, take-or-pay leakage, Scope-2/REC clai</a:t>
                      </a:r>
                    </a:p>
                  </a:txBody>
                  <a:tcPr anchor="ctr" marT="25400" marB="25400">
                    <a:solidFill>
                      <a:srgbClr val="F5F3EF"/>
                    </a:solidFill>
                  </a:tcPr>
                </a:tc>
                <a:tc>
                  <a:txBody>
                    <a:bodyPr/>
                    <a:lstStyle/>
                    <a:p>
                      <a:r>
                        <a:rPr sz="850" b="0">
                          <a:solidFill>
                            <a:srgbClr val="1B1812"/>
                          </a:solidFill>
                          <a:latin typeface="Archivo"/>
                        </a:rPr>
                        <a:t>Offtaker portal: PPA contract management + delivered-vs-contracted reconciliation + REC/Scope-2</a:t>
                      </a:r>
                    </a:p>
                  </a:txBody>
                  <a:tcPr anchor="ctr" marT="25400" marB="25400">
                    <a:solidFill>
                      <a:srgbClr val="F5F3EF"/>
                    </a:solidFill>
                  </a:tcPr>
                </a:tc>
              </a:tr>
              <a:tr h="414528">
                <a:tc>
                  <a:txBody>
                    <a:bodyPr/>
                    <a:lstStyle/>
                    <a:p>
                      <a:r>
                        <a:rPr sz="850" b="1">
                          <a:solidFill>
                            <a:srgbClr val="005358"/>
                          </a:solidFill>
                          <a:latin typeface="Archivo"/>
                        </a:rPr>
                        <a:t>Project-finance lenders &amp; DFIs</a:t>
                      </a:r>
                    </a:p>
                  </a:txBody>
                  <a:tcPr anchor="ctr" marT="25400" marB="25400">
                    <a:solidFill>
                      <a:srgbClr val="FFFFFF"/>
                    </a:solidFill>
                  </a:tcPr>
                </a:tc>
                <a:tc>
                  <a:txBody>
                    <a:bodyPr/>
                    <a:lstStyle/>
                    <a:p>
                      <a:r>
                        <a:rPr sz="850" b="0">
                          <a:solidFill>
                            <a:srgbClr val="1B1812"/>
                          </a:solidFill>
                          <a:latin typeface="Archivo"/>
                        </a:rPr>
                        <a:t>Covenant monitoring, drawdown CP-gating, security perfection and disbursement tracking live in PDFs and email; port</a:t>
                      </a:r>
                    </a:p>
                  </a:txBody>
                  <a:tcPr anchor="ctr" marT="25400" marB="25400">
                    <a:solidFill>
                      <a:srgbClr val="FFFFFF"/>
                    </a:solidFill>
                  </a:tcPr>
                </a:tc>
                <a:tc>
                  <a:txBody>
                    <a:bodyPr/>
                    <a:lstStyle/>
                    <a:p>
                      <a:r>
                        <a:rPr sz="850" b="0">
                          <a:solidFill>
                            <a:srgbClr val="1B1812"/>
                          </a:solidFill>
                          <a:latin typeface="Archivo"/>
                        </a:rPr>
                        <a:t>Lender portal: covenant certificates + drawdown/disbursement chains against the borrower's live</a:t>
                      </a:r>
                    </a:p>
                  </a:txBody>
                  <a:tcPr anchor="ctr" marT="25400" marB="25400">
                    <a:solidFill>
                      <a:srgbClr val="FFFFFF"/>
                    </a:solidFill>
                  </a:tcPr>
                </a:tc>
              </a:tr>
              <a:tr h="414528">
                <a:tc>
                  <a:txBody>
                    <a:bodyPr/>
                    <a:lstStyle/>
                    <a:p>
                      <a:r>
                        <a:rPr sz="850" b="1">
                          <a:solidFill>
                            <a:srgbClr val="005358"/>
                          </a:solidFill>
                          <a:latin typeface="Archivo"/>
                        </a:rPr>
                        <a:t>Power traders &amp; market-makers</a:t>
                      </a:r>
                    </a:p>
                  </a:txBody>
                  <a:tcPr anchor="ctr" marT="25400" marB="25400">
                    <a:solidFill>
                      <a:srgbClr val="F5F3EF"/>
                    </a:solidFill>
                  </a:tcPr>
                </a:tc>
                <a:tc>
                  <a:txBody>
                    <a:bodyPr/>
                    <a:lstStyle/>
                    <a:p>
                      <a:r>
                        <a:rPr sz="850" b="0">
                          <a:solidFill>
                            <a:srgbClr val="1B1812"/>
                          </a:solidFill>
                          <a:latin typeface="Archivo"/>
                        </a:rPr>
                        <a:t>Pre-trade credit/exposure gating, FMA/FSCA best-execution + trade-repository reporting, surveillance—no integrated </a:t>
                      </a:r>
                    </a:p>
                  </a:txBody>
                  <a:tcPr anchor="ctr" marT="25400" marB="25400">
                    <a:solidFill>
                      <a:srgbClr val="F5F3EF"/>
                    </a:solidFill>
                  </a:tcPr>
                </a:tc>
                <a:tc>
                  <a:txBody>
                    <a:bodyPr/>
                    <a:lstStyle/>
                    <a:p>
                      <a:r>
                        <a:rPr sz="850" b="0">
                          <a:solidFill>
                            <a:srgbClr val="1B1812"/>
                          </a:solidFill>
                          <a:latin typeface="Archivo"/>
                        </a:rPr>
                        <a:t>Trading + pre-trade guards + settlement chains as an integrated regulated venue</a:t>
                      </a:r>
                    </a:p>
                  </a:txBody>
                  <a:tcPr anchor="ctr" marT="25400" marB="25400">
                    <a:solidFill>
                      <a:srgbClr val="F5F3EF"/>
                    </a:solidFill>
                  </a:tcPr>
                </a:tc>
              </a:tr>
              <a:tr h="414528">
                <a:tc>
                  <a:txBody>
                    <a:bodyPr/>
                    <a:lstStyle/>
                    <a:p>
                      <a:r>
                        <a:rPr sz="850" b="1">
                          <a:solidFill>
                            <a:srgbClr val="005358"/>
                          </a:solidFill>
                          <a:latin typeface="Archivo"/>
                        </a:rPr>
                        <a:t>Grid operator &amp; regulator (NTCSA / NERSA)</a:t>
                      </a:r>
                    </a:p>
                  </a:txBody>
                  <a:tcPr anchor="ctr" marT="25400" marB="25400">
                    <a:solidFill>
                      <a:srgbClr val="FFFFFF"/>
                    </a:solidFill>
                  </a:tcPr>
                </a:tc>
                <a:tc>
                  <a:txBody>
                    <a:bodyPr/>
                    <a:lstStyle/>
                    <a:p>
                      <a:r>
                        <a:rPr sz="850" b="0">
                          <a:solidFill>
                            <a:srgbClr val="1B1812"/>
                          </a:solidFill>
                          <a:latin typeface="Archivo"/>
                        </a:rPr>
                        <a:t>Capacity allocation queues, wheeling charges, connection agreements, grid-code compliance and licence adjudication </a:t>
                      </a:r>
                    </a:p>
                  </a:txBody>
                  <a:tcPr anchor="ctr" marT="25400" marB="25400">
                    <a:solidFill>
                      <a:srgbClr val="FFFFFF"/>
                    </a:solidFill>
                  </a:tcPr>
                </a:tc>
                <a:tc>
                  <a:txBody>
                    <a:bodyPr/>
                    <a:lstStyle/>
                    <a:p>
                      <a:r>
                        <a:rPr sz="850" b="0">
                          <a:solidFill>
                            <a:srgbClr val="1B1812"/>
                          </a:solidFill>
                          <a:latin typeface="Archivo"/>
                        </a:rPr>
                        <a:t>Grid capacity-allocation + connection-agreement chains; regulator inbox materialiser with SLA a</a:t>
                      </a:r>
                    </a:p>
                  </a:txBody>
                  <a:tcPr anchor="ctr" marT="25400" marB="25400">
                    <a:solidFill>
                      <a:srgbClr val="FFFFFF"/>
                    </a:solidFill>
                  </a:tcPr>
                </a:tc>
              </a:tr>
            </a:tbl>
          </a:graphicData>
        </a:graphic>
      </p:graphicFrame>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THE COMPOUNDING MOTION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Land · expand · moat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737360"/>
            <a:ext cx="11064240" cy="4480560"/>
          </a:xfrm>
          <a:prstGeom prst="rect">
            <a:avLst/>
          </a:prstGeom>
          <a:noFill/>
        </p:spPr>
        <p:txBody>
          <a:bodyPr wrap="square" anchor="t" lIns="25400" rIns="25400" tIns="25400" bIns="25400">
            <a:spAutoFit/>
          </a:bodyPr>
          <a:lstStyle/>
          <a:p>
            <a:pPr algn="l">
              <a:spcBef>
                <a:spcPts val="0"/>
              </a:spcBef>
              <a:spcAft>
                <a:spcPts val="1400"/>
              </a:spcAft>
            </a:pPr>
            <a:r>
              <a:rPr sz="1300" b="1">
                <a:solidFill>
                  <a:srgbClr val="D18E35"/>
                </a:solidFill>
                <a:latin typeface="Archivo"/>
              </a:rPr>
              <a:t>●  </a:t>
            </a:r>
            <a:r>
              <a:rPr sz="1300" b="1">
                <a:solidFill>
                  <a:srgbClr val="005358"/>
                </a:solidFill>
                <a:latin typeface="Archivo"/>
              </a:rPr>
              <a:t>Land</a:t>
            </a:r>
            <a:r>
              <a:rPr sz="1300" b="0">
                <a:solidFill>
                  <a:srgbClr val="1B1812"/>
                </a:solidFill>
                <a:latin typeface="Archivo"/>
              </a:rPr>
              <a:t>:  Land with the private-wheeling C&amp;I IPP developer on a single flagship deal: the IPP project-lifecycle + PPA-settlement chains. The developer feels the most acute multi-party coordination pain today, controls deal origination, and post-100MW-threshold-removal there is a high-volume, fast-closing pipeline of these deals.</a:t>
            </a:r>
          </a:p>
          <a:p>
            <a:pPr algn="l">
              <a:spcBef>
                <a:spcPts val="0"/>
              </a:spcBef>
              <a:spcAft>
                <a:spcPts val="1400"/>
              </a:spcAft>
            </a:pPr>
            <a:r>
              <a:rPr sz="1300" b="1">
                <a:solidFill>
                  <a:srgbClr val="D18E35"/>
                </a:solidFill>
                <a:latin typeface="Archivo"/>
              </a:rPr>
              <a:t>●  </a:t>
            </a:r>
            <a:r>
              <a:rPr sz="1300" b="1">
                <a:solidFill>
                  <a:srgbClr val="005358"/>
                </a:solidFill>
                <a:latin typeface="Archivo"/>
              </a:rPr>
              <a:t>Expand</a:t>
            </a:r>
            <a:r>
              <a:rPr sz="1300" b="0">
                <a:solidFill>
                  <a:srgbClr val="1B1812"/>
                </a:solidFill>
                <a:latin typeface="Archivo"/>
              </a:rPr>
              <a:t>:  Every wheeling deal is inherently multi-party. Once the IPP is on the shared record, the offtaker, lender, ESCO/O&amp;M and grid counterparty are invited onto that same record to transact (free or low-friction)—each becomes a seeded account that then standardises its own whole portfolio on CEC. Cross-role chains (78 of them) make every new counterparty a new land-and-expand vector.</a:t>
            </a:r>
          </a:p>
          <a:p>
            <a:pPr algn="l">
              <a:spcBef>
                <a:spcPts val="0"/>
              </a:spcBef>
              <a:spcAft>
                <a:spcPts val="1400"/>
              </a:spcAft>
            </a:pPr>
            <a:r>
              <a:rPr sz="1300" b="1">
                <a:solidFill>
                  <a:srgbClr val="D18E35"/>
                </a:solidFill>
                <a:latin typeface="Archivo"/>
              </a:rPr>
              <a:t>●  </a:t>
            </a:r>
            <a:r>
              <a:rPr sz="1300" b="1">
                <a:solidFill>
                  <a:srgbClr val="005358"/>
                </a:solidFill>
                <a:latin typeface="Archivo"/>
              </a:rPr>
              <a:t>Moat</a:t>
            </a:r>
            <a:r>
              <a:rPr sz="1300" b="0">
                <a:solidFill>
                  <a:srgbClr val="1B1812"/>
                </a:solidFill>
                <a:latin typeface="Archivo"/>
              </a:rPr>
              <a:t>:  Compounding network + data + compliance lock-in: (1) the shared transaction record means leaving means losing your counterparties' side of every deal; (2) the L5 tamper-evident audit/evidence chain is the regulatory record of truth for NERSA/Carbon Tax/JSE-SRL—rip-and-replace means recreating years of compliance provenance; (3) multi-tenant network effects—the more counterparties on-platform, the cheaper and faster every new deal closes, so switching cost rises with each role added.</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HOW WE REACH EACH ROLE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Channels &amp; motion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155680" cy="2487168"/>
        </p:xfrm>
        <a:graphic>
          <a:graphicData uri="http://schemas.openxmlformats.org/drawingml/2006/table">
            <a:tbl>
              <a:tblPr firstRow="1" bandRow="1">
                <a:tableStyleId>{5C22544A-7EE6-4342-B048-85BDC9FD1C3A}</a:tableStyleId>
              </a:tblPr>
              <a:tblGrid>
                <a:gridCol w="3017520"/>
                <a:gridCol w="5486400"/>
                <a:gridCol w="2651760"/>
              </a:tblGrid>
              <a:tr h="414528">
                <a:tc>
                  <a:txBody>
                    <a:bodyPr/>
                    <a:lstStyle/>
                    <a:p>
                      <a:r>
                        <a:rPr sz="950" b="1">
                          <a:solidFill>
                            <a:srgbClr val="FFFFFF"/>
                          </a:solidFill>
                          <a:latin typeface="Archivo"/>
                        </a:rPr>
                        <a:t>Channel</a:t>
                      </a:r>
                    </a:p>
                  </a:txBody>
                  <a:tcPr anchor="ctr">
                    <a:solidFill>
                      <a:srgbClr val="005358"/>
                    </a:solidFill>
                  </a:tcPr>
                </a:tc>
                <a:tc>
                  <a:txBody>
                    <a:bodyPr/>
                    <a:lstStyle/>
                    <a:p>
                      <a:r>
                        <a:rPr sz="950" b="1">
                          <a:solidFill>
                            <a:srgbClr val="FFFFFF"/>
                          </a:solidFill>
                          <a:latin typeface="Archivo"/>
                        </a:rPr>
                        <a:t>Motion</a:t>
                      </a:r>
                    </a:p>
                  </a:txBody>
                  <a:tcPr anchor="ctr">
                    <a:solidFill>
                      <a:srgbClr val="005358"/>
                    </a:solidFill>
                  </a:tcPr>
                </a:tc>
                <a:tc>
                  <a:txBody>
                    <a:bodyPr/>
                    <a:lstStyle/>
                    <a:p>
                      <a:r>
                        <a:rPr sz="950" b="1">
                          <a:solidFill>
                            <a:srgbClr val="FFFFFF"/>
                          </a:solidFill>
                          <a:latin typeface="Archivo"/>
                        </a:rPr>
                        <a:t>Best for</a:t>
                      </a:r>
                    </a:p>
                  </a:txBody>
                  <a:tcPr anchor="ctr">
                    <a:solidFill>
                      <a:srgbClr val="005358"/>
                    </a:solidFill>
                  </a:tcPr>
                </a:tc>
              </a:tr>
              <a:tr h="414528">
                <a:tc>
                  <a:txBody>
                    <a:bodyPr/>
                    <a:lstStyle/>
                    <a:p>
                      <a:r>
                        <a:rPr sz="900" b="1">
                          <a:solidFill>
                            <a:srgbClr val="005358"/>
                          </a:solidFill>
                          <a:latin typeface="Archivo"/>
                        </a:rPr>
                        <a:t>Founder/exec direct enterprise sales</a:t>
                      </a:r>
                    </a:p>
                  </a:txBody>
                  <a:tcPr anchor="ctr" marT="25400" marB="25400">
                    <a:solidFill>
                      <a:srgbClr val="FFFFFF"/>
                    </a:solidFill>
                  </a:tcPr>
                </a:tc>
                <a:tc>
                  <a:txBody>
                    <a:bodyPr/>
                    <a:lstStyle/>
                    <a:p>
                      <a:r>
                        <a:rPr sz="900" b="0">
                          <a:solidFill>
                            <a:srgbClr val="1B1812"/>
                          </a:solidFill>
                          <a:latin typeface="Archivo"/>
                        </a:rPr>
                        <a:t>Targeted outbound + warm intros to anchor IPP developers and large C&amp;I offtakers; land one flagship </a:t>
                      </a:r>
                    </a:p>
                  </a:txBody>
                  <a:tcPr anchor="ctr" marT="25400" marB="25400">
                    <a:solidFill>
                      <a:srgbClr val="FFFFFF"/>
                    </a:solidFill>
                  </a:tcPr>
                </a:tc>
                <a:tc>
                  <a:txBody>
                    <a:bodyPr/>
                    <a:lstStyle/>
                    <a:p>
                      <a:r>
                        <a:rPr sz="900" b="0">
                          <a:solidFill>
                            <a:srgbClr val="1B1812"/>
                          </a:solidFill>
                          <a:latin typeface="Archivo"/>
                        </a:rPr>
                        <a:t>Private-wheeling IPP developers; corporate/municipal of</a:t>
                      </a:r>
                    </a:p>
                  </a:txBody>
                  <a:tcPr anchor="ctr" marT="25400" marB="25400">
                    <a:solidFill>
                      <a:srgbClr val="FFFFFF"/>
                    </a:solidFill>
                  </a:tcPr>
                </a:tc>
              </a:tr>
              <a:tr h="414528">
                <a:tc>
                  <a:txBody>
                    <a:bodyPr/>
                    <a:lstStyle/>
                    <a:p>
                      <a:r>
                        <a:rPr sz="900" b="1">
                          <a:solidFill>
                            <a:srgbClr val="005358"/>
                          </a:solidFill>
                          <a:latin typeface="Archivo"/>
                        </a:rPr>
                        <a:t>Counterparty-led viral expansion (PLG within the deal)</a:t>
                      </a:r>
                    </a:p>
                  </a:txBody>
                  <a:tcPr anchor="ctr" marT="25400" marB="25400">
                    <a:solidFill>
                      <a:srgbClr val="F5F3EF"/>
                    </a:solidFill>
                  </a:tcPr>
                </a:tc>
                <a:tc>
                  <a:txBody>
                    <a:bodyPr/>
                    <a:lstStyle/>
                    <a:p>
                      <a:r>
                        <a:rPr sz="900" b="0">
                          <a:solidFill>
                            <a:srgbClr val="1B1812"/>
                          </a:solidFill>
                          <a:latin typeface="Archivo"/>
                        </a:rPr>
                        <a:t>Each transaction invites the other side onto the shared record at low/no cost; the invited counterpa</a:t>
                      </a:r>
                    </a:p>
                  </a:txBody>
                  <a:tcPr anchor="ctr" marT="25400" marB="25400">
                    <a:solidFill>
                      <a:srgbClr val="F5F3EF"/>
                    </a:solidFill>
                  </a:tcPr>
                </a:tc>
                <a:tc>
                  <a:txBody>
                    <a:bodyPr/>
                    <a:lstStyle/>
                    <a:p>
                      <a:r>
                        <a:rPr sz="900" b="0">
                          <a:solidFill>
                            <a:srgbClr val="1B1812"/>
                          </a:solidFill>
                          <a:latin typeface="Archivo"/>
                        </a:rPr>
                        <a:t>Lenders, offtakers, ESCOs, grid—anyone pulled in as a d</a:t>
                      </a:r>
                    </a:p>
                  </a:txBody>
                  <a:tcPr anchor="ctr" marT="25400" marB="25400">
                    <a:solidFill>
                      <a:srgbClr val="F5F3EF"/>
                    </a:solidFill>
                  </a:tcPr>
                </a:tc>
              </a:tr>
              <a:tr h="414528">
                <a:tc>
                  <a:txBody>
                    <a:bodyPr/>
                    <a:lstStyle/>
                    <a:p>
                      <a:r>
                        <a:rPr sz="900" b="1">
                          <a:solidFill>
                            <a:srgbClr val="005358"/>
                          </a:solidFill>
                          <a:latin typeface="Archivo"/>
                        </a:rPr>
                        <a:t>Industry-body &amp; ecosystem partnerships</a:t>
                      </a:r>
                    </a:p>
                  </a:txBody>
                  <a:tcPr anchor="ctr" marT="25400" marB="25400">
                    <a:solidFill>
                      <a:srgbClr val="FFFFFF"/>
                    </a:solidFill>
                  </a:tcPr>
                </a:tc>
                <a:tc>
                  <a:txBody>
                    <a:bodyPr/>
                    <a:lstStyle/>
                    <a:p>
                      <a:r>
                        <a:rPr sz="900" b="0">
                          <a:solidFill>
                            <a:srgbClr val="1B1812"/>
                          </a:solidFill>
                          <a:latin typeface="Archivo"/>
                        </a:rPr>
                        <a:t>Co-marketing, standards alignment and member onboarding via SAPVIA, SAWEA, SAIPPA and DFI programmes</a:t>
                      </a:r>
                    </a:p>
                  </a:txBody>
                  <a:tcPr anchor="ctr" marT="25400" marB="25400">
                    <a:solidFill>
                      <a:srgbClr val="FFFFFF"/>
                    </a:solidFill>
                  </a:tcPr>
                </a:tc>
                <a:tc>
                  <a:txBody>
                    <a:bodyPr/>
                    <a:lstStyle/>
                    <a:p>
                      <a:r>
                        <a:rPr sz="900" b="0">
                          <a:solidFill>
                            <a:srgbClr val="1B1812"/>
                          </a:solidFill>
                          <a:latin typeface="Archivo"/>
                        </a:rPr>
                        <a:t>IPP developers, EPC primes, the whole renewables ecosys</a:t>
                      </a:r>
                    </a:p>
                  </a:txBody>
                  <a:tcPr anchor="ctr" marT="25400" marB="25400">
                    <a:solidFill>
                      <a:srgbClr val="FFFFFF"/>
                    </a:solidFill>
                  </a:tcPr>
                </a:tc>
              </a:tr>
              <a:tr h="414528">
                <a:tc>
                  <a:txBody>
                    <a:bodyPr/>
                    <a:lstStyle/>
                    <a:p>
                      <a:r>
                        <a:rPr sz="900" b="1">
                          <a:solidFill>
                            <a:srgbClr val="005358"/>
                          </a:solidFill>
                          <a:latin typeface="Archivo"/>
                        </a:rPr>
                        <a:t>Lender/DFI channel partnerships</a:t>
                      </a:r>
                    </a:p>
                  </a:txBody>
                  <a:tcPr anchor="ctr" marT="25400" marB="25400">
                    <a:solidFill>
                      <a:srgbClr val="F5F3EF"/>
                    </a:solidFill>
                  </a:tcPr>
                </a:tc>
                <a:tc>
                  <a:txBody>
                    <a:bodyPr/>
                    <a:lstStyle/>
                    <a:p>
                      <a:r>
                        <a:rPr sz="900" b="0">
                          <a:solidFill>
                            <a:srgbClr val="1B1812"/>
                          </a:solidFill>
                          <a:latin typeface="Archivo"/>
                        </a:rPr>
                        <a:t>Banks and DFIs mandate or recommend CEC for covenant/drawdown monitoring as a financing condition, p</a:t>
                      </a:r>
                    </a:p>
                  </a:txBody>
                  <a:tcPr anchor="ctr" marT="25400" marB="25400">
                    <a:solidFill>
                      <a:srgbClr val="F5F3EF"/>
                    </a:solidFill>
                  </a:tcPr>
                </a:tc>
                <a:tc>
                  <a:txBody>
                    <a:bodyPr/>
                    <a:lstStyle/>
                    <a:p>
                      <a:r>
                        <a:rPr sz="900" b="0">
                          <a:solidFill>
                            <a:srgbClr val="1B1812"/>
                          </a:solidFill>
                          <a:latin typeface="Archivo"/>
                        </a:rPr>
                        <a:t>Lenders, and by extension every IPP they finance</a:t>
                      </a:r>
                    </a:p>
                  </a:txBody>
                  <a:tcPr anchor="ctr" marT="25400" marB="25400">
                    <a:solidFill>
                      <a:srgbClr val="F5F3EF"/>
                    </a:solidFill>
                  </a:tcPr>
                </a:tc>
              </a:tr>
              <a:tr h="414528">
                <a:tc>
                  <a:txBody>
                    <a:bodyPr/>
                    <a:lstStyle/>
                    <a:p>
                      <a:r>
                        <a:rPr sz="900" b="1">
                          <a:solidFill>
                            <a:srgbClr val="005358"/>
                          </a:solidFill>
                          <a:latin typeface="Archivo"/>
                        </a:rPr>
                        <a:t>Regulatory &amp; SI/advisory partnerships</a:t>
                      </a:r>
                    </a:p>
                  </a:txBody>
                  <a:tcPr anchor="ctr" marT="25400" marB="25400">
                    <a:solidFill>
                      <a:srgbClr val="FFFFFF"/>
                    </a:solidFill>
                  </a:tcPr>
                </a:tc>
                <a:tc>
                  <a:txBody>
                    <a:bodyPr/>
                    <a:lstStyle/>
                    <a:p>
                      <a:r>
                        <a:rPr sz="900" b="0">
                          <a:solidFill>
                            <a:srgbClr val="1B1812"/>
                          </a:solidFill>
                          <a:latin typeface="Archivo"/>
                        </a:rPr>
                        <a:t>Big-4 and energy-advisory firms implement CEC in REIPPPP/wheeling mandates; NERSA/NTCSA reference in</a:t>
                      </a:r>
                    </a:p>
                  </a:txBody>
                  <a:tcPr anchor="ctr" marT="25400" marB="25400">
                    <a:solidFill>
                      <a:srgbClr val="FFFFFF"/>
                    </a:solidFill>
                  </a:tcPr>
                </a:tc>
                <a:tc>
                  <a:txBody>
                    <a:bodyPr/>
                    <a:lstStyle/>
                    <a:p>
                      <a:r>
                        <a:rPr sz="900" b="0">
                          <a:solidFill>
                            <a:srgbClr val="1B1812"/>
                          </a:solidFill>
                          <a:latin typeface="Archivo"/>
                        </a:rPr>
                        <a:t>Regulator, grid operator, large multi-asset portfolios</a:t>
                      </a:r>
                    </a:p>
                  </a:txBody>
                  <a:tcPr anchor="ctr" marT="25400" marB="25400">
                    <a:solidFill>
                      <a:srgbClr val="FFFF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FROM SIGNUP TO ECOSYSTEM MANDATE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Sales motion &amp; partnerships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548640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SALES MOTION</a:t>
            </a:r>
          </a:p>
        </p:txBody>
      </p:sp>
      <p:sp>
        <p:nvSpPr>
          <p:cNvPr id="10" name="TextBox 9"/>
          <p:cNvSpPr txBox="1"/>
          <p:nvPr/>
        </p:nvSpPr>
        <p:spPr>
          <a:xfrm>
            <a:off x="548640" y="1691640"/>
            <a:ext cx="5486400" cy="4480560"/>
          </a:xfrm>
          <a:prstGeom prst="rect">
            <a:avLst/>
          </a:prstGeom>
          <a:noFill/>
        </p:spPr>
        <p:txBody>
          <a:bodyPr wrap="square" anchor="t" lIns="25400" rIns="25400" tIns="25400" bIns="25400">
            <a:spAutoFit/>
          </a:bodyPr>
          <a:lstStyle/>
          <a:p>
            <a:pPr algn="l">
              <a:spcBef>
                <a:spcPts val="0"/>
              </a:spcBef>
              <a:spcAft>
                <a:spcPts val="600"/>
              </a:spcAft>
            </a:pPr>
            <a:r>
              <a:rPr sz="1000" b="1">
                <a:solidFill>
                  <a:srgbClr val="D18E35"/>
                </a:solidFill>
                <a:latin typeface="Archivo"/>
              </a:rPr>
              <a:t>●  </a:t>
            </a:r>
            <a:r>
              <a:rPr sz="1000" b="1">
                <a:solidFill>
                  <a:srgbClr val="005358"/>
                </a:solidFill>
                <a:latin typeface="Archivo"/>
              </a:rPr>
              <a:t>Inbound/seed onboarding (minutes-2 wks)</a:t>
            </a:r>
            <a:r>
              <a:rPr sz="1000" b="0">
                <a:solidFill>
                  <a:srgbClr val="1B1812"/>
                </a:solidFill>
                <a:latin typeface="Archivo"/>
              </a:rPr>
              <a:t>:  Counterparty self-serves into a live deal record at low/no cost (demo personas, guided first-run)</a:t>
            </a:r>
          </a:p>
          <a:p>
            <a:pPr algn="l">
              <a:spcBef>
                <a:spcPts val="0"/>
              </a:spcBef>
              <a:spcAft>
                <a:spcPts val="600"/>
              </a:spcAft>
            </a:pPr>
            <a:r>
              <a:rPr sz="1000" b="1">
                <a:solidFill>
                  <a:srgbClr val="D18E35"/>
                </a:solidFill>
                <a:latin typeface="Archivo"/>
              </a:rPr>
              <a:t>●  </a:t>
            </a:r>
            <a:r>
              <a:rPr sz="1000" b="1">
                <a:solidFill>
                  <a:srgbClr val="005358"/>
                </a:solidFill>
                <a:latin typeface="Archivo"/>
              </a:rPr>
              <a:t>Flagship-deal pilot (4-8 wks)</a:t>
            </a:r>
            <a:r>
              <a:rPr sz="1000" b="0">
                <a:solidFill>
                  <a:srgbClr val="1B1812"/>
                </a:solidFill>
                <a:latin typeface="Archivo"/>
              </a:rPr>
              <a:t>:  Run one real wheeling/PPA deal end-to-end on the shared record to prove settlement + audit value</a:t>
            </a:r>
          </a:p>
          <a:p>
            <a:pPr algn="l">
              <a:spcBef>
                <a:spcPts val="0"/>
              </a:spcBef>
              <a:spcAft>
                <a:spcPts val="600"/>
              </a:spcAft>
            </a:pPr>
            <a:r>
              <a:rPr sz="1000" b="1">
                <a:solidFill>
                  <a:srgbClr val="D18E35"/>
                </a:solidFill>
                <a:latin typeface="Archivo"/>
              </a:rPr>
              <a:t>●  </a:t>
            </a:r>
            <a:r>
              <a:rPr sz="1000" b="1">
                <a:solidFill>
                  <a:srgbClr val="005358"/>
                </a:solidFill>
                <a:latin typeface="Archivo"/>
              </a:rPr>
              <a:t>Value case + procurement (4-6 wks)</a:t>
            </a:r>
            <a:r>
              <a:rPr sz="1000" b="0">
                <a:solidFill>
                  <a:srgbClr val="1B1812"/>
                </a:solidFill>
                <a:latin typeface="Archivo"/>
              </a:rPr>
              <a:t>:  Quantify settlement-leakage, dispute and compliance-cost savings; clear security/POPIA review</a:t>
            </a:r>
          </a:p>
          <a:p>
            <a:pPr algn="l">
              <a:spcBef>
                <a:spcPts val="0"/>
              </a:spcBef>
              <a:spcAft>
                <a:spcPts val="600"/>
              </a:spcAft>
            </a:pPr>
            <a:r>
              <a:rPr sz="1000" b="1">
                <a:solidFill>
                  <a:srgbClr val="D18E35"/>
                </a:solidFill>
                <a:latin typeface="Archivo"/>
              </a:rPr>
              <a:t>●  </a:t>
            </a:r>
            <a:r>
              <a:rPr sz="1000" b="1">
                <a:solidFill>
                  <a:srgbClr val="005358"/>
                </a:solidFill>
                <a:latin typeface="Archivo"/>
              </a:rPr>
              <a:t>Role rollout (6-12 wks)</a:t>
            </a:r>
            <a:r>
              <a:rPr sz="1000" b="0">
                <a:solidFill>
                  <a:srgbClr val="1B1812"/>
                </a:solidFill>
                <a:latin typeface="Archivo"/>
              </a:rPr>
              <a:t>:  Standardise the customer's whole portfolio for their primary role across all relevant chains</a:t>
            </a:r>
          </a:p>
          <a:p>
            <a:pPr algn="l">
              <a:spcBef>
                <a:spcPts val="0"/>
              </a:spcBef>
              <a:spcAft>
                <a:spcPts val="600"/>
              </a:spcAft>
            </a:pPr>
            <a:r>
              <a:rPr sz="1000" b="1">
                <a:solidFill>
                  <a:srgbClr val="D18E35"/>
                </a:solidFill>
                <a:latin typeface="Archivo"/>
              </a:rPr>
              <a:t>●  </a:t>
            </a:r>
            <a:r>
              <a:rPr sz="1000" b="1">
                <a:solidFill>
                  <a:srgbClr val="005358"/>
                </a:solidFill>
                <a:latin typeface="Archivo"/>
              </a:rPr>
              <a:t>Counterparty expansion (ongoing)</a:t>
            </a:r>
            <a:r>
              <a:rPr sz="1000" b="0">
                <a:solidFill>
                  <a:srgbClr val="1B1812"/>
                </a:solidFill>
                <a:latin typeface="Archivo"/>
              </a:rPr>
              <a:t>:  Onboard the customer's offtakers/lenders/grid counterparties as new seeded accounts</a:t>
            </a:r>
          </a:p>
          <a:p>
            <a:pPr algn="l">
              <a:spcBef>
                <a:spcPts val="0"/>
              </a:spcBef>
              <a:spcAft>
                <a:spcPts val="600"/>
              </a:spcAft>
            </a:pPr>
            <a:r>
              <a:rPr sz="1000" b="1">
                <a:solidFill>
                  <a:srgbClr val="D18E35"/>
                </a:solidFill>
                <a:latin typeface="Archivo"/>
              </a:rPr>
              <a:t>●  </a:t>
            </a:r>
            <a:r>
              <a:rPr sz="1000" b="1">
                <a:solidFill>
                  <a:srgbClr val="005358"/>
                </a:solidFill>
                <a:latin typeface="Archivo"/>
              </a:rPr>
              <a:t>Enterprise/regulatory anchor (1-2 quarters)</a:t>
            </a:r>
            <a:r>
              <a:rPr sz="1000" b="0">
                <a:solidFill>
                  <a:srgbClr val="1B1812"/>
                </a:solidFill>
                <a:latin typeface="Archivo"/>
              </a:rPr>
              <a:t>:  Convert anchor logos (DFI, NTCSA, NERSA) into ecosystem-wide mandates</a:t>
            </a:r>
          </a:p>
        </p:txBody>
      </p:sp>
      <p:sp>
        <p:nvSpPr>
          <p:cNvPr id="11" name="TextBox 10"/>
          <p:cNvSpPr txBox="1"/>
          <p:nvPr/>
        </p:nvSpPr>
        <p:spPr>
          <a:xfrm>
            <a:off x="6309360" y="1371600"/>
            <a:ext cx="548640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PARTNERSHIPS</a:t>
            </a:r>
          </a:p>
        </p:txBody>
      </p:sp>
      <p:sp>
        <p:nvSpPr>
          <p:cNvPr id="12" name="TextBox 11"/>
          <p:cNvSpPr txBox="1"/>
          <p:nvPr/>
        </p:nvSpPr>
        <p:spPr>
          <a:xfrm>
            <a:off x="6309360" y="1691640"/>
            <a:ext cx="5394960" cy="4480560"/>
          </a:xfrm>
          <a:prstGeom prst="rect">
            <a:avLst/>
          </a:prstGeom>
          <a:noFill/>
        </p:spPr>
        <p:txBody>
          <a:bodyPr wrap="square" anchor="t" lIns="25400" rIns="25400" tIns="25400" bIns="25400">
            <a:spAutoFit/>
          </a:bodyPr>
          <a:lstStyle/>
          <a:p>
            <a:pPr algn="l">
              <a:spcBef>
                <a:spcPts val="0"/>
              </a:spcBef>
              <a:spcAft>
                <a:spcPts val="800"/>
              </a:spcAft>
            </a:pPr>
            <a:r>
              <a:rPr sz="1000" b="1">
                <a:solidFill>
                  <a:srgbClr val="D18E35"/>
                </a:solidFill>
                <a:latin typeface="Archivo"/>
              </a:rPr>
              <a:t>●  </a:t>
            </a:r>
            <a:r>
              <a:rPr sz="1000" b="1">
                <a:solidFill>
                  <a:srgbClr val="005358"/>
                </a:solidFill>
                <a:latin typeface="Archivo"/>
              </a:rPr>
              <a:t>NTCSA</a:t>
            </a:r>
            <a:r>
              <a:rPr sz="1000" b="0">
                <a:solidFill>
                  <a:srgbClr val="1B1812"/>
                </a:solidFill>
                <a:latin typeface="Archivo"/>
              </a:rPr>
              <a:t>:  Reference integration for capacity allocation, connection agreements and wheeling charges—</a:t>
            </a:r>
          </a:p>
          <a:p>
            <a:pPr algn="l">
              <a:spcBef>
                <a:spcPts val="0"/>
              </a:spcBef>
              <a:spcAft>
                <a:spcPts val="800"/>
              </a:spcAft>
            </a:pPr>
            <a:r>
              <a:rPr sz="1000" b="1">
                <a:solidFill>
                  <a:srgbClr val="D18E35"/>
                </a:solidFill>
                <a:latin typeface="Archivo"/>
              </a:rPr>
              <a:t>●  </a:t>
            </a:r>
            <a:r>
              <a:rPr sz="1000" b="1">
                <a:solidFill>
                  <a:srgbClr val="005358"/>
                </a:solidFill>
                <a:latin typeface="Archivo"/>
              </a:rPr>
              <a:t>NERSA</a:t>
            </a:r>
            <a:r>
              <a:rPr sz="1000" b="0">
                <a:solidFill>
                  <a:srgbClr val="1B1812"/>
                </a:solidFill>
                <a:latin typeface="Archivo"/>
              </a:rPr>
              <a:t>:  Filing-conduit and evidence-chain alignment for licences, compliance and levies—anchors th</a:t>
            </a:r>
          </a:p>
          <a:p>
            <a:pPr algn="l">
              <a:spcBef>
                <a:spcPts val="0"/>
              </a:spcBef>
              <a:spcAft>
                <a:spcPts val="800"/>
              </a:spcAft>
            </a:pPr>
            <a:r>
              <a:rPr sz="1000" b="1">
                <a:solidFill>
                  <a:srgbClr val="D18E35"/>
                </a:solidFill>
                <a:latin typeface="Archivo"/>
              </a:rPr>
              <a:t>●  </a:t>
            </a:r>
            <a:r>
              <a:rPr sz="1000" b="1">
                <a:solidFill>
                  <a:srgbClr val="005358"/>
                </a:solidFill>
                <a:latin typeface="Archivo"/>
              </a:rPr>
              <a:t>SAPVIA / SAWEA / SAIPPA</a:t>
            </a:r>
            <a:r>
              <a:rPr sz="1000" b="0">
                <a:solidFill>
                  <a:srgbClr val="1B1812"/>
                </a:solidFill>
                <a:latin typeface="Archivo"/>
              </a:rPr>
              <a:t>:  Member onboarding, standards credibility and event presence to seed the IPP/EPC ecosystem</a:t>
            </a:r>
          </a:p>
          <a:p>
            <a:pPr algn="l">
              <a:spcBef>
                <a:spcPts val="0"/>
              </a:spcBef>
              <a:spcAft>
                <a:spcPts val="800"/>
              </a:spcAft>
            </a:pPr>
            <a:r>
              <a:rPr sz="1000" b="1">
                <a:solidFill>
                  <a:srgbClr val="D18E35"/>
                </a:solidFill>
                <a:latin typeface="Archivo"/>
              </a:rPr>
              <a:t>●  </a:t>
            </a:r>
            <a:r>
              <a:rPr sz="1000" b="1">
                <a:solidFill>
                  <a:srgbClr val="005358"/>
                </a:solidFill>
                <a:latin typeface="Archivo"/>
              </a:rPr>
              <a:t>Banks &amp; DFIs</a:t>
            </a:r>
            <a:r>
              <a:rPr sz="1000" b="0">
                <a:solidFill>
                  <a:srgbClr val="1B1812"/>
                </a:solidFill>
                <a:latin typeface="Archivo"/>
              </a:rPr>
              <a:t>:  Channel partner mandating CEC for covenant/drawdown monitoring—pulls every financed projec</a:t>
            </a:r>
          </a:p>
          <a:p>
            <a:pPr algn="l">
              <a:spcBef>
                <a:spcPts val="0"/>
              </a:spcBef>
              <a:spcAft>
                <a:spcPts val="800"/>
              </a:spcAft>
            </a:pPr>
            <a:r>
              <a:rPr sz="1000" b="1">
                <a:solidFill>
                  <a:srgbClr val="D18E35"/>
                </a:solidFill>
                <a:latin typeface="Archivo"/>
              </a:rPr>
              <a:t>●  </a:t>
            </a:r>
            <a:r>
              <a:rPr sz="1000" b="1">
                <a:solidFill>
                  <a:srgbClr val="005358"/>
                </a:solidFill>
                <a:latin typeface="Archivo"/>
              </a:rPr>
              <a:t>Big-4 + EPC primes</a:t>
            </a:r>
            <a:r>
              <a:rPr sz="1000" b="0">
                <a:solidFill>
                  <a:srgbClr val="1B1812"/>
                </a:solidFill>
                <a:latin typeface="Archivo"/>
              </a:rPr>
              <a:t>:  Implementation partners embedding CEC into REIPPPP/wheeling and C&amp;I project mandates</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BEACHHEAD TO REGULATORY BACKBONE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Phased rollout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2103120"/>
        </p:xfrm>
        <a:graphic>
          <a:graphicData uri="http://schemas.openxmlformats.org/drawingml/2006/table">
            <a:tbl>
              <a:tblPr firstRow="1" bandRow="1">
                <a:tableStyleId>{5C22544A-7EE6-4342-B048-85BDC9FD1C3A}</a:tableStyleId>
              </a:tblPr>
              <a:tblGrid>
                <a:gridCol w="2743200"/>
                <a:gridCol w="1828800"/>
                <a:gridCol w="3291840"/>
                <a:gridCol w="3200400"/>
              </a:tblGrid>
              <a:tr h="420624">
                <a:tc>
                  <a:txBody>
                    <a:bodyPr/>
                    <a:lstStyle/>
                    <a:p>
                      <a:r>
                        <a:rPr sz="950" b="1">
                          <a:solidFill>
                            <a:srgbClr val="FFFFFF"/>
                          </a:solidFill>
                          <a:latin typeface="Archivo"/>
                        </a:rPr>
                        <a:t>Phase</a:t>
                      </a:r>
                    </a:p>
                  </a:txBody>
                  <a:tcPr anchor="ctr">
                    <a:solidFill>
                      <a:srgbClr val="005358"/>
                    </a:solidFill>
                  </a:tcPr>
                </a:tc>
                <a:tc>
                  <a:txBody>
                    <a:bodyPr/>
                    <a:lstStyle/>
                    <a:p>
                      <a:r>
                        <a:rPr sz="950" b="1">
                          <a:solidFill>
                            <a:srgbClr val="FFFFFF"/>
                          </a:solidFill>
                          <a:latin typeface="Archivo"/>
                        </a:rPr>
                        <a:t>When</a:t>
                      </a:r>
                    </a:p>
                  </a:txBody>
                  <a:tcPr anchor="ctr">
                    <a:solidFill>
                      <a:srgbClr val="005358"/>
                    </a:solidFill>
                  </a:tcPr>
                </a:tc>
                <a:tc>
                  <a:txBody>
                    <a:bodyPr/>
                    <a:lstStyle/>
                    <a:p>
                      <a:r>
                        <a:rPr sz="950" b="1">
                          <a:solidFill>
                            <a:srgbClr val="FFFFFF"/>
                          </a:solidFill>
                          <a:latin typeface="Archivo"/>
                        </a:rPr>
                        <a:t>Roles live</a:t>
                      </a:r>
                    </a:p>
                  </a:txBody>
                  <a:tcPr anchor="ctr">
                    <a:solidFill>
                      <a:srgbClr val="005358"/>
                    </a:solidFill>
                  </a:tcPr>
                </a:tc>
                <a:tc>
                  <a:txBody>
                    <a:bodyPr/>
                    <a:lstStyle/>
                    <a:p>
                      <a:r>
                        <a:rPr sz="950" b="1">
                          <a:solidFill>
                            <a:srgbClr val="FFFFFF"/>
                          </a:solidFill>
                          <a:latin typeface="Archivo"/>
                        </a:rPr>
                        <a:t>Success metric</a:t>
                      </a:r>
                    </a:p>
                  </a:txBody>
                  <a:tcPr anchor="ctr">
                    <a:solidFill>
                      <a:srgbClr val="005358"/>
                    </a:solidFill>
                  </a:tcPr>
                </a:tc>
              </a:tr>
              <a:tr h="420624">
                <a:tc>
                  <a:txBody>
                    <a:bodyPr/>
                    <a:lstStyle/>
                    <a:p>
                      <a:r>
                        <a:rPr sz="900" b="1">
                          <a:solidFill>
                            <a:srgbClr val="005358"/>
                          </a:solidFill>
                          <a:latin typeface="Archivo"/>
                        </a:rPr>
                        <a:t>Beachhead — Wheeling IPP land</a:t>
                      </a:r>
                    </a:p>
                  </a:txBody>
                  <a:tcPr anchor="ctr" marT="25400" marB="25400">
                    <a:solidFill>
                      <a:srgbClr val="FFFFFF"/>
                    </a:solidFill>
                  </a:tcPr>
                </a:tc>
                <a:tc>
                  <a:txBody>
                    <a:bodyPr/>
                    <a:lstStyle/>
                    <a:p>
                      <a:r>
                        <a:rPr sz="900" b="0">
                          <a:solidFill>
                            <a:srgbClr val="1B1812"/>
                          </a:solidFill>
                          <a:latin typeface="Archivo"/>
                        </a:rPr>
                        <a:t>Q3 2026</a:t>
                      </a:r>
                    </a:p>
                  </a:txBody>
                  <a:tcPr anchor="ctr" marT="25400" marB="25400">
                    <a:solidFill>
                      <a:srgbClr val="FFFFFF"/>
                    </a:solidFill>
                  </a:tcPr>
                </a:tc>
                <a:tc>
                  <a:txBody>
                    <a:bodyPr/>
                    <a:lstStyle/>
                    <a:p>
                      <a:r>
                        <a:rPr sz="900" b="0">
                          <a:solidFill>
                            <a:srgbClr val="1B1812"/>
                          </a:solidFill>
                          <a:latin typeface="Archivo"/>
                        </a:rPr>
                        <a:t>IPP Developer, Offtaker, ESCO/O&amp;M</a:t>
                      </a:r>
                    </a:p>
                  </a:txBody>
                  <a:tcPr anchor="ctr" marT="25400" marB="25400">
                    <a:solidFill>
                      <a:srgbClr val="FFFFFF"/>
                    </a:solidFill>
                  </a:tcPr>
                </a:tc>
                <a:tc>
                  <a:txBody>
                    <a:bodyPr/>
                    <a:lstStyle/>
                    <a:p>
                      <a:r>
                        <a:rPr sz="900" b="0">
                          <a:solidFill>
                            <a:srgbClr val="1B1812"/>
                          </a:solidFill>
                          <a:latin typeface="Archivo"/>
                        </a:rPr>
                        <a:t>10 flagship deals live; &gt;R2bn project value transacting on-p</a:t>
                      </a:r>
                    </a:p>
                  </a:txBody>
                  <a:tcPr anchor="ctr" marT="25400" marB="25400">
                    <a:solidFill>
                      <a:srgbClr val="FFFFFF"/>
                    </a:solidFill>
                  </a:tcPr>
                </a:tc>
              </a:tr>
              <a:tr h="420624">
                <a:tc>
                  <a:txBody>
                    <a:bodyPr/>
                    <a:lstStyle/>
                    <a:p>
                      <a:r>
                        <a:rPr sz="900" b="1">
                          <a:solidFill>
                            <a:srgbClr val="005358"/>
                          </a:solidFill>
                          <a:latin typeface="Archivo"/>
                        </a:rPr>
                        <a:t>Counterparty network ignition</a:t>
                      </a:r>
                    </a:p>
                  </a:txBody>
                  <a:tcPr anchor="ctr" marT="25400" marB="25400">
                    <a:solidFill>
                      <a:srgbClr val="F5F3EF"/>
                    </a:solidFill>
                  </a:tcPr>
                </a:tc>
                <a:tc>
                  <a:txBody>
                    <a:bodyPr/>
                    <a:lstStyle/>
                    <a:p>
                      <a:r>
                        <a:rPr sz="900" b="0">
                          <a:solidFill>
                            <a:srgbClr val="1B1812"/>
                          </a:solidFill>
                          <a:latin typeface="Archivo"/>
                        </a:rPr>
                        <a:t>Q4 2026–Q1 2027</a:t>
                      </a:r>
                    </a:p>
                  </a:txBody>
                  <a:tcPr anchor="ctr" marT="25400" marB="25400">
                    <a:solidFill>
                      <a:srgbClr val="F5F3EF"/>
                    </a:solidFill>
                  </a:tcPr>
                </a:tc>
                <a:tc>
                  <a:txBody>
                    <a:bodyPr/>
                    <a:lstStyle/>
                    <a:p>
                      <a:r>
                        <a:rPr sz="900" b="0">
                          <a:solidFill>
                            <a:srgbClr val="1B1812"/>
                          </a:solidFill>
                          <a:latin typeface="Archivo"/>
                        </a:rPr>
                        <a:t>+ Lender, Grid Operator, EPC Contractor</a:t>
                      </a:r>
                    </a:p>
                  </a:txBody>
                  <a:tcPr anchor="ctr" marT="25400" marB="25400">
                    <a:solidFill>
                      <a:srgbClr val="F5F3EF"/>
                    </a:solidFill>
                  </a:tcPr>
                </a:tc>
                <a:tc>
                  <a:txBody>
                    <a:bodyPr/>
                    <a:lstStyle/>
                    <a:p>
                      <a:r>
                        <a:rPr sz="900" b="0">
                          <a:solidFill>
                            <a:srgbClr val="1B1812"/>
                          </a:solidFill>
                          <a:latin typeface="Archivo"/>
                        </a:rPr>
                        <a:t>Avg 3.5 roles per deal; 60% of new accounts arrive via count</a:t>
                      </a:r>
                    </a:p>
                  </a:txBody>
                  <a:tcPr anchor="ctr" marT="25400" marB="25400">
                    <a:solidFill>
                      <a:srgbClr val="F5F3EF"/>
                    </a:solidFill>
                  </a:tcPr>
                </a:tc>
              </a:tr>
              <a:tr h="420624">
                <a:tc>
                  <a:txBody>
                    <a:bodyPr/>
                    <a:lstStyle/>
                    <a:p>
                      <a:r>
                        <a:rPr sz="900" b="1">
                          <a:solidFill>
                            <a:srgbClr val="005358"/>
                          </a:solidFill>
                          <a:latin typeface="Archivo"/>
                        </a:rPr>
                        <a:t>Market venue + carbon</a:t>
                      </a:r>
                    </a:p>
                  </a:txBody>
                  <a:tcPr anchor="ctr" marT="25400" marB="25400">
                    <a:solidFill>
                      <a:srgbClr val="FFFFFF"/>
                    </a:solidFill>
                  </a:tcPr>
                </a:tc>
                <a:tc>
                  <a:txBody>
                    <a:bodyPr/>
                    <a:lstStyle/>
                    <a:p>
                      <a:r>
                        <a:rPr sz="900" b="0">
                          <a:solidFill>
                            <a:srgbClr val="1B1812"/>
                          </a:solidFill>
                          <a:latin typeface="Archivo"/>
                        </a:rPr>
                        <a:t>Q2–Q3 2027</a:t>
                      </a:r>
                    </a:p>
                  </a:txBody>
                  <a:tcPr anchor="ctr" marT="25400" marB="25400">
                    <a:solidFill>
                      <a:srgbClr val="FFFFFF"/>
                    </a:solidFill>
                  </a:tcPr>
                </a:tc>
                <a:tc>
                  <a:txBody>
                    <a:bodyPr/>
                    <a:lstStyle/>
                    <a:p>
                      <a:r>
                        <a:rPr sz="900" b="0">
                          <a:solidFill>
                            <a:srgbClr val="1B1812"/>
                          </a:solidFill>
                          <a:latin typeface="Archivo"/>
                        </a:rPr>
                        <a:t>+ Trader, Carbon Fund</a:t>
                      </a:r>
                    </a:p>
                  </a:txBody>
                  <a:tcPr anchor="ctr" marT="25400" marB="25400">
                    <a:solidFill>
                      <a:srgbClr val="FFFFFF"/>
                    </a:solidFill>
                  </a:tcPr>
                </a:tc>
                <a:tc>
                  <a:txBody>
                    <a:bodyPr/>
                    <a:lstStyle/>
                    <a:p>
                      <a:r>
                        <a:rPr sz="900" b="0">
                          <a:solidFill>
                            <a:srgbClr val="1B1812"/>
                          </a:solidFill>
                          <a:latin typeface="Archivo"/>
                        </a:rPr>
                        <a:t>R10bn+ annual settlement volume; 50+ carbon/REC claims on-le</a:t>
                      </a:r>
                    </a:p>
                  </a:txBody>
                  <a:tcPr anchor="ctr" marT="25400" marB="25400">
                    <a:solidFill>
                      <a:srgbClr val="FFFFFF"/>
                    </a:solidFill>
                  </a:tcPr>
                </a:tc>
              </a:tr>
              <a:tr h="420624">
                <a:tc>
                  <a:txBody>
                    <a:bodyPr/>
                    <a:lstStyle/>
                    <a:p>
                      <a:r>
                        <a:rPr sz="900" b="1">
                          <a:solidFill>
                            <a:srgbClr val="005358"/>
                          </a:solidFill>
                          <a:latin typeface="Archivo"/>
                        </a:rPr>
                        <a:t>Regulatory backbone</a:t>
                      </a:r>
                    </a:p>
                  </a:txBody>
                  <a:tcPr anchor="ctr" marT="25400" marB="25400">
                    <a:solidFill>
                      <a:srgbClr val="F5F3EF"/>
                    </a:solidFill>
                  </a:tcPr>
                </a:tc>
                <a:tc>
                  <a:txBody>
                    <a:bodyPr/>
                    <a:lstStyle/>
                    <a:p>
                      <a:r>
                        <a:rPr sz="900" b="0">
                          <a:solidFill>
                            <a:srgbClr val="1B1812"/>
                          </a:solidFill>
                          <a:latin typeface="Archivo"/>
                        </a:rPr>
                        <a:t>Q4 2027–Q2 2028</a:t>
                      </a:r>
                    </a:p>
                  </a:txBody>
                  <a:tcPr anchor="ctr" marT="25400" marB="25400">
                    <a:solidFill>
                      <a:srgbClr val="F5F3EF"/>
                    </a:solidFill>
                  </a:tcPr>
                </a:tc>
                <a:tc>
                  <a:txBody>
                    <a:bodyPr/>
                    <a:lstStyle/>
                    <a:p>
                      <a:r>
                        <a:rPr sz="900" b="0">
                          <a:solidFill>
                            <a:srgbClr val="1B1812"/>
                          </a:solidFill>
                          <a:latin typeface="Archivo"/>
                        </a:rPr>
                        <a:t>+ Regulator, Platform Admin (all 11 live)</a:t>
                      </a:r>
                    </a:p>
                  </a:txBody>
                  <a:tcPr anchor="ctr" marT="25400" marB="25400">
                    <a:solidFill>
                      <a:srgbClr val="F5F3EF"/>
                    </a:solidFill>
                  </a:tcPr>
                </a:tc>
                <a:tc>
                  <a:txBody>
                    <a:bodyPr/>
                    <a:lstStyle/>
                    <a:p>
                      <a:r>
                        <a:rPr sz="900" b="0">
                          <a:solidFill>
                            <a:srgbClr val="1B1812"/>
                          </a:solidFill>
                          <a:latin typeface="Archivo"/>
                        </a:rPr>
                        <a:t>First NERSA/NTCSA mandate; &gt;70% of active SA private-wheelin</a:t>
                      </a:r>
                    </a:p>
                  </a:txBody>
                  <a:tcPr anchor="ctr" marT="25400" marB="25400">
                    <a:solidFill>
                      <a:srgbClr val="F5F3E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WHAT BUYERS PUSH BACK ON</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Objection handling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2487168"/>
        </p:xfrm>
        <a:graphic>
          <a:graphicData uri="http://schemas.openxmlformats.org/drawingml/2006/table">
            <a:tbl>
              <a:tblPr firstRow="1" bandRow="1">
                <a:tableStyleId>{5C22544A-7EE6-4342-B048-85BDC9FD1C3A}</a:tableStyleId>
              </a:tblPr>
              <a:tblGrid>
                <a:gridCol w="3291840"/>
                <a:gridCol w="7772400"/>
              </a:tblGrid>
              <a:tr h="414528">
                <a:tc>
                  <a:txBody>
                    <a:bodyPr/>
                    <a:lstStyle/>
                    <a:p>
                      <a:r>
                        <a:rPr sz="900" b="1">
                          <a:solidFill>
                            <a:srgbClr val="FFFFFF"/>
                          </a:solidFill>
                          <a:latin typeface="Archivo"/>
                        </a:rPr>
                        <a:t>Objection</a:t>
                      </a:r>
                    </a:p>
                  </a:txBody>
                  <a:tcPr anchor="ctr">
                    <a:solidFill>
                      <a:srgbClr val="005358"/>
                    </a:solidFill>
                  </a:tcPr>
                </a:tc>
                <a:tc>
                  <a:txBody>
                    <a:bodyPr/>
                    <a:lstStyle/>
                    <a:p>
                      <a:r>
                        <a:rPr sz="900" b="1">
                          <a:solidFill>
                            <a:srgbClr val="FFFFFF"/>
                          </a:solidFill>
                          <a:latin typeface="Archivo"/>
                        </a:rPr>
                        <a:t>Response</a:t>
                      </a:r>
                    </a:p>
                  </a:txBody>
                  <a:tcPr anchor="ctr">
                    <a:solidFill>
                      <a:srgbClr val="005358"/>
                    </a:solidFill>
                  </a:tcPr>
                </a:tc>
              </a:tr>
              <a:tr h="414528">
                <a:tc>
                  <a:txBody>
                    <a:bodyPr/>
                    <a:lstStyle/>
                    <a:p>
                      <a:r>
                        <a:rPr sz="850" b="1">
                          <a:solidFill>
                            <a:srgbClr val="005358"/>
                          </a:solidFill>
                          <a:latin typeface="Archivo"/>
                        </a:rPr>
                        <a:t>We already run this in spreadsheets and email—why change?</a:t>
                      </a:r>
                    </a:p>
                  </a:txBody>
                  <a:tcPr anchor="ctr" marT="25400" marB="25400">
                    <a:solidFill>
                      <a:srgbClr val="FFFFFF"/>
                    </a:solidFill>
                  </a:tcPr>
                </a:tc>
                <a:tc>
                  <a:txBody>
                    <a:bodyPr/>
                    <a:lstStyle/>
                    <a:p>
                      <a:r>
                        <a:rPr sz="850" b="0">
                          <a:solidFill>
                            <a:srgbClr val="1B1812"/>
                          </a:solidFill>
                          <a:latin typeface="Archivo"/>
                        </a:rPr>
                        <a:t>Spreadsheets can't be a shared record across counterparties; you carry the settlement-dispute leakage, the REIPPPP/NERSA evidence scram</a:t>
                      </a:r>
                    </a:p>
                  </a:txBody>
                  <a:tcPr anchor="ctr" marT="25400" marB="25400">
                    <a:solidFill>
                      <a:srgbClr val="FFFFFF"/>
                    </a:solidFill>
                  </a:tcPr>
                </a:tc>
              </a:tr>
              <a:tr h="414528">
                <a:tc>
                  <a:txBody>
                    <a:bodyPr/>
                    <a:lstStyle/>
                    <a:p>
                      <a:r>
                        <a:rPr sz="850" b="1">
                          <a:solidFill>
                            <a:srgbClr val="005358"/>
                          </a:solidFill>
                          <a:latin typeface="Archivo"/>
                        </a:rPr>
                        <a:t>Why not just use SAP / our existing ERP?</a:t>
                      </a:r>
                    </a:p>
                  </a:txBody>
                  <a:tcPr anchor="ctr" marT="25400" marB="25400">
                    <a:solidFill>
                      <a:srgbClr val="F5F3EF"/>
                    </a:solidFill>
                  </a:tcPr>
                </a:tc>
                <a:tc>
                  <a:txBody>
                    <a:bodyPr/>
                    <a:lstStyle/>
                    <a:p>
                      <a:r>
                        <a:rPr sz="850" b="0">
                          <a:solidFill>
                            <a:srgbClr val="1B1812"/>
                          </a:solidFill>
                          <a:latin typeface="Archivo"/>
                        </a:rPr>
                        <a:t>ERPs run your books, not the market's deals. They have no cross-counterparty state machines, no NERSA/Carbon-Tax-native evidence chains</a:t>
                      </a:r>
                    </a:p>
                  </a:txBody>
                  <a:tcPr anchor="ctr" marT="25400" marB="25400">
                    <a:solidFill>
                      <a:srgbClr val="F5F3EF"/>
                    </a:solidFill>
                  </a:tcPr>
                </a:tc>
              </a:tr>
              <a:tr h="414528">
                <a:tc>
                  <a:txBody>
                    <a:bodyPr/>
                    <a:lstStyle/>
                    <a:p>
                      <a:r>
                        <a:rPr sz="850" b="1">
                          <a:solidFill>
                            <a:srgbClr val="005358"/>
                          </a:solidFill>
                          <a:latin typeface="Archivo"/>
                        </a:rPr>
                        <a:t>Single-vendor lock-in for something this critical worries me</a:t>
                      </a:r>
                    </a:p>
                  </a:txBody>
                  <a:tcPr anchor="ctr" marT="25400" marB="25400">
                    <a:solidFill>
                      <a:srgbClr val="FFFFFF"/>
                    </a:solidFill>
                  </a:tcPr>
                </a:tc>
                <a:tc>
                  <a:txBody>
                    <a:bodyPr/>
                    <a:lstStyle/>
                    <a:p>
                      <a:r>
                        <a:rPr sz="850" b="0">
                          <a:solidFill>
                            <a:srgbClr val="1B1812"/>
                          </a:solidFill>
                          <a:latin typeface="Archivo"/>
                        </a:rPr>
                        <a:t>Data is yours and exportable in certified formats; chains are standards-aligned (ERA/NERSA/JSE-SRL), not proprietary lock-in. The 'lock</a:t>
                      </a:r>
                    </a:p>
                  </a:txBody>
                  <a:tcPr anchor="ctr" marT="25400" marB="25400">
                    <a:solidFill>
                      <a:srgbClr val="FFFFFF"/>
                    </a:solidFill>
                  </a:tcPr>
                </a:tc>
              </a:tr>
              <a:tr h="414528">
                <a:tc>
                  <a:txBody>
                    <a:bodyPr/>
                    <a:lstStyle/>
                    <a:p>
                      <a:r>
                        <a:rPr sz="850" b="1">
                          <a:solidFill>
                            <a:srgbClr val="005358"/>
                          </a:solidFill>
                          <a:latin typeface="Archivo"/>
                        </a:rPr>
                        <a:t>Is a Cloudflare-edge app secure and POPIA-compliant enough f</a:t>
                      </a:r>
                    </a:p>
                  </a:txBody>
                  <a:tcPr anchor="ctr" marT="25400" marB="25400">
                    <a:solidFill>
                      <a:srgbClr val="F5F3EF"/>
                    </a:solidFill>
                  </a:tcPr>
                </a:tc>
                <a:tc>
                  <a:txBody>
                    <a:bodyPr/>
                    <a:lstStyle/>
                    <a:p>
                      <a:r>
                        <a:rPr sz="850" b="0">
                          <a:solidFill>
                            <a:srgbClr val="1B1812"/>
                          </a:solidFill>
                          <a:latin typeface="Archivo"/>
                        </a:rPr>
                        <a:t>Multi-tenant isolation is enforced per-resource from the JWT, auth is short-TTL with rate-limited sensitive routes, and the L5 audit ch</a:t>
                      </a:r>
                    </a:p>
                  </a:txBody>
                  <a:tcPr anchor="ctr" marT="25400" marB="25400">
                    <a:solidFill>
                      <a:srgbClr val="F5F3EF"/>
                    </a:solidFill>
                  </a:tcPr>
                </a:tc>
              </a:tr>
              <a:tr h="414528">
                <a:tc>
                  <a:txBody>
                    <a:bodyPr/>
                    <a:lstStyle/>
                    <a:p>
                      <a:r>
                        <a:rPr sz="850" b="1">
                          <a:solidFill>
                            <a:srgbClr val="005358"/>
                          </a:solidFill>
                          <a:latin typeface="Archivo"/>
                        </a:rPr>
                        <a:t>The market is too fragmented—will my counterparties actually</a:t>
                      </a:r>
                    </a:p>
                  </a:txBody>
                  <a:tcPr anchor="ctr" marT="25400" marB="25400">
                    <a:solidFill>
                      <a:srgbClr val="FFFFFF"/>
                    </a:solidFill>
                  </a:tcPr>
                </a:tc>
                <a:tc>
                  <a:txBody>
                    <a:bodyPr/>
                    <a:lstStyle/>
                    <a:p>
                      <a:r>
                        <a:rPr sz="850" b="0">
                          <a:solidFill>
                            <a:srgbClr val="1B1812"/>
                          </a:solidFill>
                          <a:latin typeface="Archivo"/>
                        </a:rPr>
                        <a:t>They join because the deal is already there: each transaction invites the other side onto the same record at low/no cost, and once in, </a:t>
                      </a:r>
                    </a:p>
                  </a:txBody>
                  <a:tcPr anchor="ctr" marT="25400" marB="25400">
                    <a:solidFill>
                      <a:srgbClr val="FFFF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WHAT WE MEASURE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North-star &amp; GTM KPIs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463040"/>
            <a:ext cx="11064240" cy="457200"/>
          </a:xfrm>
          <a:prstGeom prst="rect">
            <a:avLst/>
          </a:prstGeom>
          <a:noFill/>
        </p:spPr>
        <p:txBody>
          <a:bodyPr wrap="square" anchor="t" lIns="25400" rIns="25400" tIns="25400" bIns="25400">
            <a:spAutoFit/>
          </a:bodyPr>
          <a:lstStyle/>
          <a:p>
            <a:pPr algn="l">
              <a:spcBef>
                <a:spcPts val="0"/>
              </a:spcBef>
              <a:spcAft>
                <a:spcPts val="400"/>
              </a:spcAft>
            </a:pPr>
            <a:r>
              <a:rPr sz="1400" b="1">
                <a:solidFill>
                  <a:srgbClr val="D18E35"/>
                </a:solidFill>
                <a:latin typeface="Archivo"/>
              </a:rPr>
              <a:t>North-star:  </a:t>
            </a:r>
            <a:r>
              <a:rPr sz="1400" b="1">
                <a:solidFill>
                  <a:srgbClr val="005358"/>
                </a:solidFill>
                <a:latin typeface="Archivo"/>
              </a:rPr>
              <a:t>Annual deal value transacted on the shared record (ZAR settled + governed through CEC chains)</a:t>
            </a:r>
          </a:p>
        </p:txBody>
      </p:sp>
      <p:sp>
        <p:nvSpPr>
          <p:cNvPr id="10" name="TextBox 9"/>
          <p:cNvSpPr txBox="1"/>
          <p:nvPr/>
        </p:nvSpPr>
        <p:spPr>
          <a:xfrm>
            <a:off x="548640" y="2194560"/>
            <a:ext cx="11064240" cy="4480560"/>
          </a:xfrm>
          <a:prstGeom prst="rect">
            <a:avLst/>
          </a:prstGeom>
          <a:noFill/>
        </p:spPr>
        <p:txBody>
          <a:bodyPr wrap="square" anchor="t" lIns="25400" rIns="25400" tIns="25400" bIns="25400">
            <a:spAutoFit/>
          </a:bodyPr>
          <a:lstStyle/>
          <a:p>
            <a:pPr algn="l">
              <a:spcBef>
                <a:spcPts val="0"/>
              </a:spcBef>
              <a:spcAft>
                <a:spcPts val="1100"/>
              </a:spcAft>
            </a:pPr>
            <a:r>
              <a:rPr sz="1300" b="1">
                <a:solidFill>
                  <a:srgbClr val="D18E35"/>
                </a:solidFill>
                <a:latin typeface="Archivo"/>
              </a:rPr>
              <a:t>●  </a:t>
            </a:r>
            <a:r>
              <a:rPr sz="1300" b="0">
                <a:solidFill>
                  <a:srgbClr val="1B1812"/>
                </a:solidFill>
                <a:latin typeface="Archivo"/>
              </a:rPr>
              <a:t>Flagship deals live on the shared record: 10 (Q3 2026) → 150+ (2028)</a:t>
            </a:r>
          </a:p>
          <a:p>
            <a:pPr algn="l">
              <a:spcBef>
                <a:spcPts val="0"/>
              </a:spcBef>
              <a:spcAft>
                <a:spcPts val="1100"/>
              </a:spcAft>
            </a:pPr>
            <a:r>
              <a:rPr sz="1300" b="1">
                <a:solidFill>
                  <a:srgbClr val="D18E35"/>
                </a:solidFill>
                <a:latin typeface="Archivo"/>
              </a:rPr>
              <a:t>●  </a:t>
            </a:r>
            <a:r>
              <a:rPr sz="1300" b="0">
                <a:solidFill>
                  <a:srgbClr val="1B1812"/>
                </a:solidFill>
                <a:latin typeface="Archivo"/>
              </a:rPr>
              <a:t>Average roles (counterparties) per deal: 3.5 → 5.5</a:t>
            </a:r>
          </a:p>
          <a:p>
            <a:pPr algn="l">
              <a:spcBef>
                <a:spcPts val="0"/>
              </a:spcBef>
              <a:spcAft>
                <a:spcPts val="1100"/>
              </a:spcAft>
            </a:pPr>
            <a:r>
              <a:rPr sz="1300" b="1">
                <a:solidFill>
                  <a:srgbClr val="D18E35"/>
                </a:solidFill>
                <a:latin typeface="Archivo"/>
              </a:rPr>
              <a:t>●  </a:t>
            </a:r>
            <a:r>
              <a:rPr sz="1300" b="0">
                <a:solidFill>
                  <a:srgbClr val="1B1812"/>
                </a:solidFill>
                <a:latin typeface="Archivo"/>
              </a:rPr>
              <a:t>Counterparty-invite-sourced new accounts: ≥60% by Phase 2</a:t>
            </a:r>
          </a:p>
          <a:p>
            <a:pPr algn="l">
              <a:spcBef>
                <a:spcPts val="0"/>
              </a:spcBef>
              <a:spcAft>
                <a:spcPts val="1100"/>
              </a:spcAft>
            </a:pPr>
            <a:r>
              <a:rPr sz="1300" b="1">
                <a:solidFill>
                  <a:srgbClr val="D18E35"/>
                </a:solidFill>
                <a:latin typeface="Archivo"/>
              </a:rPr>
              <a:t>●  </a:t>
            </a:r>
            <a:r>
              <a:rPr sz="1300" b="0">
                <a:solidFill>
                  <a:srgbClr val="1B1812"/>
                </a:solidFill>
                <a:latin typeface="Archivo"/>
              </a:rPr>
              <a:t>Annual settlement volume on-platform: R2bn (2026) → R10bn+ (2027) → R30bn+ (2028)</a:t>
            </a:r>
          </a:p>
          <a:p>
            <a:pPr algn="l">
              <a:spcBef>
                <a:spcPts val="0"/>
              </a:spcBef>
              <a:spcAft>
                <a:spcPts val="1100"/>
              </a:spcAft>
            </a:pPr>
            <a:r>
              <a:rPr sz="1300" b="1">
                <a:solidFill>
                  <a:srgbClr val="D18E35"/>
                </a:solidFill>
                <a:latin typeface="Archivo"/>
              </a:rPr>
              <a:t>●  </a:t>
            </a:r>
            <a:r>
              <a:rPr sz="1300" b="0">
                <a:solidFill>
                  <a:srgbClr val="1B1812"/>
                </a:solidFill>
                <a:latin typeface="Archivo"/>
              </a:rPr>
              <a:t>Net revenue retention (role + portfolio expansion): 140-160%</a:t>
            </a:r>
          </a:p>
          <a:p>
            <a:pPr algn="l">
              <a:spcBef>
                <a:spcPts val="0"/>
              </a:spcBef>
              <a:spcAft>
                <a:spcPts val="1100"/>
              </a:spcAft>
            </a:pPr>
            <a:r>
              <a:rPr sz="1300" b="1">
                <a:solidFill>
                  <a:srgbClr val="D18E35"/>
                </a:solidFill>
                <a:latin typeface="Archivo"/>
              </a:rPr>
              <a:t>●  </a:t>
            </a:r>
            <a:r>
              <a:rPr sz="1300" b="0">
                <a:solidFill>
                  <a:srgbClr val="1B1812"/>
                </a:solidFill>
                <a:latin typeface="Archivo"/>
              </a:rPr>
              <a:t>Share of active SA private-wheeling deals on CEC: &gt;70% by Q2 2028</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1828800"/>
            <a:ext cx="10972800" cy="365760"/>
          </a:xfrm>
          <a:prstGeom prst="rect">
            <a:avLst/>
          </a:prstGeom>
          <a:noFill/>
        </p:spPr>
        <p:txBody>
          <a:bodyPr wrap="square" anchor="t" lIns="25400" rIns="25400" tIns="25400" bIns="25400">
            <a:spAutoFit/>
          </a:bodyPr>
          <a:lstStyle/>
          <a:p>
            <a:pPr algn="l">
              <a:spcBef>
                <a:spcPts val="0"/>
              </a:spcBef>
              <a:spcAft>
                <a:spcPts val="400"/>
              </a:spcAft>
            </a:pPr>
            <a:r>
              <a:rPr sz="1300" b="1">
                <a:solidFill>
                  <a:srgbClr val="D18E35"/>
                </a:solidFill>
                <a:latin typeface="Archivo"/>
              </a:rPr>
              <a:t>PART 5 · LAUNCH</a:t>
            </a:r>
          </a:p>
        </p:txBody>
      </p:sp>
      <p:sp>
        <p:nvSpPr>
          <p:cNvPr id="6" name="TextBox 5"/>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Launch</a:t>
            </a:r>
          </a:p>
        </p:txBody>
      </p:sp>
      <p:sp>
        <p:nvSpPr>
          <p:cNvPr id="7" name="TextBox 6"/>
          <p:cNvSpPr txBox="1"/>
          <p:nvPr/>
        </p:nvSpPr>
        <p:spPr>
          <a:xfrm>
            <a:off x="640080" y="3456432"/>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Options, considerations, sequencing &amp; risk</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FOUR WAYS TO GO LIVE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Launch options weighed</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2103120"/>
        </p:xfrm>
        <a:graphic>
          <a:graphicData uri="http://schemas.openxmlformats.org/drawingml/2006/table">
            <a:tbl>
              <a:tblPr firstRow="1" bandRow="1">
                <a:tableStyleId>{5C22544A-7EE6-4342-B048-85BDC9FD1C3A}</a:tableStyleId>
              </a:tblPr>
              <a:tblGrid>
                <a:gridCol w="2560320"/>
                <a:gridCol w="3200400"/>
                <a:gridCol w="3108960"/>
                <a:gridCol w="2194560"/>
              </a:tblGrid>
              <a:tr h="420624">
                <a:tc>
                  <a:txBody>
                    <a:bodyPr/>
                    <a:lstStyle/>
                    <a:p>
                      <a:r>
                        <a:rPr sz="900" b="1">
                          <a:solidFill>
                            <a:srgbClr val="FFFFFF"/>
                          </a:solidFill>
                          <a:latin typeface="Archivo"/>
                        </a:rPr>
                        <a:t>Option</a:t>
                      </a:r>
                    </a:p>
                  </a:txBody>
                  <a:tcPr anchor="ctr">
                    <a:solidFill>
                      <a:srgbClr val="005358"/>
                    </a:solidFill>
                  </a:tcPr>
                </a:tc>
                <a:tc>
                  <a:txBody>
                    <a:bodyPr/>
                    <a:lstStyle/>
                    <a:p>
                      <a:r>
                        <a:rPr sz="900" b="1">
                          <a:solidFill>
                            <a:srgbClr val="FFFFFF"/>
                          </a:solidFill>
                          <a:latin typeface="Archivo"/>
                        </a:rPr>
                        <a:t>Top pro</a:t>
                      </a:r>
                    </a:p>
                  </a:txBody>
                  <a:tcPr anchor="ctr">
                    <a:solidFill>
                      <a:srgbClr val="005358"/>
                    </a:solidFill>
                  </a:tcPr>
                </a:tc>
                <a:tc>
                  <a:txBody>
                    <a:bodyPr/>
                    <a:lstStyle/>
                    <a:p>
                      <a:r>
                        <a:rPr sz="900" b="1">
                          <a:solidFill>
                            <a:srgbClr val="FFFFFF"/>
                          </a:solidFill>
                          <a:latin typeface="Archivo"/>
                        </a:rPr>
                        <a:t>Top con</a:t>
                      </a:r>
                    </a:p>
                  </a:txBody>
                  <a:tcPr anchor="ctr">
                    <a:solidFill>
                      <a:srgbClr val="005358"/>
                    </a:solidFill>
                  </a:tcPr>
                </a:tc>
                <a:tc>
                  <a:txBody>
                    <a:bodyPr/>
                    <a:lstStyle/>
                    <a:p>
                      <a:r>
                        <a:rPr sz="900" b="1">
                          <a:solidFill>
                            <a:srgbClr val="FFFFFF"/>
                          </a:solidFill>
                          <a:latin typeface="Archivo"/>
                        </a:rPr>
                        <a:t>Best when</a:t>
                      </a:r>
                    </a:p>
                  </a:txBody>
                  <a:tcPr anchor="ctr">
                    <a:solidFill>
                      <a:srgbClr val="005358"/>
                    </a:solidFill>
                  </a:tcPr>
                </a:tc>
              </a:tr>
              <a:tr h="420624">
                <a:tc>
                  <a:txBody>
                    <a:bodyPr/>
                    <a:lstStyle/>
                    <a:p>
                      <a:r>
                        <a:rPr sz="850" b="1">
                          <a:solidFill>
                            <a:srgbClr val="005358"/>
                          </a:solidFill>
                          <a:latin typeface="Archivo"/>
                        </a:rPr>
                        <a:t>Regulated Closed Pilot</a:t>
                      </a:r>
                    </a:p>
                  </a:txBody>
                  <a:tcPr anchor="ctr" marT="25400" marB="25400">
                    <a:solidFill>
                      <a:srgbClr val="FFFFFF"/>
                    </a:solidFill>
                  </a:tcPr>
                </a:tc>
                <a:tc>
                  <a:txBody>
                    <a:bodyPr/>
                    <a:lstStyle/>
                    <a:p>
                      <a:r>
                        <a:rPr sz="850" b="0">
                          <a:solidFill>
                            <a:srgbClr val="1B1812"/>
                          </a:solidFill>
                          <a:latin typeface="Archivo"/>
                        </a:rPr>
                        <a:t>Regulator co-builds trust before any binding transaction settles</a:t>
                      </a:r>
                    </a:p>
                  </a:txBody>
                  <a:tcPr anchor="ctr" marT="25400" marB="25400">
                    <a:solidFill>
                      <a:srgbClr val="FFFFFF"/>
                    </a:solidFill>
                  </a:tcPr>
                </a:tc>
                <a:tc>
                  <a:txBody>
                    <a:bodyPr/>
                    <a:lstStyle/>
                    <a:p>
                      <a:r>
                        <a:rPr sz="850" b="0">
                          <a:solidFill>
                            <a:srgbClr val="1B1812"/>
                          </a:solidFill>
                          <a:latin typeface="Archivo"/>
                        </a:rPr>
                        <a:t>No network effect — single side, no liquidity</a:t>
                      </a:r>
                    </a:p>
                  </a:txBody>
                  <a:tcPr anchor="ctr" marT="25400" marB="25400">
                    <a:solidFill>
                      <a:srgbClr val="FFFFFF"/>
                    </a:solidFill>
                  </a:tcPr>
                </a:tc>
                <a:tc>
                  <a:txBody>
                    <a:bodyPr/>
                    <a:lstStyle/>
                    <a:p>
                      <a:r>
                        <a:rPr sz="850" b="0">
                          <a:solidFill>
                            <a:srgbClr val="1B1812"/>
                          </a:solidFill>
                          <a:latin typeface="Archivo"/>
                        </a:rPr>
                        <a:t>Regulatory acceptance is the gating risk and you need an aut</a:t>
                      </a:r>
                    </a:p>
                  </a:txBody>
                  <a:tcPr anchor="ctr" marT="25400" marB="25400">
                    <a:solidFill>
                      <a:srgbClr val="FFFFFF"/>
                    </a:solidFill>
                  </a:tcPr>
                </a:tc>
              </a:tr>
              <a:tr h="420624">
                <a:tc>
                  <a:txBody>
                    <a:bodyPr/>
                    <a:lstStyle/>
                    <a:p>
                      <a:r>
                        <a:rPr sz="850" b="1">
                          <a:solidFill>
                            <a:srgbClr val="005358"/>
                          </a:solidFill>
                          <a:latin typeface="Archivo"/>
                        </a:rPr>
                        <a:t>Design-Partner Cohort (anchor IPP + offtaker + lender triad)</a:t>
                      </a:r>
                    </a:p>
                  </a:txBody>
                  <a:tcPr anchor="ctr" marT="25400" marB="25400">
                    <a:solidFill>
                      <a:srgbClr val="F5F3EF"/>
                    </a:solidFill>
                  </a:tcPr>
                </a:tc>
                <a:tc>
                  <a:txBody>
                    <a:bodyPr/>
                    <a:lstStyle/>
                    <a:p>
                      <a:r>
                        <a:rPr sz="850" b="0">
                          <a:solidFill>
                            <a:srgbClr val="1B1812"/>
                          </a:solidFill>
                          <a:latin typeface="Archivo"/>
                        </a:rPr>
                        <a:t>Seeds both sides of the network simultaneously per deal</a:t>
                      </a:r>
                    </a:p>
                  </a:txBody>
                  <a:tcPr anchor="ctr" marT="25400" marB="25400">
                    <a:solidFill>
                      <a:srgbClr val="F5F3EF"/>
                    </a:solidFill>
                  </a:tcPr>
                </a:tc>
                <a:tc>
                  <a:txBody>
                    <a:bodyPr/>
                    <a:lstStyle/>
                    <a:p>
                      <a:r>
                        <a:rPr sz="850" b="0">
                          <a:solidFill>
                            <a:srgbClr val="1B1812"/>
                          </a:solidFill>
                          <a:latin typeface="Archivo"/>
                        </a:rPr>
                        <a:t>Heavy white-glove onboarding and bespoke data migration per partner</a:t>
                      </a:r>
                    </a:p>
                  </a:txBody>
                  <a:tcPr anchor="ctr" marT="25400" marB="25400">
                    <a:solidFill>
                      <a:srgbClr val="F5F3EF"/>
                    </a:solidFill>
                  </a:tcPr>
                </a:tc>
                <a:tc>
                  <a:txBody>
                    <a:bodyPr/>
                    <a:lstStyle/>
                    <a:p>
                      <a:r>
                        <a:rPr sz="850" b="0">
                          <a:solidFill>
                            <a:srgbClr val="1B1812"/>
                          </a:solidFill>
                          <a:latin typeface="Archivo"/>
                        </a:rPr>
                        <a:t>There is identifiable live wheeling-deal demand and you can </a:t>
                      </a:r>
                    </a:p>
                  </a:txBody>
                  <a:tcPr anchor="ctr" marT="25400" marB="25400">
                    <a:solidFill>
                      <a:srgbClr val="F5F3EF"/>
                    </a:solidFill>
                  </a:tcPr>
                </a:tc>
              </a:tr>
              <a:tr h="420624">
                <a:tc>
                  <a:txBody>
                    <a:bodyPr/>
                    <a:lstStyle/>
                    <a:p>
                      <a:r>
                        <a:rPr sz="850" b="1">
                          <a:solidFill>
                            <a:srgbClr val="005358"/>
                          </a:solidFill>
                          <a:latin typeface="Archivo"/>
                        </a:rPr>
                        <a:t>Single-Journey Wedge (Settlement-as-utility)</a:t>
                      </a:r>
                    </a:p>
                  </a:txBody>
                  <a:tcPr anchor="ctr" marT="25400" marB="25400">
                    <a:solidFill>
                      <a:srgbClr val="FFFFFF"/>
                    </a:solidFill>
                  </a:tcPr>
                </a:tc>
                <a:tc>
                  <a:txBody>
                    <a:bodyPr/>
                    <a:lstStyle/>
                    <a:p>
                      <a:r>
                        <a:rPr sz="850" b="0">
                          <a:solidFill>
                            <a:srgbClr val="1B1812"/>
                          </a:solidFill>
                          <a:latin typeface="Archivo"/>
                        </a:rPr>
                        <a:t>No cold-start: value lands before any second party joins</a:t>
                      </a:r>
                    </a:p>
                  </a:txBody>
                  <a:tcPr anchor="ctr" marT="25400" marB="25400">
                    <a:solidFill>
                      <a:srgbClr val="FFFFFF"/>
                    </a:solidFill>
                  </a:tcPr>
                </a:tc>
                <a:tc>
                  <a:txBody>
                    <a:bodyPr/>
                    <a:lstStyle/>
                    <a:p>
                      <a:r>
                        <a:rPr sz="850" b="0">
                          <a:solidFill>
                            <a:srgbClr val="1B1812"/>
                          </a:solidFill>
                          <a:latin typeface="Archivo"/>
                        </a:rPr>
                        <a:t>Risks being seen as a point tool, not the market record</a:t>
                      </a:r>
                    </a:p>
                  </a:txBody>
                  <a:tcPr anchor="ctr" marT="25400" marB="25400">
                    <a:solidFill>
                      <a:srgbClr val="FFFFFF"/>
                    </a:solidFill>
                  </a:tcPr>
                </a:tc>
                <a:tc>
                  <a:txBody>
                    <a:bodyPr/>
                    <a:lstStyle/>
                    <a:p>
                      <a:r>
                        <a:rPr sz="850" b="0">
                          <a:solidFill>
                            <a:srgbClr val="1B1812"/>
                          </a:solidFill>
                          <a:latin typeface="Archivo"/>
                        </a:rPr>
                        <a:t>You need revenue and reference logos quickly and want to def</a:t>
                      </a:r>
                    </a:p>
                  </a:txBody>
                  <a:tcPr anchor="ctr" marT="25400" marB="25400">
                    <a:solidFill>
                      <a:srgbClr val="FFFFFF"/>
                    </a:solidFill>
                  </a:tcPr>
                </a:tc>
              </a:tr>
              <a:tr h="420624">
                <a:tc>
                  <a:txBody>
                    <a:bodyPr/>
                    <a:lstStyle/>
                    <a:p>
                      <a:r>
                        <a:rPr sz="850" b="1">
                          <a:solidFill>
                            <a:srgbClr val="005358"/>
                          </a:solidFill>
                          <a:latin typeface="Archivo"/>
                        </a:rPr>
                        <a:t>Full Multi-Role Big-Bang</a:t>
                      </a:r>
                    </a:p>
                  </a:txBody>
                  <a:tcPr anchor="ctr" marT="25400" marB="25400">
                    <a:solidFill>
                      <a:srgbClr val="F5F3EF"/>
                    </a:solidFill>
                  </a:tcPr>
                </a:tc>
                <a:tc>
                  <a:txBody>
                    <a:bodyPr/>
                    <a:lstStyle/>
                    <a:p>
                      <a:r>
                        <a:rPr sz="850" b="0">
                          <a:solidFill>
                            <a:srgbClr val="1B1812"/>
                          </a:solidFill>
                          <a:latin typeface="Archivo"/>
                        </a:rPr>
                        <a:t>Maximum positioning ('the' market platform) and PR impact</a:t>
                      </a:r>
                    </a:p>
                  </a:txBody>
                  <a:tcPr anchor="ctr" marT="25400" marB="25400">
                    <a:solidFill>
                      <a:srgbClr val="F5F3EF"/>
                    </a:solidFill>
                  </a:tcPr>
                </a:tc>
                <a:tc>
                  <a:txBody>
                    <a:bodyPr/>
                    <a:lstStyle/>
                    <a:p>
                      <a:r>
                        <a:rPr sz="850" b="0">
                          <a:solidFill>
                            <a:srgbClr val="1B1812"/>
                          </a:solidFill>
                          <a:latin typeface="Archivo"/>
                        </a:rPr>
                        <a:t>Severe cold-start — empty marketplace on day one for every role</a:t>
                      </a:r>
                    </a:p>
                  </a:txBody>
                  <a:tcPr anchor="ctr" marT="25400" marB="25400">
                    <a:solidFill>
                      <a:srgbClr val="F5F3EF"/>
                    </a:solidFill>
                  </a:tcPr>
                </a:tc>
                <a:tc>
                  <a:txBody>
                    <a:bodyPr/>
                    <a:lstStyle/>
                    <a:p>
                      <a:r>
                        <a:rPr sz="850" b="0">
                          <a:solidFill>
                            <a:srgbClr val="1B1812"/>
                          </a:solidFill>
                          <a:latin typeface="Archivo"/>
                        </a:rPr>
                        <a:t>Liquidity is already pre-committed (e.g. a regulator mandate</a:t>
                      </a:r>
                    </a:p>
                  </a:txBody>
                  <a:tcPr anchor="ctr" marT="25400" marB="25400">
                    <a:solidFill>
                      <a:srgbClr val="F5F3E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THE CHOSEN PATH</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Recommended: Design-Partner Cohort</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463040"/>
            <a:ext cx="11064240" cy="457200"/>
          </a:xfrm>
          <a:prstGeom prst="rect">
            <a:avLst/>
          </a:prstGeom>
          <a:noFill/>
        </p:spPr>
        <p:txBody>
          <a:bodyPr wrap="square" anchor="t" lIns="25400" rIns="25400" tIns="25400" bIns="25400">
            <a:spAutoFit/>
          </a:bodyPr>
          <a:lstStyle/>
          <a:p>
            <a:pPr algn="l">
              <a:spcBef>
                <a:spcPts val="0"/>
              </a:spcBef>
              <a:spcAft>
                <a:spcPts val="400"/>
              </a:spcAft>
            </a:pPr>
            <a:r>
              <a:rPr sz="1400" b="1">
                <a:solidFill>
                  <a:srgbClr val="D18E35"/>
                </a:solidFill>
                <a:latin typeface="Archivo"/>
              </a:rPr>
              <a:t>Choice:  </a:t>
            </a:r>
            <a:r>
              <a:rPr sz="1500" b="1">
                <a:solidFill>
                  <a:srgbClr val="005358"/>
                </a:solidFill>
                <a:latin typeface="Archivo"/>
              </a:rPr>
              <a:t>Design-Partner Cohort (anchor IPP + offtaker + lender triad)</a:t>
            </a:r>
          </a:p>
        </p:txBody>
      </p:sp>
      <p:sp>
        <p:nvSpPr>
          <p:cNvPr id="10" name="TextBox 9"/>
          <p:cNvSpPr txBox="1"/>
          <p:nvPr/>
        </p:nvSpPr>
        <p:spPr>
          <a:xfrm>
            <a:off x="548640" y="2148840"/>
            <a:ext cx="11064240" cy="1463040"/>
          </a:xfrm>
          <a:prstGeom prst="rect">
            <a:avLst/>
          </a:prstGeom>
          <a:noFill/>
        </p:spPr>
        <p:txBody>
          <a:bodyPr wrap="square" anchor="t" lIns="25400" rIns="25400" tIns="25400" bIns="25400">
            <a:spAutoFit/>
          </a:bodyPr>
          <a:lstStyle/>
          <a:p>
            <a:pPr algn="l">
              <a:spcBef>
                <a:spcPts val="0"/>
              </a:spcBef>
              <a:spcAft>
                <a:spcPts val="400"/>
              </a:spcAft>
            </a:pPr>
            <a:r>
              <a:rPr sz="1300" b="0">
                <a:solidFill>
                  <a:srgbClr val="1B1812"/>
                </a:solidFill>
                <a:latin typeface="Archivo"/>
              </a:rPr>
              <a:t>SA's value today is concentrated in live private-wheeling and REIPPPP deals where producers, offtakers and lenders already transact bilaterally but on spreadsheets and PDFs. Onboarding committed triads makes the network non-empty per deal, so cold-start is solved deal-by-deal rather than market-wide. It also hardens the L4/L5 settlement, covenant and licensing chains against real ZAR and real NERSA expectations before any big-bang — and converts anchors into the references the rest of the market will follow.</a:t>
            </a:r>
          </a:p>
        </p:txBody>
      </p:sp>
      <p:sp>
        <p:nvSpPr>
          <p:cNvPr id="11" name="TextBox 10"/>
          <p:cNvSpPr txBox="1"/>
          <p:nvPr/>
        </p:nvSpPr>
        <p:spPr>
          <a:xfrm>
            <a:off x="548640" y="3794760"/>
            <a:ext cx="1106424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THE COLD-START PROBLEM</a:t>
            </a:r>
          </a:p>
        </p:txBody>
      </p:sp>
      <p:sp>
        <p:nvSpPr>
          <p:cNvPr id="12" name="TextBox 11"/>
          <p:cNvSpPr txBox="1"/>
          <p:nvPr/>
        </p:nvSpPr>
        <p:spPr>
          <a:xfrm>
            <a:off x="548640" y="4114800"/>
            <a:ext cx="11064240" cy="548640"/>
          </a:xfrm>
          <a:prstGeom prst="rect">
            <a:avLst/>
          </a:prstGeom>
          <a:noFill/>
        </p:spPr>
        <p:txBody>
          <a:bodyPr wrap="square" anchor="t" lIns="25400" rIns="25400" tIns="25400" bIns="25400">
            <a:spAutoFit/>
          </a:bodyPr>
          <a:lstStyle/>
          <a:p>
            <a:pPr algn="l">
              <a:spcBef>
                <a:spcPts val="0"/>
              </a:spcBef>
              <a:spcAft>
                <a:spcPts val="400"/>
              </a:spcAft>
            </a:pPr>
            <a:r>
              <a:rPr sz="1200" b="0">
                <a:solidFill>
                  <a:srgbClr val="1B1812"/>
                </a:solidFill>
                <a:latin typeface="Archivo"/>
              </a:rPr>
              <a:t>A two-sided record is worthless to side A until side B is on it (producers↔offtakers, borrowers↔lenders, licensees↔regulator), so day-one is an empty marketplace nobody benefits from.</a:t>
            </a:r>
          </a:p>
        </p:txBody>
      </p:sp>
      <p:sp>
        <p:nvSpPr>
          <p:cNvPr id="13" name="TextBox 12"/>
          <p:cNvSpPr txBox="1"/>
          <p:nvPr/>
        </p:nvSpPr>
        <p:spPr>
          <a:xfrm>
            <a:off x="548640" y="4754880"/>
            <a:ext cx="11064240" cy="4480560"/>
          </a:xfrm>
          <a:prstGeom prst="rect">
            <a:avLst/>
          </a:prstGeom>
          <a:noFill/>
        </p:spPr>
        <p:txBody>
          <a:bodyPr wrap="square" anchor="t" lIns="25400" rIns="25400" tIns="25400" bIns="25400">
            <a:spAutoFit/>
          </a:bodyPr>
          <a:lstStyle/>
          <a:p>
            <a:pPr algn="l">
              <a:spcBef>
                <a:spcPts val="0"/>
              </a:spcBef>
              <a:spcAft>
                <a:spcPts val="600"/>
              </a:spcAft>
            </a:pPr>
            <a:r>
              <a:rPr sz="1100" b="1">
                <a:solidFill>
                  <a:srgbClr val="D18E35"/>
                </a:solidFill>
                <a:latin typeface="Archivo"/>
              </a:rPr>
              <a:t>●  </a:t>
            </a:r>
            <a:r>
              <a:rPr sz="1100" b="0">
                <a:solidFill>
                  <a:srgbClr val="1B1812"/>
                </a:solidFill>
                <a:latin typeface="Archivo"/>
              </a:rPr>
              <a:t>Single-player wedge first: ship settlement/metering/audit value that pays off for one role with zero counterparty present, so the platform is useful before the network exists.</a:t>
            </a:r>
          </a:p>
          <a:p>
            <a:pPr algn="l">
              <a:spcBef>
                <a:spcPts val="0"/>
              </a:spcBef>
              <a:spcAft>
                <a:spcPts val="600"/>
              </a:spcAft>
            </a:pPr>
            <a:r>
              <a:rPr sz="1100" b="1">
                <a:solidFill>
                  <a:srgbClr val="D18E35"/>
                </a:solidFill>
                <a:latin typeface="Archivo"/>
              </a:rPr>
              <a:t>●  </a:t>
            </a:r>
            <a:r>
              <a:rPr sz="1100" b="0">
                <a:solidFill>
                  <a:srgbClr val="1B1812"/>
                </a:solidFill>
                <a:latin typeface="Archivo"/>
              </a:rPr>
              <a:t>Seed whole deals, not roles: onboard pre-existing bilateral wheeling deals so both sides arrive together, instantly making each tenant's view non-empty.</a:t>
            </a:r>
          </a:p>
          <a:p>
            <a:pPr algn="l">
              <a:spcBef>
                <a:spcPts val="0"/>
              </a:spcBef>
              <a:spcAft>
                <a:spcPts val="600"/>
              </a:spcAft>
            </a:pPr>
            <a:r>
              <a:rPr sz="1100" b="1">
                <a:solidFill>
                  <a:srgbClr val="D18E35"/>
                </a:solidFill>
                <a:latin typeface="Archivo"/>
              </a:rPr>
              <a:t>●  </a:t>
            </a:r>
            <a:r>
              <a:rPr sz="1100" b="0">
                <a:solidFill>
                  <a:srgbClr val="1B1812"/>
                </a:solidFill>
                <a:latin typeface="Archivo"/>
              </a:rPr>
              <a:t>Anchor the regulator side early: NERSA/NTCSA presence in the licensing and compliance inbox gives every licensee a reason to be on-platform regardless of counterparty liquidity.</a:t>
            </a:r>
          </a:p>
          <a:p>
            <a:pPr algn="l">
              <a:spcBef>
                <a:spcPts val="0"/>
              </a:spcBef>
              <a:spcAft>
                <a:spcPts val="600"/>
              </a:spcAft>
            </a:pPr>
            <a:r>
              <a:rPr sz="1100" b="1">
                <a:solidFill>
                  <a:srgbClr val="D18E35"/>
                </a:solidFill>
                <a:latin typeface="Archivo"/>
              </a:rPr>
              <a:t>●  </a:t>
            </a:r>
            <a:r>
              <a:rPr sz="1100" b="0">
                <a:solidFill>
                  <a:srgbClr val="1B1812"/>
                </a:solidFill>
                <a:latin typeface="Archivo"/>
              </a:rPr>
              <a:t>Pre-load reference data and let CEC author the shared artefact (PPA, covenant cert, REC, settlement statement) so the counterparty's first interaction is reviewing a document already waiting for them — pulling them in by invitation, not cold signup.</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WAVE 0 → GENERAL AVAILABILITY</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Launch sequencing</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2103120"/>
        </p:xfrm>
        <a:graphic>
          <a:graphicData uri="http://schemas.openxmlformats.org/drawingml/2006/table">
            <a:tbl>
              <a:tblPr firstRow="1" bandRow="1">
                <a:tableStyleId>{5C22544A-7EE6-4342-B048-85BDC9FD1C3A}</a:tableStyleId>
              </a:tblPr>
              <a:tblGrid>
                <a:gridCol w="2377440"/>
                <a:gridCol w="1371600"/>
                <a:gridCol w="4389120"/>
                <a:gridCol w="2926080"/>
              </a:tblGrid>
              <a:tr h="420624">
                <a:tc>
                  <a:txBody>
                    <a:bodyPr/>
                    <a:lstStyle/>
                    <a:p>
                      <a:r>
                        <a:rPr sz="900" b="1">
                          <a:solidFill>
                            <a:srgbClr val="FFFFFF"/>
                          </a:solidFill>
                          <a:latin typeface="Archivo"/>
                        </a:rPr>
                        <a:t>Wave</a:t>
                      </a:r>
                    </a:p>
                  </a:txBody>
                  <a:tcPr anchor="ctr">
                    <a:solidFill>
                      <a:srgbClr val="005358"/>
                    </a:solidFill>
                  </a:tcPr>
                </a:tc>
                <a:tc>
                  <a:txBody>
                    <a:bodyPr/>
                    <a:lstStyle/>
                    <a:p>
                      <a:r>
                        <a:rPr sz="900" b="1">
                          <a:solidFill>
                            <a:srgbClr val="FFFFFF"/>
                          </a:solidFill>
                          <a:latin typeface="Archivo"/>
                        </a:rPr>
                        <a:t>When</a:t>
                      </a:r>
                    </a:p>
                  </a:txBody>
                  <a:tcPr anchor="ctr">
                    <a:solidFill>
                      <a:srgbClr val="005358"/>
                    </a:solidFill>
                  </a:tcPr>
                </a:tc>
                <a:tc>
                  <a:txBody>
                    <a:bodyPr/>
                    <a:lstStyle/>
                    <a:p>
                      <a:r>
                        <a:rPr sz="900" b="1">
                          <a:solidFill>
                            <a:srgbClr val="FFFFFF"/>
                          </a:solidFill>
                          <a:latin typeface="Archivo"/>
                        </a:rPr>
                        <a:t>Scope</a:t>
                      </a:r>
                    </a:p>
                  </a:txBody>
                  <a:tcPr anchor="ctr">
                    <a:solidFill>
                      <a:srgbClr val="005358"/>
                    </a:solidFill>
                  </a:tcPr>
                </a:tc>
                <a:tc>
                  <a:txBody>
                    <a:bodyPr/>
                    <a:lstStyle/>
                    <a:p>
                      <a:r>
                        <a:rPr sz="900" b="1">
                          <a:solidFill>
                            <a:srgbClr val="FFFFFF"/>
                          </a:solidFill>
                          <a:latin typeface="Archivo"/>
                        </a:rPr>
                        <a:t>Readiness gate</a:t>
                      </a:r>
                    </a:p>
                  </a:txBody>
                  <a:tcPr anchor="ctr">
                    <a:solidFill>
                      <a:srgbClr val="005358"/>
                    </a:solidFill>
                  </a:tcPr>
                </a:tc>
              </a:tr>
              <a:tr h="420624">
                <a:tc>
                  <a:txBody>
                    <a:bodyPr/>
                    <a:lstStyle/>
                    <a:p>
                      <a:r>
                        <a:rPr sz="850" b="1">
                          <a:solidFill>
                            <a:srgbClr val="005358"/>
                          </a:solidFill>
                          <a:latin typeface="Archivo"/>
                        </a:rPr>
                        <a:t>Wave 0 — Hardening &amp; Single-Player Wedge</a:t>
                      </a:r>
                    </a:p>
                  </a:txBody>
                  <a:tcPr anchor="ctr" marT="25400" marB="25400">
                    <a:solidFill>
                      <a:srgbClr val="FFFFFF"/>
                    </a:solidFill>
                  </a:tcPr>
                </a:tc>
                <a:tc>
                  <a:txBody>
                    <a:bodyPr/>
                    <a:lstStyle/>
                    <a:p>
                      <a:r>
                        <a:rPr sz="850" b="0">
                          <a:solidFill>
                            <a:srgbClr val="1B1812"/>
                          </a:solidFill>
                          <a:latin typeface="Archivo"/>
                        </a:rPr>
                        <a:t>Months 0-3</a:t>
                      </a:r>
                    </a:p>
                  </a:txBody>
                  <a:tcPr anchor="ctr" marT="25400" marB="25400">
                    <a:solidFill>
                      <a:srgbClr val="FFFFFF"/>
                    </a:solidFill>
                  </a:tcPr>
                </a:tc>
                <a:tc>
                  <a:txBody>
                    <a:bodyPr/>
                    <a:lstStyle/>
                    <a:p>
                      <a:r>
                        <a:rPr sz="850" b="0">
                          <a:solidFill>
                            <a:srgbClr val="1B1812"/>
                          </a:solidFill>
                          <a:latin typeface="Archivo"/>
                        </a:rPr>
                        <a:t>ESCO/O&amp;M + IPP Developer + Platform Admin on the settlement, metering-rollup, </a:t>
                      </a:r>
                    </a:p>
                  </a:txBody>
                  <a:tcPr anchor="ctr" marT="25400" marB="25400">
                    <a:solidFill>
                      <a:srgbClr val="FFFFFF"/>
                    </a:solidFill>
                  </a:tcPr>
                </a:tc>
                <a:tc>
                  <a:txBody>
                    <a:bodyPr/>
                    <a:lstStyle/>
                    <a:p>
                      <a:r>
                        <a:rPr sz="850" b="0">
                          <a:solidFill>
                            <a:srgbClr val="1B1812"/>
                          </a:solidFill>
                          <a:latin typeface="Archivo"/>
                        </a:rPr>
                        <a:t>Settlement reconciles to the cent vs a manual control run for </a:t>
                      </a:r>
                    </a:p>
                  </a:txBody>
                  <a:tcPr anchor="ctr" marT="25400" marB="25400">
                    <a:solidFill>
                      <a:srgbClr val="FFFFFF"/>
                    </a:solidFill>
                  </a:tcPr>
                </a:tc>
              </a:tr>
              <a:tr h="420624">
                <a:tc>
                  <a:txBody>
                    <a:bodyPr/>
                    <a:lstStyle/>
                    <a:p>
                      <a:r>
                        <a:rPr sz="850" b="1">
                          <a:solidFill>
                            <a:srgbClr val="005358"/>
                          </a:solidFill>
                          <a:latin typeface="Archivo"/>
                        </a:rPr>
                        <a:t>Wave 1 — Anchor Triads (commercial cross-role)</a:t>
                      </a:r>
                    </a:p>
                  </a:txBody>
                  <a:tcPr anchor="ctr" marT="25400" marB="25400">
                    <a:solidFill>
                      <a:srgbClr val="F5F3EF"/>
                    </a:solidFill>
                  </a:tcPr>
                </a:tc>
                <a:tc>
                  <a:txBody>
                    <a:bodyPr/>
                    <a:lstStyle/>
                    <a:p>
                      <a:r>
                        <a:rPr sz="850" b="0">
                          <a:solidFill>
                            <a:srgbClr val="1B1812"/>
                          </a:solidFill>
                          <a:latin typeface="Archivo"/>
                        </a:rPr>
                        <a:t>Months 3-6</a:t>
                      </a:r>
                    </a:p>
                  </a:txBody>
                  <a:tcPr anchor="ctr" marT="25400" marB="25400">
                    <a:solidFill>
                      <a:srgbClr val="F5F3EF"/>
                    </a:solidFill>
                  </a:tcPr>
                </a:tc>
                <a:tc>
                  <a:txBody>
                    <a:bodyPr/>
                    <a:lstStyle/>
                    <a:p>
                      <a:r>
                        <a:rPr sz="850" b="0">
                          <a:solidFill>
                            <a:srgbClr val="1B1812"/>
                          </a:solidFill>
                          <a:latin typeface="Archivo"/>
                        </a:rPr>
                        <a:t>Add Offtaker + Lender + Trader; live PPA execution, payment-security, drawdown</a:t>
                      </a:r>
                    </a:p>
                  </a:txBody>
                  <a:tcPr anchor="ctr" marT="25400" marB="25400">
                    <a:solidFill>
                      <a:srgbClr val="F5F3EF"/>
                    </a:solidFill>
                  </a:tcPr>
                </a:tc>
                <a:tc>
                  <a:txBody>
                    <a:bodyPr/>
                    <a:lstStyle/>
                    <a:p>
                      <a:r>
                        <a:rPr sz="850" b="0">
                          <a:solidFill>
                            <a:srgbClr val="1B1812"/>
                          </a:solidFill>
                          <a:latin typeface="Archivo"/>
                        </a:rPr>
                        <a:t>≥3 triads each completing a full deal-to-settlement cycle on-p</a:t>
                      </a:r>
                    </a:p>
                  </a:txBody>
                  <a:tcPr anchor="ctr" marT="25400" marB="25400">
                    <a:solidFill>
                      <a:srgbClr val="F5F3EF"/>
                    </a:solidFill>
                  </a:tcPr>
                </a:tc>
              </a:tr>
              <a:tr h="420624">
                <a:tc>
                  <a:txBody>
                    <a:bodyPr/>
                    <a:lstStyle/>
                    <a:p>
                      <a:r>
                        <a:rPr sz="850" b="1">
                          <a:solidFill>
                            <a:srgbClr val="005358"/>
                          </a:solidFill>
                          <a:latin typeface="Archivo"/>
                        </a:rPr>
                        <a:t>Wave 2 — Regulatory &amp; Grid Spine</a:t>
                      </a:r>
                    </a:p>
                  </a:txBody>
                  <a:tcPr anchor="ctr" marT="25400" marB="25400">
                    <a:solidFill>
                      <a:srgbClr val="FFFFFF"/>
                    </a:solidFill>
                  </a:tcPr>
                </a:tc>
                <a:tc>
                  <a:txBody>
                    <a:bodyPr/>
                    <a:lstStyle/>
                    <a:p>
                      <a:r>
                        <a:rPr sz="850" b="0">
                          <a:solidFill>
                            <a:srgbClr val="1B1812"/>
                          </a:solidFill>
                          <a:latin typeface="Archivo"/>
                        </a:rPr>
                        <a:t>Months 6-9</a:t>
                      </a:r>
                    </a:p>
                  </a:txBody>
                  <a:tcPr anchor="ctr" marT="25400" marB="25400">
                    <a:solidFill>
                      <a:srgbClr val="FFFFFF"/>
                    </a:solidFill>
                  </a:tcPr>
                </a:tc>
                <a:tc>
                  <a:txBody>
                    <a:bodyPr/>
                    <a:lstStyle/>
                    <a:p>
                      <a:r>
                        <a:rPr sz="850" b="0">
                          <a:solidFill>
                            <a:srgbClr val="1B1812"/>
                          </a:solidFill>
                          <a:latin typeface="Archivo"/>
                        </a:rPr>
                        <a:t>Add Regulator + Grid Operator + Carbon Fund; NERSA licensing/renewal inbox, gr</a:t>
                      </a:r>
                    </a:p>
                  </a:txBody>
                  <a:tcPr anchor="ctr" marT="25400" marB="25400">
                    <a:solidFill>
                      <a:srgbClr val="FFFFFF"/>
                    </a:solidFill>
                  </a:tcPr>
                </a:tc>
                <a:tc>
                  <a:txBody>
                    <a:bodyPr/>
                    <a:lstStyle/>
                    <a:p>
                      <a:r>
                        <a:rPr sz="850" b="0">
                          <a:solidFill>
                            <a:srgbClr val="1B1812"/>
                          </a:solidFill>
                          <a:latin typeface="Archivo"/>
                        </a:rPr>
                        <a:t>Regulator processes ≥1 real licensing or compliance matter end</a:t>
                      </a:r>
                    </a:p>
                  </a:txBody>
                  <a:tcPr anchor="ctr" marT="25400" marB="25400">
                    <a:solidFill>
                      <a:srgbClr val="FFFFFF"/>
                    </a:solidFill>
                  </a:tcPr>
                </a:tc>
              </a:tr>
              <a:tr h="420624">
                <a:tc>
                  <a:txBody>
                    <a:bodyPr/>
                    <a:lstStyle/>
                    <a:p>
                      <a:r>
                        <a:rPr sz="850" b="1">
                          <a:solidFill>
                            <a:srgbClr val="005358"/>
                          </a:solidFill>
                          <a:latin typeface="Archivo"/>
                        </a:rPr>
                        <a:t>Wave 3 — General Multi-Tenant GA</a:t>
                      </a:r>
                    </a:p>
                  </a:txBody>
                  <a:tcPr anchor="ctr" marT="25400" marB="25400">
                    <a:solidFill>
                      <a:srgbClr val="F5F3EF"/>
                    </a:solidFill>
                  </a:tcPr>
                </a:tc>
                <a:tc>
                  <a:txBody>
                    <a:bodyPr/>
                    <a:lstStyle/>
                    <a:p>
                      <a:r>
                        <a:rPr sz="850" b="0">
                          <a:solidFill>
                            <a:srgbClr val="1B1812"/>
                          </a:solidFill>
                          <a:latin typeface="Archivo"/>
                        </a:rPr>
                        <a:t>Months 9-12</a:t>
                      </a:r>
                    </a:p>
                  </a:txBody>
                  <a:tcPr anchor="ctr" marT="25400" marB="25400">
                    <a:solidFill>
                      <a:srgbClr val="F5F3EF"/>
                    </a:solidFill>
                  </a:tcPr>
                </a:tc>
                <a:tc>
                  <a:txBody>
                    <a:bodyPr/>
                    <a:lstStyle/>
                    <a:p>
                      <a:r>
                        <a:rPr sz="850" b="0">
                          <a:solidFill>
                            <a:srgbClr val="1B1812"/>
                          </a:solidFill>
                          <a:latin typeface="Archivo"/>
                        </a:rPr>
                        <a:t>Open all 11 roles and the full 207-chain / 360-journey surface to qualified mu</a:t>
                      </a:r>
                    </a:p>
                  </a:txBody>
                  <a:tcPr anchor="ctr" marT="25400" marB="25400">
                    <a:solidFill>
                      <a:srgbClr val="F5F3EF"/>
                    </a:solidFill>
                  </a:tcPr>
                </a:tc>
                <a:tc>
                  <a:txBody>
                    <a:bodyPr/>
                    <a:lstStyle/>
                    <a:p>
                      <a:r>
                        <a:rPr sz="850" b="0">
                          <a:solidFill>
                            <a:srgbClr val="1B1812"/>
                          </a:solidFill>
                          <a:latin typeface="Archivo"/>
                        </a:rPr>
                        <a:t>Liquidity threshold met (≥N active counterparties per role); 9</a:t>
                      </a:r>
                    </a:p>
                  </a:txBody>
                  <a:tcPr anchor="ctr" marT="25400" marB="25400">
                    <a:solidFill>
                      <a:srgbClr val="F5F3E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WHAT MUST BE TRUE TO GO LIVE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All launch considerations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3639312"/>
        </p:xfrm>
        <a:graphic>
          <a:graphicData uri="http://schemas.openxmlformats.org/drawingml/2006/table">
            <a:tbl>
              <a:tblPr firstRow="1" bandRow="1">
                <a:tableStyleId>{5C22544A-7EE6-4342-B048-85BDC9FD1C3A}</a:tableStyleId>
              </a:tblPr>
              <a:tblGrid>
                <a:gridCol w="2377440"/>
                <a:gridCol w="8686800"/>
              </a:tblGrid>
              <a:tr h="404368">
                <a:tc>
                  <a:txBody>
                    <a:bodyPr/>
                    <a:lstStyle/>
                    <a:p>
                      <a:r>
                        <a:rPr sz="850" b="1">
                          <a:solidFill>
                            <a:srgbClr val="FFFFFF"/>
                          </a:solidFill>
                          <a:latin typeface="Archivo"/>
                        </a:rPr>
                        <a:t>Area</a:t>
                      </a:r>
                    </a:p>
                  </a:txBody>
                  <a:tcPr anchor="ctr">
                    <a:solidFill>
                      <a:srgbClr val="005358"/>
                    </a:solidFill>
                  </a:tcPr>
                </a:tc>
                <a:tc>
                  <a:txBody>
                    <a:bodyPr/>
                    <a:lstStyle/>
                    <a:p>
                      <a:r>
                        <a:rPr sz="850" b="1">
                          <a:solidFill>
                            <a:srgbClr val="FFFFFF"/>
                          </a:solidFill>
                          <a:latin typeface="Archivo"/>
                        </a:rPr>
                        <a:t>Detail</a:t>
                      </a:r>
                    </a:p>
                  </a:txBody>
                  <a:tcPr anchor="ctr">
                    <a:solidFill>
                      <a:srgbClr val="005358"/>
                    </a:solidFill>
                  </a:tcPr>
                </a:tc>
              </a:tr>
              <a:tr h="404368">
                <a:tc>
                  <a:txBody>
                    <a:bodyPr/>
                    <a:lstStyle/>
                    <a:p>
                      <a:r>
                        <a:rPr sz="800" b="1">
                          <a:solidFill>
                            <a:srgbClr val="005358"/>
                          </a:solidFill>
                          <a:latin typeface="Archivo"/>
                        </a:rPr>
                        <a:t>Regulatory &amp; licensing</a:t>
                      </a:r>
                    </a:p>
                  </a:txBody>
                  <a:tcPr anchor="ctr" marT="25400" marB="25400">
                    <a:solidFill>
                      <a:srgbClr val="FFFFFF"/>
                    </a:solidFill>
                  </a:tcPr>
                </a:tc>
                <a:tc>
                  <a:txBody>
                    <a:bodyPr/>
                    <a:lstStyle/>
                    <a:p>
                      <a:r>
                        <a:rPr sz="800" b="0">
                          <a:solidFill>
                            <a:srgbClr val="1B1812"/>
                          </a:solidFill>
                          <a:latin typeface="Archivo"/>
                        </a:rPr>
                        <a:t>Binding settlement and licensing artefacts must align to ERA 2006, NERSA Grid Code and REIPPPP; engage NERSA/NTCSA as observers in Wave 0-2 so the regulato</a:t>
                      </a:r>
                    </a:p>
                  </a:txBody>
                  <a:tcPr anchor="ctr" marT="25400" marB="25400">
                    <a:solidFill>
                      <a:srgbClr val="FFFFFF"/>
                    </a:solidFill>
                  </a:tcPr>
                </a:tc>
              </a:tr>
              <a:tr h="404368">
                <a:tc>
                  <a:txBody>
                    <a:bodyPr/>
                    <a:lstStyle/>
                    <a:p>
                      <a:r>
                        <a:rPr sz="800" b="1">
                          <a:solidFill>
                            <a:srgbClr val="005358"/>
                          </a:solidFill>
                          <a:latin typeface="Archivo"/>
                        </a:rPr>
                        <a:t>Data residency &amp; POPIA</a:t>
                      </a:r>
                    </a:p>
                  </a:txBody>
                  <a:tcPr anchor="ctr" marT="25400" marB="25400">
                    <a:solidFill>
                      <a:srgbClr val="F5F3EF"/>
                    </a:solidFill>
                  </a:tcPr>
                </a:tc>
                <a:tc>
                  <a:txBody>
                    <a:bodyPr/>
                    <a:lstStyle/>
                    <a:p>
                      <a:r>
                        <a:rPr sz="800" b="0">
                          <a:solidFill>
                            <a:srgbClr val="1B1812"/>
                          </a:solidFill>
                          <a:latin typeface="Archivo"/>
                        </a:rPr>
                        <a:t>Energy counterparty and metering data is commercially and personally sensitive; pin D1 shards and R2 vault to compliant regions, document cross-border edge</a:t>
                      </a:r>
                    </a:p>
                  </a:txBody>
                  <a:tcPr anchor="ctr" marT="25400" marB="25400">
                    <a:solidFill>
                      <a:srgbClr val="F5F3EF"/>
                    </a:solidFill>
                  </a:tcPr>
                </a:tc>
              </a:tr>
              <a:tr h="404368">
                <a:tc>
                  <a:txBody>
                    <a:bodyPr/>
                    <a:lstStyle/>
                    <a:p>
                      <a:r>
                        <a:rPr sz="800" b="1">
                          <a:solidFill>
                            <a:srgbClr val="005358"/>
                          </a:solidFill>
                          <a:latin typeface="Archivo"/>
                        </a:rPr>
                        <a:t>Security &amp; audit</a:t>
                      </a:r>
                    </a:p>
                  </a:txBody>
                  <a:tcPr anchor="ctr" marT="25400" marB="25400">
                    <a:solidFill>
                      <a:srgbClr val="FFFFFF"/>
                    </a:solidFill>
                  </a:tcPr>
                </a:tc>
                <a:tc>
                  <a:txBody>
                    <a:bodyPr/>
                    <a:lstStyle/>
                    <a:p>
                      <a:r>
                        <a:rPr sz="800" b="0">
                          <a:solidFill>
                            <a:srgbClr val="1B1812"/>
                          </a:solidFill>
                          <a:latin typeface="Archivo"/>
                        </a:rPr>
                        <a:t>Tamper-evident audit chains, DvP atomicity and per-tenant isolation are the trust product itself; ship an independent pen-test, audit-chain integrity proof</a:t>
                      </a:r>
                    </a:p>
                  </a:txBody>
                  <a:tcPr anchor="ctr" marT="25400" marB="25400">
                    <a:solidFill>
                      <a:srgbClr val="FFFFFF"/>
                    </a:solidFill>
                  </a:tcPr>
                </a:tc>
              </a:tr>
              <a:tr h="404368">
                <a:tc>
                  <a:txBody>
                    <a:bodyPr/>
                    <a:lstStyle/>
                    <a:p>
                      <a:r>
                        <a:rPr sz="800" b="1">
                          <a:solidFill>
                            <a:srgbClr val="005358"/>
                          </a:solidFill>
                          <a:latin typeface="Archivo"/>
                        </a:rPr>
                        <a:t>Tenant onboarding &amp; data migration</a:t>
                      </a:r>
                    </a:p>
                  </a:txBody>
                  <a:tcPr anchor="ctr" marT="25400" marB="25400">
                    <a:solidFill>
                      <a:srgbClr val="F5F3EF"/>
                    </a:solidFill>
                  </a:tcPr>
                </a:tc>
                <a:tc>
                  <a:txBody>
                    <a:bodyPr/>
                    <a:lstStyle/>
                    <a:p>
                      <a:r>
                        <a:rPr sz="800" b="0">
                          <a:solidFill>
                            <a:srgbClr val="1B1812"/>
                          </a:solidFill>
                          <a:latin typeface="Archivo"/>
                        </a:rPr>
                        <a:t>Each anchor arrives with legacy PPAs, metering history, covenant terms and asset registers in spreadsheets/PDFs; build a repeatable migration runbook with </a:t>
                      </a:r>
                    </a:p>
                  </a:txBody>
                  <a:tcPr anchor="ctr" marT="25400" marB="25400">
                    <a:solidFill>
                      <a:srgbClr val="F5F3EF"/>
                    </a:solidFill>
                  </a:tcPr>
                </a:tc>
              </a:tr>
              <a:tr h="404368">
                <a:tc>
                  <a:txBody>
                    <a:bodyPr/>
                    <a:lstStyle/>
                    <a:p>
                      <a:r>
                        <a:rPr sz="800" b="1">
                          <a:solidFill>
                            <a:srgbClr val="005358"/>
                          </a:solidFill>
                          <a:latin typeface="Archivo"/>
                        </a:rPr>
                        <a:t>Integrations (Eskom/NTCSA/banks/registries)</a:t>
                      </a:r>
                    </a:p>
                  </a:txBody>
                  <a:tcPr anchor="ctr" marT="25400" marB="25400">
                    <a:solidFill>
                      <a:srgbClr val="FFFFFF"/>
                    </a:solidFill>
                  </a:tcPr>
                </a:tc>
                <a:tc>
                  <a:txBody>
                    <a:bodyPr/>
                    <a:lstStyle/>
                    <a:p>
                      <a:r>
                        <a:rPr sz="800" b="0">
                          <a:solidFill>
                            <a:srgbClr val="1B1812"/>
                          </a:solidFill>
                          <a:latin typeface="Archivo"/>
                        </a:rPr>
                        <a:t>Settlement needs bank payment confirmation, grid chains need NTCSA dispatch/metering feeds, carbon needs Verra/GS/Article-6 and SARS carbon-tax interfaces;</a:t>
                      </a:r>
                    </a:p>
                  </a:txBody>
                  <a:tcPr anchor="ctr" marT="25400" marB="25400">
                    <a:solidFill>
                      <a:srgbClr val="FFFFFF"/>
                    </a:solidFill>
                  </a:tcPr>
                </a:tc>
              </a:tr>
              <a:tr h="404368">
                <a:tc>
                  <a:txBody>
                    <a:bodyPr/>
                    <a:lstStyle/>
                    <a:p>
                      <a:r>
                        <a:rPr sz="800" b="1">
                          <a:solidFill>
                            <a:srgbClr val="005358"/>
                          </a:solidFill>
                          <a:latin typeface="Archivo"/>
                        </a:rPr>
                        <a:t>Pricing &amp; contracts</a:t>
                      </a:r>
                    </a:p>
                  </a:txBody>
                  <a:tcPr anchor="ctr" marT="25400" marB="25400">
                    <a:solidFill>
                      <a:srgbClr val="F5F3EF"/>
                    </a:solidFill>
                  </a:tcPr>
                </a:tc>
                <a:tc>
                  <a:txBody>
                    <a:bodyPr/>
                    <a:lstStyle/>
                    <a:p>
                      <a:r>
                        <a:rPr sz="800" b="0">
                          <a:solidFill>
                            <a:srgbClr val="1B1812"/>
                          </a:solidFill>
                          <a:latin typeface="Archivo"/>
                        </a:rPr>
                        <a:t>A shared market record can't price like a SaaS seat; favour design-partner concessions then transaction/settlement-value or per-chain pricing, with platfor</a:t>
                      </a:r>
                    </a:p>
                  </a:txBody>
                  <a:tcPr anchor="ctr" marT="25400" marB="25400">
                    <a:solidFill>
                      <a:srgbClr val="F5F3EF"/>
                    </a:solidFill>
                  </a:tcPr>
                </a:tc>
              </a:tr>
              <a:tr h="404368">
                <a:tc>
                  <a:txBody>
                    <a:bodyPr/>
                    <a:lstStyle/>
                    <a:p>
                      <a:r>
                        <a:rPr sz="800" b="1">
                          <a:solidFill>
                            <a:srgbClr val="005358"/>
                          </a:solidFill>
                          <a:latin typeface="Archivo"/>
                        </a:rPr>
                        <a:t>Support &amp; SLAs</a:t>
                      </a:r>
                    </a:p>
                  </a:txBody>
                  <a:tcPr anchor="ctr" marT="25400" marB="25400">
                    <a:solidFill>
                      <a:srgbClr val="FFFFFF"/>
                    </a:solidFill>
                  </a:tcPr>
                </a:tc>
                <a:tc>
                  <a:txBody>
                    <a:bodyPr/>
                    <a:lstStyle/>
                    <a:p>
                      <a:r>
                        <a:rPr sz="800" b="0">
                          <a:solidFill>
                            <a:srgbClr val="1B1812"/>
                          </a:solidFill>
                          <a:latin typeface="Archivo"/>
                        </a:rPr>
                        <a:t>Settlement, margin gating and curtailment claims are money-and-time-critical; define tiered SLAs (P1 on settlement/DvP failures), an on-call runbook tied t</a:t>
                      </a:r>
                    </a:p>
                  </a:txBody>
                  <a:tcPr anchor="ctr" marT="25400" marB="25400">
                    <a:solidFill>
                      <a:srgbClr val="FFFFFF"/>
                    </a:solidFill>
                  </a:tcPr>
                </a:tc>
              </a:tr>
              <a:tr h="404368">
                <a:tc>
                  <a:txBody>
                    <a:bodyPr/>
                    <a:lstStyle/>
                    <a:p>
                      <a:r>
                        <a:rPr sz="800" b="1">
                          <a:solidFill>
                            <a:srgbClr val="005358"/>
                          </a:solidFill>
                          <a:latin typeface="Archivo"/>
                        </a:rPr>
                        <a:t>Change management &amp; training</a:t>
                      </a:r>
                    </a:p>
                  </a:txBody>
                  <a:tcPr anchor="ctr" marT="25400" marB="25400">
                    <a:solidFill>
                      <a:srgbClr val="F5F3EF"/>
                    </a:solidFill>
                  </a:tcPr>
                </a:tc>
                <a:tc>
                  <a:txBody>
                    <a:bodyPr/>
                    <a:lstStyle/>
                    <a:p>
                      <a:r>
                        <a:rPr sz="800" b="0">
                          <a:solidFill>
                            <a:srgbClr val="1B1812"/>
                          </a:solidFill>
                          <a:latin typeface="Archivo"/>
                        </a:rPr>
                        <a:t>Eleven roles span sophisticated traders to regulator officers and O&amp;M crews; ship role-specific onboarding (Horizon/Atlas first-run), inline AI assists wit</a:t>
                      </a:r>
                    </a:p>
                  </a:txBody>
                  <a:tcPr anchor="ctr" marT="25400" marB="25400">
                    <a:solidFill>
                      <a:srgbClr val="F5F3E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HARD GO/NO-GO CRITERIA</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Readiness gates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2487168"/>
        </p:xfrm>
        <a:graphic>
          <a:graphicData uri="http://schemas.openxmlformats.org/drawingml/2006/table">
            <a:tbl>
              <a:tblPr firstRow="1" bandRow="1">
                <a:tableStyleId>{5C22544A-7EE6-4342-B048-85BDC9FD1C3A}</a:tableStyleId>
              </a:tblPr>
              <a:tblGrid>
                <a:gridCol w="2743200"/>
                <a:gridCol w="8321040"/>
              </a:tblGrid>
              <a:tr h="414528">
                <a:tc>
                  <a:txBody>
                    <a:bodyPr/>
                    <a:lstStyle/>
                    <a:p>
                      <a:r>
                        <a:rPr sz="950" b="1">
                          <a:solidFill>
                            <a:srgbClr val="FFFFFF"/>
                          </a:solidFill>
                          <a:latin typeface="Archivo"/>
                        </a:rPr>
                        <a:t>Gate</a:t>
                      </a:r>
                    </a:p>
                  </a:txBody>
                  <a:tcPr anchor="ctr">
                    <a:solidFill>
                      <a:srgbClr val="005358"/>
                    </a:solidFill>
                  </a:tcPr>
                </a:tc>
                <a:tc>
                  <a:txBody>
                    <a:bodyPr/>
                    <a:lstStyle/>
                    <a:p>
                      <a:r>
                        <a:rPr sz="950" b="1">
                          <a:solidFill>
                            <a:srgbClr val="FFFFFF"/>
                          </a:solidFill>
                          <a:latin typeface="Archivo"/>
                        </a:rPr>
                        <a:t>Criteria</a:t>
                      </a:r>
                    </a:p>
                  </a:txBody>
                  <a:tcPr anchor="ctr">
                    <a:solidFill>
                      <a:srgbClr val="005358"/>
                    </a:solidFill>
                  </a:tcPr>
                </a:tc>
              </a:tr>
              <a:tr h="414528">
                <a:tc>
                  <a:txBody>
                    <a:bodyPr/>
                    <a:lstStyle/>
                    <a:p>
                      <a:r>
                        <a:rPr sz="900" b="1">
                          <a:solidFill>
                            <a:srgbClr val="005358"/>
                          </a:solidFill>
                          <a:latin typeface="Archivo"/>
                        </a:rPr>
                        <a:t>Security &amp; isolation sign-off</a:t>
                      </a:r>
                    </a:p>
                  </a:txBody>
                  <a:tcPr anchor="ctr" marT="25400" marB="25400">
                    <a:solidFill>
                      <a:srgbClr val="FFFFFF"/>
                    </a:solidFill>
                  </a:tcPr>
                </a:tc>
                <a:tc>
                  <a:txBody>
                    <a:bodyPr/>
                    <a:lstStyle/>
                    <a:p>
                      <a:r>
                        <a:rPr sz="900" b="0">
                          <a:solidFill>
                            <a:srgbClr val="1B1812"/>
                          </a:solidFill>
                          <a:latin typeface="Archivo"/>
                        </a:rPr>
                        <a:t>Independent pen-test closed with no High/Critical open; cross-tenant isolation test suite green; audit-chain tamper-evidence independently verified; J</a:t>
                      </a:r>
                    </a:p>
                  </a:txBody>
                  <a:tcPr anchor="ctr" marT="25400" marB="25400">
                    <a:solidFill>
                      <a:srgbClr val="FFFFFF"/>
                    </a:solidFill>
                  </a:tcPr>
                </a:tc>
              </a:tr>
              <a:tr h="414528">
                <a:tc>
                  <a:txBody>
                    <a:bodyPr/>
                    <a:lstStyle/>
                    <a:p>
                      <a:r>
                        <a:rPr sz="900" b="1">
                          <a:solidFill>
                            <a:srgbClr val="005358"/>
                          </a:solidFill>
                          <a:latin typeface="Archivo"/>
                        </a:rPr>
                        <a:t>Regulatory engagement</a:t>
                      </a:r>
                    </a:p>
                  </a:txBody>
                  <a:tcPr anchor="ctr" marT="25400" marB="25400">
                    <a:solidFill>
                      <a:srgbClr val="F5F3EF"/>
                    </a:solidFill>
                  </a:tcPr>
                </a:tc>
                <a:tc>
                  <a:txBody>
                    <a:bodyPr/>
                    <a:lstStyle/>
                    <a:p>
                      <a:r>
                        <a:rPr sz="900" b="0">
                          <a:solidFill>
                            <a:srgbClr val="1B1812"/>
                          </a:solidFill>
                          <a:latin typeface="Archivo"/>
                        </a:rPr>
                        <a:t>Documented NERSA/NTCSA engagement with written acknowledgement of CEC's role and L5 audit evidence; platform legal posture (not an unlicensed exchange</a:t>
                      </a:r>
                    </a:p>
                  </a:txBody>
                  <a:tcPr anchor="ctr" marT="25400" marB="25400">
                    <a:solidFill>
                      <a:srgbClr val="F5F3EF"/>
                    </a:solidFill>
                  </a:tcPr>
                </a:tc>
              </a:tr>
              <a:tr h="414528">
                <a:tc>
                  <a:txBody>
                    <a:bodyPr/>
                    <a:lstStyle/>
                    <a:p>
                      <a:r>
                        <a:rPr sz="900" b="1">
                          <a:solidFill>
                            <a:srgbClr val="005358"/>
                          </a:solidFill>
                          <a:latin typeface="Archivo"/>
                        </a:rPr>
                        <a:t>Reference data loaded</a:t>
                      </a:r>
                    </a:p>
                  </a:txBody>
                  <a:tcPr anchor="ctr" marT="25400" marB="25400">
                    <a:solidFill>
                      <a:srgbClr val="FFFFFF"/>
                    </a:solidFill>
                  </a:tcPr>
                </a:tc>
                <a:tc>
                  <a:txBody>
                    <a:bodyPr/>
                    <a:lstStyle/>
                    <a:p>
                      <a:r>
                        <a:rPr sz="900" b="0">
                          <a:solidFill>
                            <a:srgbClr val="1B1812"/>
                          </a:solidFill>
                          <a:latin typeface="Archivo"/>
                        </a:rPr>
                        <a:t>Tenant master data (assets, PPAs, counterparties, tariffs, calendars) migrated and reconciled to source with &lt;0.1% variance; 508 migrations applied cl</a:t>
                      </a:r>
                    </a:p>
                  </a:txBody>
                  <a:tcPr anchor="ctr" marT="25400" marB="25400">
                    <a:solidFill>
                      <a:srgbClr val="FFFFFF"/>
                    </a:solidFill>
                  </a:tcPr>
                </a:tc>
              </a:tr>
              <a:tr h="414528">
                <a:tc>
                  <a:txBody>
                    <a:bodyPr/>
                    <a:lstStyle/>
                    <a:p>
                      <a:r>
                        <a:rPr sz="900" b="1">
                          <a:solidFill>
                            <a:srgbClr val="005358"/>
                          </a:solidFill>
                          <a:latin typeface="Archivo"/>
                        </a:rPr>
                        <a:t>Settlement reconciled</a:t>
                      </a:r>
                    </a:p>
                  </a:txBody>
                  <a:tcPr anchor="ctr" marT="25400" marB="25400">
                    <a:solidFill>
                      <a:srgbClr val="F5F3EF"/>
                    </a:solidFill>
                  </a:tcPr>
                </a:tc>
                <a:tc>
                  <a:txBody>
                    <a:bodyPr/>
                    <a:lstStyle/>
                    <a:p>
                      <a:r>
                        <a:rPr sz="900" b="0">
                          <a:solidFill>
                            <a:srgbClr val="1B1812"/>
                          </a:solidFill>
                          <a:latin typeface="Archivo"/>
                        </a:rPr>
                        <a:t>30 consecutive daily settlement-cron runs reconcile to the cent against an independent control; DvP atomicity proven under fault injection; first bind</a:t>
                      </a:r>
                    </a:p>
                  </a:txBody>
                  <a:tcPr anchor="ctr" marT="25400" marB="25400">
                    <a:solidFill>
                      <a:srgbClr val="F5F3EF"/>
                    </a:solidFill>
                  </a:tcPr>
                </a:tc>
              </a:tr>
              <a:tr h="414528">
                <a:tc>
                  <a:txBody>
                    <a:bodyPr/>
                    <a:lstStyle/>
                    <a:p>
                      <a:r>
                        <a:rPr sz="900" b="1">
                          <a:solidFill>
                            <a:srgbClr val="005358"/>
                          </a:solidFill>
                          <a:latin typeface="Archivo"/>
                        </a:rPr>
                        <a:t>Support staffed &amp; rollback drilled</a:t>
                      </a:r>
                    </a:p>
                  </a:txBody>
                  <a:tcPr anchor="ctr" marT="25400" marB="25400">
                    <a:solidFill>
                      <a:srgbClr val="FFFFFF"/>
                    </a:solidFill>
                  </a:tcPr>
                </a:tc>
                <a:tc>
                  <a:txBody>
                    <a:bodyPr/>
                    <a:lstStyle/>
                    <a:p>
                      <a:r>
                        <a:rPr sz="900" b="0">
                          <a:solidFill>
                            <a:srgbClr val="1B1812"/>
                          </a:solidFill>
                          <a:latin typeface="Archivo"/>
                        </a:rPr>
                        <a:t>Tiered SLA desk staffed and on-call rota live; runbooks for all seven cron schedules; a full rollback/contingency drill executed and timed within RTO.</a:t>
                      </a:r>
                    </a:p>
                  </a:txBody>
                  <a:tcPr anchor="ctr" marT="25400" marB="25400">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TOP LAUNCH RISKS &amp; MITIGATIONS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Risk register</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3255264"/>
        </p:xfrm>
        <a:graphic>
          <a:graphicData uri="http://schemas.openxmlformats.org/drawingml/2006/table">
            <a:tbl>
              <a:tblPr firstRow="1" bandRow="1">
                <a:tableStyleId>{5C22544A-7EE6-4342-B048-85BDC9FD1C3A}</a:tableStyleId>
              </a:tblPr>
              <a:tblGrid>
                <a:gridCol w="3840480"/>
                <a:gridCol w="548640"/>
                <a:gridCol w="548640"/>
                <a:gridCol w="6126480"/>
              </a:tblGrid>
              <a:tr h="406908">
                <a:tc>
                  <a:txBody>
                    <a:bodyPr/>
                    <a:lstStyle/>
                    <a:p>
                      <a:r>
                        <a:rPr sz="900" b="1">
                          <a:solidFill>
                            <a:srgbClr val="FFFFFF"/>
                          </a:solidFill>
                          <a:latin typeface="Archivo"/>
                        </a:rPr>
                        <a:t>Risk</a:t>
                      </a:r>
                    </a:p>
                  </a:txBody>
                  <a:tcPr anchor="ctr">
                    <a:solidFill>
                      <a:srgbClr val="005358"/>
                    </a:solidFill>
                  </a:tcPr>
                </a:tc>
                <a:tc>
                  <a:txBody>
                    <a:bodyPr/>
                    <a:lstStyle/>
                    <a:p>
                      <a:r>
                        <a:rPr sz="900" b="1">
                          <a:solidFill>
                            <a:srgbClr val="FFFFFF"/>
                          </a:solidFill>
                          <a:latin typeface="Archivo"/>
                        </a:rPr>
                        <a:t>L</a:t>
                      </a:r>
                    </a:p>
                  </a:txBody>
                  <a:tcPr anchor="ctr">
                    <a:solidFill>
                      <a:srgbClr val="005358"/>
                    </a:solidFill>
                  </a:tcPr>
                </a:tc>
                <a:tc>
                  <a:txBody>
                    <a:bodyPr/>
                    <a:lstStyle/>
                    <a:p>
                      <a:r>
                        <a:rPr sz="900" b="1">
                          <a:solidFill>
                            <a:srgbClr val="FFFFFF"/>
                          </a:solidFill>
                          <a:latin typeface="Archivo"/>
                        </a:rPr>
                        <a:t>I</a:t>
                      </a:r>
                    </a:p>
                  </a:txBody>
                  <a:tcPr anchor="ctr">
                    <a:solidFill>
                      <a:srgbClr val="005358"/>
                    </a:solidFill>
                  </a:tcPr>
                </a:tc>
                <a:tc>
                  <a:txBody>
                    <a:bodyPr/>
                    <a:lstStyle/>
                    <a:p>
                      <a:r>
                        <a:rPr sz="900" b="1">
                          <a:solidFill>
                            <a:srgbClr val="FFFFFF"/>
                          </a:solidFill>
                          <a:latin typeface="Archivo"/>
                        </a:rPr>
                        <a:t>Mitigation</a:t>
                      </a:r>
                    </a:p>
                  </a:txBody>
                  <a:tcPr anchor="ctr">
                    <a:solidFill>
                      <a:srgbClr val="005358"/>
                    </a:solidFill>
                  </a:tcPr>
                </a:tc>
              </a:tr>
              <a:tr h="406908">
                <a:tc>
                  <a:txBody>
                    <a:bodyPr/>
                    <a:lstStyle/>
                    <a:p>
                      <a:r>
                        <a:rPr sz="850" b="1">
                          <a:solidFill>
                            <a:srgbClr val="005358"/>
                          </a:solidFill>
                          <a:latin typeface="Archivo"/>
                        </a:rPr>
                        <a:t>Cold-start: marketplace stays empty, one side never shows up.</a:t>
                      </a:r>
                    </a:p>
                  </a:txBody>
                  <a:tcPr anchor="ctr" marT="25400" marB="25400">
                    <a:solidFill>
                      <a:srgbClr val="FFFFFF"/>
                    </a:solidFill>
                  </a:tcPr>
                </a:tc>
                <a:tc>
                  <a:txBody>
                    <a:bodyPr/>
                    <a:lstStyle/>
                    <a:p>
                      <a:r>
                        <a:rPr sz="850" b="0">
                          <a:solidFill>
                            <a:srgbClr val="1B1812"/>
                          </a:solidFill>
                          <a:latin typeface="Archivo"/>
                        </a:rPr>
                        <a:t>H</a:t>
                      </a:r>
                    </a:p>
                  </a:txBody>
                  <a:tcPr anchor="ctr" marT="25400" marB="25400">
                    <a:solidFill>
                      <a:srgbClr val="FFFFFF"/>
                    </a:solidFill>
                  </a:tcPr>
                </a:tc>
                <a:tc>
                  <a:txBody>
                    <a:bodyPr/>
                    <a:lstStyle/>
                    <a:p>
                      <a:r>
                        <a:rPr sz="850" b="0">
                          <a:solidFill>
                            <a:srgbClr val="1B1812"/>
                          </a:solidFill>
                          <a:latin typeface="Archivo"/>
                        </a:rPr>
                        <a:t>H</a:t>
                      </a:r>
                    </a:p>
                  </a:txBody>
                  <a:tcPr anchor="ctr" marT="25400" marB="25400">
                    <a:solidFill>
                      <a:srgbClr val="FFFFFF"/>
                    </a:solidFill>
                  </a:tcPr>
                </a:tc>
                <a:tc>
                  <a:txBody>
                    <a:bodyPr/>
                    <a:lstStyle/>
                    <a:p>
                      <a:r>
                        <a:rPr sz="850" b="0">
                          <a:solidFill>
                            <a:srgbClr val="1B1812"/>
                          </a:solidFill>
                          <a:latin typeface="Archivo"/>
                        </a:rPr>
                        <a:t>Lead with single-player settlement value and seed whole pre-existing deals </a:t>
                      </a:r>
                    </a:p>
                  </a:txBody>
                  <a:tcPr anchor="ctr" marT="25400" marB="25400">
                    <a:solidFill>
                      <a:srgbClr val="FFFFFF"/>
                    </a:solidFill>
                  </a:tcPr>
                </a:tc>
              </a:tr>
              <a:tr h="406908">
                <a:tc>
                  <a:txBody>
                    <a:bodyPr/>
                    <a:lstStyle/>
                    <a:p>
                      <a:r>
                        <a:rPr sz="850" b="1">
                          <a:solidFill>
                            <a:srgbClr val="005358"/>
                          </a:solidFill>
                          <a:latin typeface="Archivo"/>
                        </a:rPr>
                        <a:t>Regulator deems CEC an unlicensed exchange/clearing house.</a:t>
                      </a:r>
                    </a:p>
                  </a:txBody>
                  <a:tcPr anchor="ctr" marT="25400" marB="25400">
                    <a:solidFill>
                      <a:srgbClr val="F5F3EF"/>
                    </a:solidFill>
                  </a:tcPr>
                </a:tc>
                <a:tc>
                  <a:txBody>
                    <a:bodyPr/>
                    <a:lstStyle/>
                    <a:p>
                      <a:r>
                        <a:rPr sz="850" b="0">
                          <a:solidFill>
                            <a:srgbClr val="1B1812"/>
                          </a:solidFill>
                          <a:latin typeface="Archivo"/>
                        </a:rPr>
                        <a:t>M</a:t>
                      </a:r>
                    </a:p>
                  </a:txBody>
                  <a:tcPr anchor="ctr" marT="25400" marB="25400">
                    <a:solidFill>
                      <a:srgbClr val="F5F3EF"/>
                    </a:solidFill>
                  </a:tcPr>
                </a:tc>
                <a:tc>
                  <a:txBody>
                    <a:bodyPr/>
                    <a:lstStyle/>
                    <a:p>
                      <a:r>
                        <a:rPr sz="850" b="0">
                          <a:solidFill>
                            <a:srgbClr val="1B1812"/>
                          </a:solidFill>
                          <a:latin typeface="Archivo"/>
                        </a:rPr>
                        <a:t>H</a:t>
                      </a:r>
                    </a:p>
                  </a:txBody>
                  <a:tcPr anchor="ctr" marT="25400" marB="25400">
                    <a:solidFill>
                      <a:srgbClr val="F5F3EF"/>
                    </a:solidFill>
                  </a:tcPr>
                </a:tc>
                <a:tc>
                  <a:txBody>
                    <a:bodyPr/>
                    <a:lstStyle/>
                    <a:p>
                      <a:r>
                        <a:rPr sz="850" b="0">
                          <a:solidFill>
                            <a:srgbClr val="1B1812"/>
                          </a:solidFill>
                          <a:latin typeface="Archivo"/>
                        </a:rPr>
                        <a:t>Early NERSA engagement, clear platform-operator legal posture, and position</a:t>
                      </a:r>
                    </a:p>
                  </a:txBody>
                  <a:tcPr anchor="ctr" marT="25400" marB="25400">
                    <a:solidFill>
                      <a:srgbClr val="F5F3EF"/>
                    </a:solidFill>
                  </a:tcPr>
                </a:tc>
              </a:tr>
              <a:tr h="406908">
                <a:tc>
                  <a:txBody>
                    <a:bodyPr/>
                    <a:lstStyle/>
                    <a:p>
                      <a:r>
                        <a:rPr sz="850" b="1">
                          <a:solidFill>
                            <a:srgbClr val="005358"/>
                          </a:solidFill>
                          <a:latin typeface="Archivo"/>
                        </a:rPr>
                        <a:t>Cross-tenant data leak or audit-chain integrity failure.</a:t>
                      </a:r>
                    </a:p>
                  </a:txBody>
                  <a:tcPr anchor="ctr" marT="25400" marB="25400">
                    <a:solidFill>
                      <a:srgbClr val="FFFFFF"/>
                    </a:solidFill>
                  </a:tcPr>
                </a:tc>
                <a:tc>
                  <a:txBody>
                    <a:bodyPr/>
                    <a:lstStyle/>
                    <a:p>
                      <a:r>
                        <a:rPr sz="850" b="0">
                          <a:solidFill>
                            <a:srgbClr val="1B1812"/>
                          </a:solidFill>
                          <a:latin typeface="Archivo"/>
                        </a:rPr>
                        <a:t>L</a:t>
                      </a:r>
                    </a:p>
                  </a:txBody>
                  <a:tcPr anchor="ctr" marT="25400" marB="25400">
                    <a:solidFill>
                      <a:srgbClr val="FFFFFF"/>
                    </a:solidFill>
                  </a:tcPr>
                </a:tc>
                <a:tc>
                  <a:txBody>
                    <a:bodyPr/>
                    <a:lstStyle/>
                    <a:p>
                      <a:r>
                        <a:rPr sz="850" b="0">
                          <a:solidFill>
                            <a:srgbClr val="1B1812"/>
                          </a:solidFill>
                          <a:latin typeface="Archivo"/>
                        </a:rPr>
                        <a:t>H</a:t>
                      </a:r>
                    </a:p>
                  </a:txBody>
                  <a:tcPr anchor="ctr" marT="25400" marB="25400">
                    <a:solidFill>
                      <a:srgbClr val="FFFFFF"/>
                    </a:solidFill>
                  </a:tcPr>
                </a:tc>
                <a:tc>
                  <a:txBody>
                    <a:bodyPr/>
                    <a:lstStyle/>
                    <a:p>
                      <a:r>
                        <a:rPr sz="850" b="0">
                          <a:solidFill>
                            <a:srgbClr val="1B1812"/>
                          </a:solidFill>
                          <a:latin typeface="Archivo"/>
                        </a:rPr>
                        <a:t>Isolation test suite, independent pen-test, tamper-evidence proofs, and a h</a:t>
                      </a:r>
                    </a:p>
                  </a:txBody>
                  <a:tcPr anchor="ctr" marT="25400" marB="25400">
                    <a:solidFill>
                      <a:srgbClr val="FFFFFF"/>
                    </a:solidFill>
                  </a:tcPr>
                </a:tc>
              </a:tr>
              <a:tr h="406908">
                <a:tc>
                  <a:txBody>
                    <a:bodyPr/>
                    <a:lstStyle/>
                    <a:p>
                      <a:r>
                        <a:rPr sz="850" b="1">
                          <a:solidFill>
                            <a:srgbClr val="005358"/>
                          </a:solidFill>
                          <a:latin typeface="Archivo"/>
                        </a:rPr>
                        <a:t>Binding settlement run produces a wrong/irreversible ZAR transfer.</a:t>
                      </a:r>
                    </a:p>
                  </a:txBody>
                  <a:tcPr anchor="ctr" marT="25400" marB="25400">
                    <a:solidFill>
                      <a:srgbClr val="F5F3EF"/>
                    </a:solidFill>
                  </a:tcPr>
                </a:tc>
                <a:tc>
                  <a:txBody>
                    <a:bodyPr/>
                    <a:lstStyle/>
                    <a:p>
                      <a:r>
                        <a:rPr sz="850" b="0">
                          <a:solidFill>
                            <a:srgbClr val="1B1812"/>
                          </a:solidFill>
                          <a:latin typeface="Archivo"/>
                        </a:rPr>
                        <a:t>M</a:t>
                      </a:r>
                    </a:p>
                  </a:txBody>
                  <a:tcPr anchor="ctr" marT="25400" marB="25400">
                    <a:solidFill>
                      <a:srgbClr val="F5F3EF"/>
                    </a:solidFill>
                  </a:tcPr>
                </a:tc>
                <a:tc>
                  <a:txBody>
                    <a:bodyPr/>
                    <a:lstStyle/>
                    <a:p>
                      <a:r>
                        <a:rPr sz="850" b="0">
                          <a:solidFill>
                            <a:srgbClr val="1B1812"/>
                          </a:solidFill>
                          <a:latin typeface="Archivo"/>
                        </a:rPr>
                        <a:t>H</a:t>
                      </a:r>
                    </a:p>
                  </a:txBody>
                  <a:tcPr anchor="ctr" marT="25400" marB="25400">
                    <a:solidFill>
                      <a:srgbClr val="F5F3EF"/>
                    </a:solidFill>
                  </a:tcPr>
                </a:tc>
                <a:tc>
                  <a:txBody>
                    <a:bodyPr/>
                    <a:lstStyle/>
                    <a:p>
                      <a:r>
                        <a:rPr sz="850" b="0">
                          <a:solidFill>
                            <a:srgbClr val="1B1812"/>
                          </a:solidFill>
                          <a:latin typeface="Archivo"/>
                        </a:rPr>
                        <a:t>30-day parallel reconciliation, DvP atomicity with manual bank-confirm fall</a:t>
                      </a:r>
                    </a:p>
                  </a:txBody>
                  <a:tcPr anchor="ctr" marT="25400" marB="25400">
                    <a:solidFill>
                      <a:srgbClr val="F5F3EF"/>
                    </a:solidFill>
                  </a:tcPr>
                </a:tc>
              </a:tr>
              <a:tr h="406908">
                <a:tc>
                  <a:txBody>
                    <a:bodyPr/>
                    <a:lstStyle/>
                    <a:p>
                      <a:r>
                        <a:rPr sz="850" b="1">
                          <a:solidFill>
                            <a:srgbClr val="005358"/>
                          </a:solidFill>
                          <a:latin typeface="Archivo"/>
                        </a:rPr>
                        <a:t>External feeds (NTCSA/Eskom metering, banks, registries) unavailable o</a:t>
                      </a:r>
                    </a:p>
                  </a:txBody>
                  <a:tcPr anchor="ctr" marT="25400" marB="25400">
                    <a:solidFill>
                      <a:srgbClr val="FFFFFF"/>
                    </a:solidFill>
                  </a:tcPr>
                </a:tc>
                <a:tc>
                  <a:txBody>
                    <a:bodyPr/>
                    <a:lstStyle/>
                    <a:p>
                      <a:r>
                        <a:rPr sz="850" b="0">
                          <a:solidFill>
                            <a:srgbClr val="1B1812"/>
                          </a:solidFill>
                          <a:latin typeface="Archivo"/>
                        </a:rPr>
                        <a:t>H</a:t>
                      </a:r>
                    </a:p>
                  </a:txBody>
                  <a:tcPr anchor="ctr" marT="25400" marB="25400">
                    <a:solidFill>
                      <a:srgbClr val="FFFFFF"/>
                    </a:solidFill>
                  </a:tcPr>
                </a:tc>
                <a:tc>
                  <a:txBody>
                    <a:bodyPr/>
                    <a:lstStyle/>
                    <a:p>
                      <a:r>
                        <a:rPr sz="850" b="0">
                          <a:solidFill>
                            <a:srgbClr val="1B1812"/>
                          </a:solidFill>
                          <a:latin typeface="Archivo"/>
                        </a:rPr>
                        <a:t>M</a:t>
                      </a:r>
                    </a:p>
                  </a:txBody>
                  <a:tcPr anchor="ctr" marT="25400" marB="25400">
                    <a:solidFill>
                      <a:srgbClr val="FFFFFF"/>
                    </a:solidFill>
                  </a:tcPr>
                </a:tc>
                <a:tc>
                  <a:txBody>
                    <a:bodyPr/>
                    <a:lstStyle/>
                    <a:p>
                      <a:r>
                        <a:rPr sz="850" b="0">
                          <a:solidFill>
                            <a:srgbClr val="1B1812"/>
                          </a:solidFill>
                          <a:latin typeface="Archivo"/>
                        </a:rPr>
                        <a:t>Manual-confirm fallbacks and queued retry/DLQ per integration; never make G</a:t>
                      </a:r>
                    </a:p>
                  </a:txBody>
                  <a:tcPr anchor="ctr" marT="25400" marB="25400">
                    <a:solidFill>
                      <a:srgbClr val="FFFFFF"/>
                    </a:solidFill>
                  </a:tcPr>
                </a:tc>
              </a:tr>
              <a:tr h="406908">
                <a:tc>
                  <a:txBody>
                    <a:bodyPr/>
                    <a:lstStyle/>
                    <a:p>
                      <a:r>
                        <a:rPr sz="850" b="1">
                          <a:solidFill>
                            <a:srgbClr val="005358"/>
                          </a:solidFill>
                          <a:latin typeface="Archivo"/>
                        </a:rPr>
                        <a:t>Design-partner concentration — an anchor churns and liquidity collapse</a:t>
                      </a:r>
                    </a:p>
                  </a:txBody>
                  <a:tcPr anchor="ctr" marT="25400" marB="25400">
                    <a:solidFill>
                      <a:srgbClr val="F5F3EF"/>
                    </a:solidFill>
                  </a:tcPr>
                </a:tc>
                <a:tc>
                  <a:txBody>
                    <a:bodyPr/>
                    <a:lstStyle/>
                    <a:p>
                      <a:r>
                        <a:rPr sz="850" b="0">
                          <a:solidFill>
                            <a:srgbClr val="1B1812"/>
                          </a:solidFill>
                          <a:latin typeface="Archivo"/>
                        </a:rPr>
                        <a:t>M</a:t>
                      </a:r>
                    </a:p>
                  </a:txBody>
                  <a:tcPr anchor="ctr" marT="25400" marB="25400">
                    <a:solidFill>
                      <a:srgbClr val="F5F3EF"/>
                    </a:solidFill>
                  </a:tcPr>
                </a:tc>
                <a:tc>
                  <a:txBody>
                    <a:bodyPr/>
                    <a:lstStyle/>
                    <a:p>
                      <a:r>
                        <a:rPr sz="850" b="0">
                          <a:solidFill>
                            <a:srgbClr val="1B1812"/>
                          </a:solidFill>
                          <a:latin typeface="Archivo"/>
                        </a:rPr>
                        <a:t>M</a:t>
                      </a:r>
                    </a:p>
                  </a:txBody>
                  <a:tcPr anchor="ctr" marT="25400" marB="25400">
                    <a:solidFill>
                      <a:srgbClr val="F5F3EF"/>
                    </a:solidFill>
                  </a:tcPr>
                </a:tc>
                <a:tc>
                  <a:txBody>
                    <a:bodyPr/>
                    <a:lstStyle/>
                    <a:p>
                      <a:r>
                        <a:rPr sz="850" b="0">
                          <a:solidFill>
                            <a:srgbClr val="1B1812"/>
                          </a:solidFill>
                          <a:latin typeface="Archivo"/>
                        </a:rPr>
                        <a:t>Recruit ≥3 independent triads, stagger contracts, and convert single-player</a:t>
                      </a:r>
                    </a:p>
                  </a:txBody>
                  <a:tcPr anchor="ctr" marT="25400" marB="25400">
                    <a:solidFill>
                      <a:srgbClr val="F5F3EF"/>
                    </a:solidFill>
                  </a:tcPr>
                </a:tc>
              </a:tr>
              <a:tr h="406908">
                <a:tc>
                  <a:txBody>
                    <a:bodyPr/>
                    <a:lstStyle/>
                    <a:p>
                      <a:r>
                        <a:rPr sz="850" b="1">
                          <a:solidFill>
                            <a:srgbClr val="005358"/>
                          </a:solidFill>
                          <a:latin typeface="Archivo"/>
                        </a:rPr>
                        <a:t>Auth rate-limiter / cron / scale flakes degrade the live trust surface</a:t>
                      </a:r>
                    </a:p>
                  </a:txBody>
                  <a:tcPr anchor="ctr" marT="25400" marB="25400">
                    <a:solidFill>
                      <a:srgbClr val="FFFFFF"/>
                    </a:solidFill>
                  </a:tcPr>
                </a:tc>
                <a:tc>
                  <a:txBody>
                    <a:bodyPr/>
                    <a:lstStyle/>
                    <a:p>
                      <a:r>
                        <a:rPr sz="850" b="0">
                          <a:solidFill>
                            <a:srgbClr val="1B1812"/>
                          </a:solidFill>
                          <a:latin typeface="Archivo"/>
                        </a:rPr>
                        <a:t>M</a:t>
                      </a:r>
                    </a:p>
                  </a:txBody>
                  <a:tcPr anchor="ctr" marT="25400" marB="25400">
                    <a:solidFill>
                      <a:srgbClr val="FFFFFF"/>
                    </a:solidFill>
                  </a:tcPr>
                </a:tc>
                <a:tc>
                  <a:txBody>
                    <a:bodyPr/>
                    <a:lstStyle/>
                    <a:p>
                      <a:r>
                        <a:rPr sz="850" b="0">
                          <a:solidFill>
                            <a:srgbClr val="1B1812"/>
                          </a:solidFill>
                          <a:latin typeface="Archivo"/>
                        </a:rPr>
                        <a:t>M</a:t>
                      </a:r>
                    </a:p>
                  </a:txBody>
                  <a:tcPr anchor="ctr" marT="25400" marB="25400">
                    <a:solidFill>
                      <a:srgbClr val="FFFFFF"/>
                    </a:solidFill>
                  </a:tcPr>
                </a:tc>
                <a:tc>
                  <a:txBody>
                    <a:bodyPr/>
                    <a:lstStyle/>
                    <a:p>
                      <a:r>
                        <a:rPr sz="850" b="0">
                          <a:solidFill>
                            <a:srgbClr val="1B1812"/>
                          </a:solidFill>
                          <a:latin typeface="Archivo"/>
                        </a:rPr>
                        <a:t>k6 load-test to SA trading-hour profile, cron success SLOs with alerting, a</a:t>
                      </a:r>
                    </a:p>
                  </a:txBody>
                  <a:tcPr anchor="ctr" marT="25400" marB="25400">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IF IT GOES WRONG — AND WHAT GOOD LOOKS LIKE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Rollback posture &amp; first 90 days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ROLLBACK</a:t>
            </a:r>
          </a:p>
        </p:txBody>
      </p:sp>
      <p:sp>
        <p:nvSpPr>
          <p:cNvPr id="10" name="TextBox 9"/>
          <p:cNvSpPr txBox="1"/>
          <p:nvPr/>
        </p:nvSpPr>
        <p:spPr>
          <a:xfrm>
            <a:off x="548640" y="1691640"/>
            <a:ext cx="11064240" cy="1188720"/>
          </a:xfrm>
          <a:prstGeom prst="rect">
            <a:avLst/>
          </a:prstGeom>
          <a:noFill/>
        </p:spPr>
        <p:txBody>
          <a:bodyPr wrap="square" anchor="t" lIns="25400" rIns="25400" tIns="25400" bIns="25400">
            <a:spAutoFit/>
          </a:bodyPr>
          <a:lstStyle/>
          <a:p>
            <a:pPr algn="l">
              <a:spcBef>
                <a:spcPts val="0"/>
              </a:spcBef>
              <a:spcAft>
                <a:spcPts val="400"/>
              </a:spcAft>
            </a:pPr>
            <a:r>
              <a:rPr sz="1200" b="0">
                <a:solidFill>
                  <a:srgbClr val="1B1812"/>
                </a:solidFill>
                <a:latin typeface="Archivo"/>
              </a:rPr>
              <a:t>Wave-gated and reversible: each wave runs behind tenant-scoped feature flags with binding flows defaulting to parallel-run until its readiness gate passes; on a P1, freeze new initiations, fail binding settlement back to manual bank-confirm, preserve the immutable audit chain as system-of-record, and restore the prior tenant data snapshot within RTO via a drilled runbook.</a:t>
            </a:r>
          </a:p>
        </p:txBody>
      </p:sp>
      <p:sp>
        <p:nvSpPr>
          <p:cNvPr id="11" name="TextBox 10"/>
          <p:cNvSpPr txBox="1"/>
          <p:nvPr/>
        </p:nvSpPr>
        <p:spPr>
          <a:xfrm>
            <a:off x="548640" y="2971800"/>
            <a:ext cx="1106424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FIRST 90 DAYS</a:t>
            </a:r>
          </a:p>
        </p:txBody>
      </p:sp>
      <p:sp>
        <p:nvSpPr>
          <p:cNvPr id="12" name="TextBox 11"/>
          <p:cNvSpPr txBox="1"/>
          <p:nvPr/>
        </p:nvSpPr>
        <p:spPr>
          <a:xfrm>
            <a:off x="548640" y="3291840"/>
            <a:ext cx="11064240" cy="4480560"/>
          </a:xfrm>
          <a:prstGeom prst="rect">
            <a:avLst/>
          </a:prstGeom>
          <a:noFill/>
        </p:spPr>
        <p:txBody>
          <a:bodyPr wrap="square" anchor="t" lIns="25400" rIns="25400" tIns="25400" bIns="25400">
            <a:spAutoFit/>
          </a:bodyPr>
          <a:lstStyle/>
          <a:p>
            <a:pPr algn="l">
              <a:spcBef>
                <a:spcPts val="0"/>
              </a:spcBef>
              <a:spcAft>
                <a:spcPts val="700"/>
              </a:spcAft>
            </a:pPr>
            <a:r>
              <a:rPr sz="1100" b="1">
                <a:solidFill>
                  <a:srgbClr val="D18E35"/>
                </a:solidFill>
                <a:latin typeface="Archivo"/>
              </a:rPr>
              <a:t>●  </a:t>
            </a:r>
            <a:r>
              <a:rPr sz="1100" b="0">
                <a:solidFill>
                  <a:srgbClr val="1B1812"/>
                </a:solidFill>
                <a:latin typeface="Archivo"/>
              </a:rPr>
              <a:t>Month 1: Security pen-test + isolation/audit-chain integrity sign-off closed with no High/Critical open.</a:t>
            </a:r>
          </a:p>
          <a:p>
            <a:pPr algn="l">
              <a:spcBef>
                <a:spcPts val="0"/>
              </a:spcBef>
              <a:spcAft>
                <a:spcPts val="700"/>
              </a:spcAft>
            </a:pPr>
            <a:r>
              <a:rPr sz="1100" b="1">
                <a:solidFill>
                  <a:srgbClr val="D18E35"/>
                </a:solidFill>
                <a:latin typeface="Archivo"/>
              </a:rPr>
              <a:t>●  </a:t>
            </a:r>
            <a:r>
              <a:rPr sz="1100" b="0">
                <a:solidFill>
                  <a:srgbClr val="1B1812"/>
                </a:solidFill>
                <a:latin typeface="Archivo"/>
              </a:rPr>
              <a:t>Month 1: First design-partner triad LOIs signed and tenant provisioning + reference-data migration runbook validated.</a:t>
            </a:r>
          </a:p>
          <a:p>
            <a:pPr algn="l">
              <a:spcBef>
                <a:spcPts val="0"/>
              </a:spcBef>
              <a:spcAft>
                <a:spcPts val="700"/>
              </a:spcAft>
            </a:pPr>
            <a:r>
              <a:rPr sz="1100" b="1">
                <a:solidFill>
                  <a:srgbClr val="D18E35"/>
                </a:solidFill>
                <a:latin typeface="Archivo"/>
              </a:rPr>
              <a:t>●  </a:t>
            </a:r>
            <a:r>
              <a:rPr sz="1100" b="0">
                <a:solidFill>
                  <a:srgbClr val="1B1812"/>
                </a:solidFill>
                <a:latin typeface="Archivo"/>
              </a:rPr>
              <a:t>Month 2: Single-player wedge live (settlement, metering rollup, tamper-evident audit) for the anchor IPP/ESCO with zero counterparty dependency.</a:t>
            </a:r>
          </a:p>
          <a:p>
            <a:pPr algn="l">
              <a:spcBef>
                <a:spcPts val="0"/>
              </a:spcBef>
              <a:spcAft>
                <a:spcPts val="700"/>
              </a:spcAft>
            </a:pPr>
            <a:r>
              <a:rPr sz="1100" b="1">
                <a:solidFill>
                  <a:srgbClr val="D18E35"/>
                </a:solidFill>
                <a:latin typeface="Archivo"/>
              </a:rPr>
              <a:t>●  </a:t>
            </a:r>
            <a:r>
              <a:rPr sz="1100" b="0">
                <a:solidFill>
                  <a:srgbClr val="1B1812"/>
                </a:solidFill>
                <a:latin typeface="Archivo"/>
              </a:rPr>
              <a:t>Month 2: NERSA/NTCSA observer engagement opened with written acknowledgement of CEC's record-keeping role.</a:t>
            </a:r>
          </a:p>
          <a:p>
            <a:pPr algn="l">
              <a:spcBef>
                <a:spcPts val="0"/>
              </a:spcBef>
              <a:spcAft>
                <a:spcPts val="700"/>
              </a:spcAft>
            </a:pPr>
            <a:r>
              <a:rPr sz="1100" b="1">
                <a:solidFill>
                  <a:srgbClr val="D18E35"/>
                </a:solidFill>
                <a:latin typeface="Archivo"/>
              </a:rPr>
              <a:t>●  </a:t>
            </a:r>
            <a:r>
              <a:rPr sz="1100" b="0">
                <a:solidFill>
                  <a:srgbClr val="1B1812"/>
                </a:solidFill>
                <a:latin typeface="Archivo"/>
              </a:rPr>
              <a:t>Month 3: 30 consecutive days of settlement reconciled to the cent against an independent manual control.</a:t>
            </a:r>
          </a:p>
          <a:p>
            <a:pPr algn="l">
              <a:spcBef>
                <a:spcPts val="0"/>
              </a:spcBef>
              <a:spcAft>
                <a:spcPts val="700"/>
              </a:spcAft>
            </a:pPr>
            <a:r>
              <a:rPr sz="1100" b="1">
                <a:solidFill>
                  <a:srgbClr val="D18E35"/>
                </a:solidFill>
                <a:latin typeface="Archivo"/>
              </a:rPr>
              <a:t>●  </a:t>
            </a:r>
            <a:r>
              <a:rPr sz="1100" b="0">
                <a:solidFill>
                  <a:srgbClr val="1B1812"/>
                </a:solidFill>
                <a:latin typeface="Archivo"/>
              </a:rPr>
              <a:t>Month 3: Wave 1 go/no-go passed — tiered support desk staffed, rollback drill timed within RTO, first binding ZAR settlement matched to bank confirmation.</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HOW WE SCORE THE LAUNCH</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Launch KPIs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737360"/>
            <a:ext cx="11064240" cy="4480560"/>
          </a:xfrm>
          <a:prstGeom prst="rect">
            <a:avLst/>
          </a:prstGeom>
          <a:noFill/>
        </p:spPr>
        <p:txBody>
          <a:bodyPr wrap="square" anchor="t" lIns="25400" rIns="25400" tIns="25400" bIns="25400">
            <a:spAutoFit/>
          </a:bodyPr>
          <a:lstStyle/>
          <a:p>
            <a:pPr algn="l">
              <a:spcBef>
                <a:spcPts val="0"/>
              </a:spcBef>
              <a:spcAft>
                <a:spcPts val="1100"/>
              </a:spcAft>
            </a:pPr>
            <a:r>
              <a:rPr sz="1300" b="1">
                <a:solidFill>
                  <a:srgbClr val="D18E35"/>
                </a:solidFill>
                <a:latin typeface="Archivo"/>
              </a:rPr>
              <a:t>●  </a:t>
            </a:r>
            <a:r>
              <a:rPr sz="1300" b="0">
                <a:solidFill>
                  <a:srgbClr val="1B1812"/>
                </a:solidFill>
                <a:latin typeface="Archivo"/>
              </a:rPr>
              <a:t>Active counterparties per role: ≥3 per anchor role by Wave 1, ≥N liquidity threshold per role at GA</a:t>
            </a:r>
          </a:p>
          <a:p>
            <a:pPr algn="l">
              <a:spcBef>
                <a:spcPts val="0"/>
              </a:spcBef>
              <a:spcAft>
                <a:spcPts val="1100"/>
              </a:spcAft>
            </a:pPr>
            <a:r>
              <a:rPr sz="1300" b="1">
                <a:solidFill>
                  <a:srgbClr val="D18E35"/>
                </a:solidFill>
                <a:latin typeface="Archivo"/>
              </a:rPr>
              <a:t>●  </a:t>
            </a:r>
            <a:r>
              <a:rPr sz="1300" b="0">
                <a:solidFill>
                  <a:srgbClr val="1B1812"/>
                </a:solidFill>
                <a:latin typeface="Archivo"/>
              </a:rPr>
              <a:t>Deal-to-settlement cycle completed on-platform: ≥3 full triad cycles by Month 6</a:t>
            </a:r>
          </a:p>
          <a:p>
            <a:pPr algn="l">
              <a:spcBef>
                <a:spcPts val="0"/>
              </a:spcBef>
              <a:spcAft>
                <a:spcPts val="1100"/>
              </a:spcAft>
            </a:pPr>
            <a:r>
              <a:rPr sz="1300" b="1">
                <a:solidFill>
                  <a:srgbClr val="D18E35"/>
                </a:solidFill>
                <a:latin typeface="Archivo"/>
              </a:rPr>
              <a:t>●  </a:t>
            </a:r>
            <a:r>
              <a:rPr sz="1300" b="0">
                <a:solidFill>
                  <a:srgbClr val="1B1812"/>
                </a:solidFill>
                <a:latin typeface="Archivo"/>
              </a:rPr>
              <a:t>Settlement reconciliation accuracy: ≥99.99% (target to-the-cent) over rolling 30 days</a:t>
            </a:r>
          </a:p>
          <a:p>
            <a:pPr algn="l">
              <a:spcBef>
                <a:spcPts val="0"/>
              </a:spcBef>
              <a:spcAft>
                <a:spcPts val="1100"/>
              </a:spcAft>
            </a:pPr>
            <a:r>
              <a:rPr sz="1300" b="1">
                <a:solidFill>
                  <a:srgbClr val="D18E35"/>
                </a:solidFill>
                <a:latin typeface="Archivo"/>
              </a:rPr>
              <a:t>●  </a:t>
            </a:r>
            <a:r>
              <a:rPr sz="1300" b="0">
                <a:solidFill>
                  <a:srgbClr val="1B1812"/>
                </a:solidFill>
                <a:latin typeface="Archivo"/>
              </a:rPr>
              <a:t>Settlement-cron / DvP success rate: ≥99.9% over rolling 60 days, zero unrecovered failures</a:t>
            </a:r>
          </a:p>
          <a:p>
            <a:pPr algn="l">
              <a:spcBef>
                <a:spcPts val="0"/>
              </a:spcBef>
              <a:spcAft>
                <a:spcPts val="1100"/>
              </a:spcAft>
            </a:pPr>
            <a:r>
              <a:rPr sz="1300" b="1">
                <a:solidFill>
                  <a:srgbClr val="D18E35"/>
                </a:solidFill>
                <a:latin typeface="Archivo"/>
              </a:rPr>
              <a:t>●  </a:t>
            </a:r>
            <a:r>
              <a:rPr sz="1300" b="0">
                <a:solidFill>
                  <a:srgbClr val="1B1812"/>
                </a:solidFill>
                <a:latin typeface="Archivo"/>
              </a:rPr>
              <a:t>Cross-role chain adoption: ≥10 of the 78 cross-role chains transacting live by Month 9</a:t>
            </a:r>
          </a:p>
          <a:p>
            <a:pPr algn="l">
              <a:spcBef>
                <a:spcPts val="0"/>
              </a:spcBef>
              <a:spcAft>
                <a:spcPts val="1100"/>
              </a:spcAft>
            </a:pPr>
            <a:r>
              <a:rPr sz="1300" b="1">
                <a:solidFill>
                  <a:srgbClr val="D18E35"/>
                </a:solidFill>
                <a:latin typeface="Archivo"/>
              </a:rPr>
              <a:t>●  </a:t>
            </a:r>
            <a:r>
              <a:rPr sz="1300" b="0">
                <a:solidFill>
                  <a:srgbClr val="1B1812"/>
                </a:solidFill>
                <a:latin typeface="Archivo"/>
              </a:rPr>
              <a:t>P1 incident MTTR: &lt;2h on settlement/DvP, with 100% regulator-facing disclosure within SLA</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548640"/>
            <a:ext cx="777240" cy="77724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39" b="1">
                <a:solidFill>
                  <a:srgbClr val="005358"/>
                </a:solidFill>
                <a:latin typeface="Archivo"/>
              </a:rPr>
              <a:t>CEC</a:t>
            </a:r>
          </a:p>
        </p:txBody>
      </p:sp>
      <p:sp>
        <p:nvSpPr>
          <p:cNvPr id="5" name="TextBox 4"/>
          <p:cNvSpPr txBox="1"/>
          <p:nvPr/>
        </p:nvSpPr>
        <p:spPr>
          <a:xfrm>
            <a:off x="640080" y="1828800"/>
            <a:ext cx="10972800" cy="365760"/>
          </a:xfrm>
          <a:prstGeom prst="rect">
            <a:avLst/>
          </a:prstGeom>
          <a:noFill/>
        </p:spPr>
        <p:txBody>
          <a:bodyPr wrap="square" anchor="t" lIns="25400" rIns="25400" tIns="25400" bIns="25400">
            <a:spAutoFit/>
          </a:bodyPr>
          <a:lstStyle/>
          <a:p>
            <a:pPr algn="l">
              <a:spcBef>
                <a:spcPts val="0"/>
              </a:spcBef>
              <a:spcAft>
                <a:spcPts val="400"/>
              </a:spcAft>
            </a:pPr>
            <a:r>
              <a:rPr sz="1300" b="1">
                <a:solidFill>
                  <a:srgbClr val="D18E35"/>
                </a:solidFill>
                <a:latin typeface="Archivo"/>
              </a:rPr>
              <a:t>PART 6 · REVENUE MODEL</a:t>
            </a:r>
          </a:p>
        </p:txBody>
      </p:sp>
      <p:sp>
        <p:nvSpPr>
          <p:cNvPr id="6" name="TextBox 5"/>
          <p:cNvSpPr txBox="1"/>
          <p:nvPr/>
        </p:nvSpPr>
        <p:spPr>
          <a:xfrm>
            <a:off x="640080" y="2286000"/>
            <a:ext cx="10972800" cy="914400"/>
          </a:xfrm>
          <a:prstGeom prst="rect">
            <a:avLst/>
          </a:prstGeom>
          <a:noFill/>
        </p:spPr>
        <p:txBody>
          <a:bodyPr wrap="square" anchor="t" lIns="25400" rIns="25400" tIns="25400" bIns="25400">
            <a:spAutoFit/>
          </a:bodyPr>
          <a:lstStyle/>
          <a:p>
            <a:pPr algn="l">
              <a:spcBef>
                <a:spcPts val="0"/>
              </a:spcBef>
              <a:spcAft>
                <a:spcPts val="400"/>
              </a:spcAft>
            </a:pPr>
            <a:r>
              <a:rPr sz="4000" b="1">
                <a:solidFill>
                  <a:srgbClr val="FFFFFF"/>
                </a:solidFill>
                <a:latin typeface="Archivo"/>
              </a:rPr>
              <a:t>Revenue</a:t>
            </a:r>
          </a:p>
        </p:txBody>
      </p:sp>
      <p:sp>
        <p:nvSpPr>
          <p:cNvPr id="7" name="TextBox 6"/>
          <p:cNvSpPr txBox="1"/>
          <p:nvPr/>
        </p:nvSpPr>
        <p:spPr>
          <a:xfrm>
            <a:off x="640080" y="3456432"/>
            <a:ext cx="10972800" cy="822960"/>
          </a:xfrm>
          <a:prstGeom prst="rect">
            <a:avLst/>
          </a:prstGeom>
          <a:noFill/>
        </p:spPr>
        <p:txBody>
          <a:bodyPr wrap="square" anchor="t" lIns="25400" rIns="25400" tIns="25400" bIns="25400">
            <a:spAutoFit/>
          </a:bodyPr>
          <a:lstStyle/>
          <a:p>
            <a:pPr algn="l">
              <a:spcBef>
                <a:spcPts val="0"/>
              </a:spcBef>
              <a:spcAft>
                <a:spcPts val="400"/>
              </a:spcAft>
            </a:pPr>
            <a:r>
              <a:rPr sz="1500" b="1">
                <a:solidFill>
                  <a:srgbClr val="D18E35"/>
                </a:solidFill>
                <a:latin typeface="Archivo"/>
              </a:rPr>
              <a:t>Per stream, per tier, per role, per family</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SEAT · TRANSACTION · VALUE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Three revenue streams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371600"/>
            <a:ext cx="11064240" cy="365760"/>
          </a:xfrm>
          <a:prstGeom prst="rect">
            <a:avLst/>
          </a:prstGeom>
          <a:noFill/>
        </p:spPr>
        <p:txBody>
          <a:bodyPr wrap="square" anchor="t" lIns="25400" rIns="25400" tIns="25400" bIns="25400">
            <a:spAutoFit/>
          </a:bodyPr>
          <a:lstStyle/>
          <a:p>
            <a:pPr algn="l">
              <a:spcBef>
                <a:spcPts val="0"/>
              </a:spcBef>
              <a:spcAft>
                <a:spcPts val="400"/>
              </a:spcAft>
            </a:pPr>
            <a:r>
              <a:rPr sz="1000" b="0">
                <a:solidFill>
                  <a:srgbClr val="504D46"/>
                </a:solidFill>
                <a:latin typeface="Archivo"/>
              </a:rPr>
              <a:t>Illustrative revenue model for board/investor discussion only — all figures are model assumptions (not audited actuals); SA market inputs use public ballpark estimates as of 2026.</a:t>
            </a:r>
          </a:p>
        </p:txBody>
      </p:sp>
      <p:sp>
        <p:nvSpPr>
          <p:cNvPr id="10" name="Rounded Rectangle 9"/>
          <p:cNvSpPr/>
          <p:nvPr/>
        </p:nvSpPr>
        <p:spPr>
          <a:xfrm>
            <a:off x="548640" y="1874519"/>
            <a:ext cx="2011680" cy="137160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Seat</a:t>
            </a:r>
          </a:p>
          <a:p>
            <a:pPr algn="ctr">
              <a:spcBef>
                <a:spcPts val="0"/>
              </a:spcBef>
              <a:spcAft>
                <a:spcPts val="0"/>
              </a:spcAft>
            </a:pPr>
            <a:r>
              <a:rPr sz="850" b="0">
                <a:solidFill>
                  <a:srgbClr val="504D46"/>
                </a:solidFill>
                <a:latin typeface="Archivo"/>
              </a:rPr>
              <a:t>32% of Yr-3 rev</a:t>
            </a:r>
          </a:p>
        </p:txBody>
      </p:sp>
      <p:sp>
        <p:nvSpPr>
          <p:cNvPr id="11" name="TextBox 10"/>
          <p:cNvSpPr txBox="1"/>
          <p:nvPr/>
        </p:nvSpPr>
        <p:spPr>
          <a:xfrm>
            <a:off x="2743200" y="1874519"/>
            <a:ext cx="8869680" cy="1371600"/>
          </a:xfrm>
          <a:prstGeom prst="rect">
            <a:avLst/>
          </a:prstGeom>
          <a:noFill/>
        </p:spPr>
        <p:txBody>
          <a:bodyPr wrap="square" anchor="t" lIns="25400" rIns="25400" tIns="25400" bIns="25400">
            <a:spAutoFit/>
          </a:bodyPr>
          <a:lstStyle/>
          <a:p>
            <a:pPr algn="l">
              <a:spcBef>
                <a:spcPts val="0"/>
              </a:spcBef>
              <a:spcAft>
                <a:spcPts val="300"/>
              </a:spcAft>
            </a:pPr>
            <a:r>
              <a:rPr sz="1200" b="1">
                <a:solidFill>
                  <a:srgbClr val="005358"/>
                </a:solidFill>
                <a:latin typeface="Archivo"/>
              </a:rPr>
              <a:t>Per-seat/per-workspace platform access licensed by role, billed annually.</a:t>
            </a:r>
          </a:p>
          <a:p>
            <a:pPr algn="l">
              <a:spcBef>
                <a:spcPts val="0"/>
              </a:spcBef>
              <a:spcAft>
                <a:spcPts val="300"/>
              </a:spcAft>
            </a:pPr>
            <a:r>
              <a:rPr sz="1000" b="1">
                <a:solidFill>
                  <a:srgbClr val="D18E35"/>
                </a:solidFill>
                <a:latin typeface="Archivo"/>
              </a:rPr>
              <a:t>Basis: </a:t>
            </a:r>
            <a:r>
              <a:rPr sz="1000" b="0">
                <a:solidFill>
                  <a:srgbClr val="1B1812"/>
                </a:solidFill>
                <a:latin typeface="Archivo"/>
              </a:rPr>
              <a:t>Fixed R/seat/month, tiered by role power (read-only vs. transacting vs. regulator-grade), volume discounts above 10 seats/account.</a:t>
            </a:r>
          </a:p>
          <a:p>
            <a:pPr algn="l">
              <a:spcBef>
                <a:spcPts val="0"/>
              </a:spcBef>
              <a:spcAft>
                <a:spcPts val="300"/>
              </a:spcAft>
            </a:pPr>
            <a:r>
              <a:rPr sz="950" b="0">
                <a:solidFill>
                  <a:srgbClr val="504D46"/>
                </a:solidFill>
                <a:latin typeface="Archivo"/>
              </a:rPr>
              <a:t>e.g.  Trader transacting seat: R4,500/seat/mo   ·   IPP Developer workspace seat: R3,000/seat/mo   ·   Regulator analyst seat: R6,000/seat/mo (L5 entitlements)</a:t>
            </a:r>
          </a:p>
        </p:txBody>
      </p:sp>
      <p:sp>
        <p:nvSpPr>
          <p:cNvPr id="12" name="Rounded Rectangle 11"/>
          <p:cNvSpPr/>
          <p:nvPr/>
        </p:nvSpPr>
        <p:spPr>
          <a:xfrm>
            <a:off x="548640" y="3383279"/>
            <a:ext cx="2011680" cy="137160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Transaction</a:t>
            </a:r>
          </a:p>
          <a:p>
            <a:pPr algn="ctr">
              <a:spcBef>
                <a:spcPts val="0"/>
              </a:spcBef>
              <a:spcAft>
                <a:spcPts val="0"/>
              </a:spcAft>
            </a:pPr>
            <a:r>
              <a:rPr sz="850" b="0">
                <a:solidFill>
                  <a:srgbClr val="504D46"/>
                </a:solidFill>
                <a:latin typeface="Archivo"/>
              </a:rPr>
              <a:t>48% of Yr-3 rev</a:t>
            </a:r>
          </a:p>
        </p:txBody>
      </p:sp>
      <p:sp>
        <p:nvSpPr>
          <p:cNvPr id="13" name="TextBox 12"/>
          <p:cNvSpPr txBox="1"/>
          <p:nvPr/>
        </p:nvSpPr>
        <p:spPr>
          <a:xfrm>
            <a:off x="2743200" y="3383279"/>
            <a:ext cx="8869680" cy="1371600"/>
          </a:xfrm>
          <a:prstGeom prst="rect">
            <a:avLst/>
          </a:prstGeom>
          <a:noFill/>
        </p:spPr>
        <p:txBody>
          <a:bodyPr wrap="square" anchor="t" lIns="25400" rIns="25400" tIns="25400" bIns="25400">
            <a:spAutoFit/>
          </a:bodyPr>
          <a:lstStyle/>
          <a:p>
            <a:pPr algn="l">
              <a:spcBef>
                <a:spcPts val="0"/>
              </a:spcBef>
              <a:spcAft>
                <a:spcPts val="300"/>
              </a:spcAft>
            </a:pPr>
            <a:r>
              <a:rPr sz="1200" b="1">
                <a:solidFill>
                  <a:srgbClr val="005358"/>
                </a:solidFill>
                <a:latin typeface="Archivo"/>
              </a:rPr>
              <a:t>Usage fees metered per governed journey executed across 360 journeys / 207 chains.</a:t>
            </a:r>
          </a:p>
          <a:p>
            <a:pPr algn="l">
              <a:spcBef>
                <a:spcPts val="0"/>
              </a:spcBef>
              <a:spcAft>
                <a:spcPts val="300"/>
              </a:spcAft>
            </a:pPr>
            <a:r>
              <a:rPr sz="1000" b="1">
                <a:solidFill>
                  <a:srgbClr val="D18E35"/>
                </a:solidFill>
                <a:latin typeface="Archivo"/>
              </a:rPr>
              <a:t>Basis: </a:t>
            </a:r>
            <a:r>
              <a:rPr sz="1000" b="0">
                <a:solidFill>
                  <a:srgbClr val="1B1812"/>
                </a:solidFill>
                <a:latin typeface="Archivo"/>
              </a:rPr>
              <a:t>bps on notional/facility, R per MWh settled, R per credit issued/retired, R per drawdown, R per connection — metered at chain-completion and invoiced monthly.</a:t>
            </a:r>
          </a:p>
          <a:p>
            <a:pPr algn="l">
              <a:spcBef>
                <a:spcPts val="0"/>
              </a:spcBef>
              <a:spcAft>
                <a:spcPts val="300"/>
              </a:spcAft>
            </a:pPr>
            <a:r>
              <a:rPr sz="950" b="0">
                <a:solidFill>
                  <a:srgbClr val="504D46"/>
                </a:solidFill>
                <a:latin typeface="Archivo"/>
              </a:rPr>
              <a:t>e.g.  Power trade clearing: 1.5 bps on notional traded (R150 per R1m)   ·   PPA energy settled: R0.012/MWh settled (R12 per GWh)   ·   Carbon credit issued/retired: R3.50 per tCO2e ledger event</a:t>
            </a:r>
          </a:p>
        </p:txBody>
      </p:sp>
      <p:sp>
        <p:nvSpPr>
          <p:cNvPr id="14" name="Rounded Rectangle 13"/>
          <p:cNvSpPr/>
          <p:nvPr/>
        </p:nvSpPr>
        <p:spPr>
          <a:xfrm>
            <a:off x="548640" y="4892039"/>
            <a:ext cx="2011680" cy="137160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Value</a:t>
            </a:r>
          </a:p>
          <a:p>
            <a:pPr algn="ctr">
              <a:spcBef>
                <a:spcPts val="0"/>
              </a:spcBef>
              <a:spcAft>
                <a:spcPts val="0"/>
              </a:spcAft>
            </a:pPr>
            <a:r>
              <a:rPr sz="850" b="0">
                <a:solidFill>
                  <a:srgbClr val="504D46"/>
                </a:solidFill>
                <a:latin typeface="Archivo"/>
              </a:rPr>
              <a:t>20% of Yr-3 rev</a:t>
            </a:r>
          </a:p>
        </p:txBody>
      </p:sp>
      <p:sp>
        <p:nvSpPr>
          <p:cNvPr id="15" name="TextBox 14"/>
          <p:cNvSpPr txBox="1"/>
          <p:nvPr/>
        </p:nvSpPr>
        <p:spPr>
          <a:xfrm>
            <a:off x="2743200" y="4892039"/>
            <a:ext cx="8869680" cy="1371600"/>
          </a:xfrm>
          <a:prstGeom prst="rect">
            <a:avLst/>
          </a:prstGeom>
          <a:noFill/>
        </p:spPr>
        <p:txBody>
          <a:bodyPr wrap="square" anchor="t" lIns="25400" rIns="25400" tIns="25400" bIns="25400">
            <a:spAutoFit/>
          </a:bodyPr>
          <a:lstStyle/>
          <a:p>
            <a:pPr algn="l">
              <a:spcBef>
                <a:spcPts val="0"/>
              </a:spcBef>
              <a:spcAft>
                <a:spcPts val="300"/>
              </a:spcAft>
            </a:pPr>
            <a:r>
              <a:rPr sz="1200" b="1">
                <a:solidFill>
                  <a:srgbClr val="005358"/>
                </a:solidFill>
                <a:latin typeface="Archivo"/>
              </a:rPr>
              <a:t>Premium fees on regulator-grade (L5) outcomes that replace manual assurance/legal/audit spend.</a:t>
            </a:r>
          </a:p>
          <a:p>
            <a:pPr algn="l">
              <a:spcBef>
                <a:spcPts val="0"/>
              </a:spcBef>
              <a:spcAft>
                <a:spcPts val="300"/>
              </a:spcAft>
            </a:pPr>
            <a:r>
              <a:rPr sz="1000" b="1">
                <a:solidFill>
                  <a:srgbClr val="D18E35"/>
                </a:solidFill>
                <a:latin typeface="Archivo"/>
              </a:rPr>
              <a:t>Basis: </a:t>
            </a:r>
            <a:r>
              <a:rPr sz="1000" b="0">
                <a:solidFill>
                  <a:srgbClr val="1B1812"/>
                </a:solidFill>
                <a:latin typeface="Archivo"/>
              </a:rPr>
              <a:t>Per certified artefact or per-attestation flat fee, plus annual reconciliation/audit-pack retainers; priced against the cost of the manual alternative.</a:t>
            </a:r>
          </a:p>
          <a:p>
            <a:pPr algn="l">
              <a:spcBef>
                <a:spcPts val="0"/>
              </a:spcBef>
              <a:spcAft>
                <a:spcPts val="300"/>
              </a:spcAft>
            </a:pPr>
            <a:r>
              <a:rPr sz="950" b="0">
                <a:solidFill>
                  <a:srgbClr val="504D46"/>
                </a:solidFill>
                <a:latin typeface="Archivo"/>
              </a:rPr>
              <a:t>e.g.  Certified NERSA/EMIR-style export pack: R18,000 per certified export   ·   Tamper-evident audit pack (per case): R7,500   ·   External reconciliation run (per cycle): R25,000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DEPTH DRIVES PRICE</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Pricing by tier (L3 / L4 / L5)</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1719072"/>
        </p:xfrm>
        <a:graphic>
          <a:graphicData uri="http://schemas.openxmlformats.org/drawingml/2006/table">
            <a:tbl>
              <a:tblPr firstRow="1" bandRow="1">
                <a:tableStyleId>{5C22544A-7EE6-4342-B048-85BDC9FD1C3A}</a:tableStyleId>
              </a:tblPr>
              <a:tblGrid>
                <a:gridCol w="731520"/>
                <a:gridCol w="4023360"/>
                <a:gridCol w="2103120"/>
                <a:gridCol w="2377440"/>
                <a:gridCol w="1828800"/>
              </a:tblGrid>
              <a:tr h="429768">
                <a:tc>
                  <a:txBody>
                    <a:bodyPr/>
                    <a:lstStyle/>
                    <a:p>
                      <a:r>
                        <a:rPr sz="900" b="1">
                          <a:solidFill>
                            <a:srgbClr val="FFFFFF"/>
                          </a:solidFill>
                          <a:latin typeface="Archivo"/>
                        </a:rPr>
                        <a:t>Tier</a:t>
                      </a:r>
                    </a:p>
                  </a:txBody>
                  <a:tcPr anchor="ctr">
                    <a:solidFill>
                      <a:srgbClr val="005358"/>
                    </a:solidFill>
                  </a:tcPr>
                </a:tc>
                <a:tc>
                  <a:txBody>
                    <a:bodyPr/>
                    <a:lstStyle/>
                    <a:p>
                      <a:r>
                        <a:rPr sz="900" b="1">
                          <a:solidFill>
                            <a:srgbClr val="FFFFFF"/>
                          </a:solidFill>
                          <a:latin typeface="Archivo"/>
                        </a:rPr>
                        <a:t>Positioning</a:t>
                      </a:r>
                    </a:p>
                  </a:txBody>
                  <a:tcPr anchor="ctr">
                    <a:solidFill>
                      <a:srgbClr val="005358"/>
                    </a:solidFill>
                  </a:tcPr>
                </a:tc>
                <a:tc>
                  <a:txBody>
                    <a:bodyPr/>
                    <a:lstStyle/>
                    <a:p>
                      <a:r>
                        <a:rPr sz="900" b="1">
                          <a:solidFill>
                            <a:srgbClr val="FFFFFF"/>
                          </a:solidFill>
                          <a:latin typeface="Archivo"/>
                        </a:rPr>
                        <a:t>Seat /mo</a:t>
                      </a:r>
                    </a:p>
                  </a:txBody>
                  <a:tcPr anchor="ctr">
                    <a:solidFill>
                      <a:srgbClr val="005358"/>
                    </a:solidFill>
                  </a:tcPr>
                </a:tc>
                <a:tc>
                  <a:txBody>
                    <a:bodyPr/>
                    <a:lstStyle/>
                    <a:p>
                      <a:r>
                        <a:rPr sz="900" b="1">
                          <a:solidFill>
                            <a:srgbClr val="FFFFFF"/>
                          </a:solidFill>
                          <a:latin typeface="Archivo"/>
                        </a:rPr>
                        <a:t>Txn take</a:t>
                      </a:r>
                    </a:p>
                  </a:txBody>
                  <a:tcPr anchor="ctr">
                    <a:solidFill>
                      <a:srgbClr val="005358"/>
                    </a:solidFill>
                  </a:tcPr>
                </a:tc>
                <a:tc>
                  <a:txBody>
                    <a:bodyPr/>
                    <a:lstStyle/>
                    <a:p>
                      <a:r>
                        <a:rPr sz="900" b="1">
                          <a:solidFill>
                            <a:srgbClr val="FFFFFF"/>
                          </a:solidFill>
                          <a:latin typeface="Archivo"/>
                        </a:rPr>
                        <a:t>Value add-on</a:t>
                      </a:r>
                    </a:p>
                  </a:txBody>
                  <a:tcPr anchor="ctr">
                    <a:solidFill>
                      <a:srgbClr val="005358"/>
                    </a:solidFill>
                  </a:tcPr>
                </a:tc>
              </a:tr>
              <a:tr h="429768">
                <a:tc>
                  <a:txBody>
                    <a:bodyPr/>
                    <a:lstStyle/>
                    <a:p>
                      <a:r>
                        <a:rPr sz="850" b="1">
                          <a:solidFill>
                            <a:srgbClr val="005358"/>
                          </a:solidFill>
                          <a:latin typeface="Archivo"/>
                        </a:rPr>
                        <a:t>L3</a:t>
                      </a:r>
                    </a:p>
                  </a:txBody>
                  <a:tcPr anchor="ctr" marT="25400" marB="25400">
                    <a:solidFill>
                      <a:srgbClr val="FFFFFF"/>
                    </a:solidFill>
                  </a:tcPr>
                </a:tc>
                <a:tc>
                  <a:txBody>
                    <a:bodyPr/>
                    <a:lstStyle/>
                    <a:p>
                      <a:r>
                        <a:rPr sz="850" b="0">
                          <a:solidFill>
                            <a:srgbClr val="1B1812"/>
                          </a:solidFill>
                          <a:latin typeface="Archivo"/>
                        </a:rPr>
                        <a:t>Audited workflows — state machine + server-side validation + a</a:t>
                      </a:r>
                    </a:p>
                  </a:txBody>
                  <a:tcPr anchor="ctr" marT="25400" marB="25400">
                    <a:solidFill>
                      <a:srgbClr val="FFFFFF"/>
                    </a:solidFill>
                  </a:tcPr>
                </a:tc>
                <a:tc>
                  <a:txBody>
                    <a:bodyPr/>
                    <a:lstStyle/>
                    <a:p>
                      <a:r>
                        <a:rPr sz="850" b="0">
                          <a:solidFill>
                            <a:srgbClr val="1B1812"/>
                          </a:solidFill>
                          <a:latin typeface="Archivo"/>
                        </a:rPr>
                        <a:t>R2,000–R3,500/seat/mo</a:t>
                      </a:r>
                    </a:p>
                  </a:txBody>
                  <a:tcPr anchor="ctr" marT="25400" marB="25400">
                    <a:solidFill>
                      <a:srgbClr val="FFFFFF"/>
                    </a:solidFill>
                  </a:tcPr>
                </a:tc>
                <a:tc>
                  <a:txBody>
                    <a:bodyPr/>
                    <a:lstStyle/>
                    <a:p>
                      <a:r>
                        <a:rPr sz="850" b="0">
                          <a:solidFill>
                            <a:srgbClr val="1B1812"/>
                          </a:solidFill>
                          <a:latin typeface="Archivo"/>
                        </a:rPr>
                        <a:t>0.75 bps on notional / R0.006 per MWh </a:t>
                      </a:r>
                    </a:p>
                  </a:txBody>
                  <a:tcPr anchor="ctr" marT="25400" marB="25400">
                    <a:solidFill>
                      <a:srgbClr val="FFFFFF"/>
                    </a:solidFill>
                  </a:tcPr>
                </a:tc>
                <a:tc>
                  <a:txBody>
                    <a:bodyPr/>
                    <a:lstStyle/>
                    <a:p>
                      <a:r>
                        <a:rPr sz="850" b="0">
                          <a:solidFill>
                            <a:srgbClr val="1B1812"/>
                          </a:solidFill>
                          <a:latin typeface="Archivo"/>
                        </a:rPr>
                        <a:t>n/a</a:t>
                      </a:r>
                    </a:p>
                  </a:txBody>
                  <a:tcPr anchor="ctr" marT="25400" marB="25400">
                    <a:solidFill>
                      <a:srgbClr val="FFFFFF"/>
                    </a:solidFill>
                  </a:tcPr>
                </a:tc>
              </a:tr>
              <a:tr h="429768">
                <a:tc>
                  <a:txBody>
                    <a:bodyPr/>
                    <a:lstStyle/>
                    <a:p>
                      <a:r>
                        <a:rPr sz="850" b="1">
                          <a:solidFill>
                            <a:srgbClr val="005358"/>
                          </a:solidFill>
                          <a:latin typeface="Archivo"/>
                        </a:rPr>
                        <a:t>L4</a:t>
                      </a:r>
                    </a:p>
                  </a:txBody>
                  <a:tcPr anchor="ctr" marT="25400" marB="25400">
                    <a:solidFill>
                      <a:srgbClr val="F5F3EF"/>
                    </a:solidFill>
                  </a:tcPr>
                </a:tc>
                <a:tc>
                  <a:txBody>
                    <a:bodyPr/>
                    <a:lstStyle/>
                    <a:p>
                      <a:r>
                        <a:rPr sz="850" b="0">
                          <a:solidFill>
                            <a:srgbClr val="1B1812"/>
                          </a:solidFill>
                          <a:latin typeface="Archivo"/>
                        </a:rPr>
                        <a:t>Full workflow — pre-trade gating, downstream cascades, calenda</a:t>
                      </a:r>
                    </a:p>
                  </a:txBody>
                  <a:tcPr anchor="ctr" marT="25400" marB="25400">
                    <a:solidFill>
                      <a:srgbClr val="F5F3EF"/>
                    </a:solidFill>
                  </a:tcPr>
                </a:tc>
                <a:tc>
                  <a:txBody>
                    <a:bodyPr/>
                    <a:lstStyle/>
                    <a:p>
                      <a:r>
                        <a:rPr sz="850" b="0">
                          <a:solidFill>
                            <a:srgbClr val="1B1812"/>
                          </a:solidFill>
                          <a:latin typeface="Archivo"/>
                        </a:rPr>
                        <a:t>R3,500–R5,500/seat/mo</a:t>
                      </a:r>
                    </a:p>
                  </a:txBody>
                  <a:tcPr anchor="ctr" marT="25400" marB="25400">
                    <a:solidFill>
                      <a:srgbClr val="F5F3EF"/>
                    </a:solidFill>
                  </a:tcPr>
                </a:tc>
                <a:tc>
                  <a:txBody>
                    <a:bodyPr/>
                    <a:lstStyle/>
                    <a:p>
                      <a:r>
                        <a:rPr sz="850" b="0">
                          <a:solidFill>
                            <a:srgbClr val="1B1812"/>
                          </a:solidFill>
                          <a:latin typeface="Archivo"/>
                        </a:rPr>
                        <a:t>1.5 bps on notional / R0.012 per MWh /</a:t>
                      </a:r>
                    </a:p>
                  </a:txBody>
                  <a:tcPr anchor="ctr" marT="25400" marB="25400">
                    <a:solidFill>
                      <a:srgbClr val="F5F3EF"/>
                    </a:solidFill>
                  </a:tcPr>
                </a:tc>
                <a:tc>
                  <a:txBody>
                    <a:bodyPr/>
                    <a:lstStyle/>
                    <a:p>
                      <a:r>
                        <a:rPr sz="850" b="0">
                          <a:solidFill>
                            <a:srgbClr val="1B1812"/>
                          </a:solidFill>
                          <a:latin typeface="Archivo"/>
                        </a:rPr>
                        <a:t>Optional L5 certified artefacts à </a:t>
                      </a:r>
                    </a:p>
                  </a:txBody>
                  <a:tcPr anchor="ctr" marT="25400" marB="25400">
                    <a:solidFill>
                      <a:srgbClr val="F5F3EF"/>
                    </a:solidFill>
                  </a:tcPr>
                </a:tc>
              </a:tr>
              <a:tr h="429768">
                <a:tc>
                  <a:txBody>
                    <a:bodyPr/>
                    <a:lstStyle/>
                    <a:p>
                      <a:r>
                        <a:rPr sz="850" b="1">
                          <a:solidFill>
                            <a:srgbClr val="005358"/>
                          </a:solidFill>
                          <a:latin typeface="Archivo"/>
                        </a:rPr>
                        <a:t>L5</a:t>
                      </a:r>
                    </a:p>
                  </a:txBody>
                  <a:tcPr anchor="ctr" marT="25400" marB="25400">
                    <a:solidFill>
                      <a:srgbClr val="FFFFFF"/>
                    </a:solidFill>
                  </a:tcPr>
                </a:tc>
                <a:tc>
                  <a:txBody>
                    <a:bodyPr/>
                    <a:lstStyle/>
                    <a:p>
                      <a:r>
                        <a:rPr sz="850" b="0">
                          <a:solidFill>
                            <a:srgbClr val="1B1812"/>
                          </a:solidFill>
                          <a:latin typeface="Archivo"/>
                        </a:rPr>
                        <a:t>Regulator-grade — tamper-evident audit, certified exports, ext</a:t>
                      </a:r>
                    </a:p>
                  </a:txBody>
                  <a:tcPr anchor="ctr" marT="25400" marB="25400">
                    <a:solidFill>
                      <a:srgbClr val="FFFFFF"/>
                    </a:solidFill>
                  </a:tcPr>
                </a:tc>
                <a:tc>
                  <a:txBody>
                    <a:bodyPr/>
                    <a:lstStyle/>
                    <a:p>
                      <a:r>
                        <a:rPr sz="850" b="0">
                          <a:solidFill>
                            <a:srgbClr val="1B1812"/>
                          </a:solidFill>
                          <a:latin typeface="Archivo"/>
                        </a:rPr>
                        <a:t>R5,500–R7,500/seat/mo</a:t>
                      </a:r>
                    </a:p>
                  </a:txBody>
                  <a:tcPr anchor="ctr" marT="25400" marB="25400">
                    <a:solidFill>
                      <a:srgbClr val="FFFFFF"/>
                    </a:solidFill>
                  </a:tcPr>
                </a:tc>
                <a:tc>
                  <a:txBody>
                    <a:bodyPr/>
                    <a:lstStyle/>
                    <a:p>
                      <a:r>
                        <a:rPr sz="850" b="0">
                          <a:solidFill>
                            <a:srgbClr val="1B1812"/>
                          </a:solidFill>
                          <a:latin typeface="Archivo"/>
                        </a:rPr>
                        <a:t>2.0 bps on notional + Value-stream art</a:t>
                      </a:r>
                    </a:p>
                  </a:txBody>
                  <a:tcPr anchor="ctr" marT="25400" marB="25400">
                    <a:solidFill>
                      <a:srgbClr val="FFFFFF"/>
                    </a:solidFill>
                  </a:tcPr>
                </a:tc>
                <a:tc>
                  <a:txBody>
                    <a:bodyPr/>
                    <a:lstStyle/>
                    <a:p>
                      <a:r>
                        <a:rPr sz="850" b="0">
                          <a:solidFill>
                            <a:srgbClr val="1B1812"/>
                          </a:solidFill>
                          <a:latin typeface="Archivo"/>
                        </a:rPr>
                        <a:t>R7,500–R25,000 per certified expor</a:t>
                      </a:r>
                    </a:p>
                  </a:txBody>
                  <a:tcPr anchor="ctr" marT="25400" marB="25400">
                    <a:solidFill>
                      <a:srgbClr val="FFFF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HEADLINE PRICE &amp; ACCOUNT VALUE BAND</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Pricing per role</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4572000"/>
        </p:xfrm>
        <a:graphic>
          <a:graphicData uri="http://schemas.openxmlformats.org/drawingml/2006/table">
            <a:tbl>
              <a:tblPr firstRow="1" bandRow="1">
                <a:tableStyleId>{5C22544A-7EE6-4342-B048-85BDC9FD1C3A}</a:tableStyleId>
              </a:tblPr>
              <a:tblGrid>
                <a:gridCol w="2560320"/>
                <a:gridCol w="2011680"/>
                <a:gridCol w="3931920"/>
                <a:gridCol w="2560320"/>
              </a:tblGrid>
              <a:tr h="381000">
                <a:tc>
                  <a:txBody>
                    <a:bodyPr/>
                    <a:lstStyle/>
                    <a:p>
                      <a:r>
                        <a:rPr sz="950" b="1">
                          <a:solidFill>
                            <a:srgbClr val="FFFFFF"/>
                          </a:solidFill>
                          <a:latin typeface="Archivo"/>
                        </a:rPr>
                        <a:t>Role</a:t>
                      </a:r>
                    </a:p>
                  </a:txBody>
                  <a:tcPr anchor="ctr">
                    <a:solidFill>
                      <a:srgbClr val="005358"/>
                    </a:solidFill>
                  </a:tcPr>
                </a:tc>
                <a:tc>
                  <a:txBody>
                    <a:bodyPr/>
                    <a:lstStyle/>
                    <a:p>
                      <a:r>
                        <a:rPr sz="950" b="1">
                          <a:solidFill>
                            <a:srgbClr val="FFFFFF"/>
                          </a:solidFill>
                          <a:latin typeface="Archivo"/>
                        </a:rPr>
                        <a:t>Primary stream</a:t>
                      </a:r>
                    </a:p>
                  </a:txBody>
                  <a:tcPr anchor="ctr">
                    <a:solidFill>
                      <a:srgbClr val="005358"/>
                    </a:solidFill>
                  </a:tcPr>
                </a:tc>
                <a:tc>
                  <a:txBody>
                    <a:bodyPr/>
                    <a:lstStyle/>
                    <a:p>
                      <a:r>
                        <a:rPr sz="950" b="1">
                          <a:solidFill>
                            <a:srgbClr val="FFFFFF"/>
                          </a:solidFill>
                          <a:latin typeface="Archivo"/>
                        </a:rPr>
                        <a:t>Headline price</a:t>
                      </a:r>
                    </a:p>
                  </a:txBody>
                  <a:tcPr anchor="ctr">
                    <a:solidFill>
                      <a:srgbClr val="005358"/>
                    </a:solidFill>
                  </a:tcPr>
                </a:tc>
                <a:tc>
                  <a:txBody>
                    <a:bodyPr/>
                    <a:lstStyle/>
                    <a:p>
                      <a:r>
                        <a:rPr sz="950" b="1">
                          <a:solidFill>
                            <a:srgbClr val="FFFFFF"/>
                          </a:solidFill>
                          <a:latin typeface="Archivo"/>
                        </a:rPr>
                        <a:t>Annual acct value</a:t>
                      </a:r>
                    </a:p>
                  </a:txBody>
                  <a:tcPr anchor="ctr">
                    <a:solidFill>
                      <a:srgbClr val="005358"/>
                    </a:solidFill>
                  </a:tcPr>
                </a:tc>
              </a:tr>
              <a:tr h="381000">
                <a:tc>
                  <a:txBody>
                    <a:bodyPr/>
                    <a:lstStyle/>
                    <a:p>
                      <a:r>
                        <a:rPr sz="900" b="1">
                          <a:solidFill>
                            <a:srgbClr val="005358"/>
                          </a:solidFill>
                          <a:latin typeface="Archivo"/>
                        </a:rPr>
                        <a:t>IPP Developer</a:t>
                      </a:r>
                    </a:p>
                  </a:txBody>
                  <a:tcPr anchor="ctr" marT="25400" marB="25400">
                    <a:solidFill>
                      <a:srgbClr val="FFFFFF"/>
                    </a:solidFill>
                  </a:tcPr>
                </a:tc>
                <a:tc>
                  <a:txBody>
                    <a:bodyPr/>
                    <a:lstStyle/>
                    <a:p>
                      <a:r>
                        <a:rPr sz="900" b="0">
                          <a:solidFill>
                            <a:srgbClr val="1B1812"/>
                          </a:solidFill>
                          <a:latin typeface="Archivo"/>
                        </a:rPr>
                        <a:t>Transaction</a:t>
                      </a:r>
                    </a:p>
                  </a:txBody>
                  <a:tcPr anchor="ctr" marT="25400" marB="25400">
                    <a:solidFill>
                      <a:srgbClr val="FFFFFF"/>
                    </a:solidFill>
                  </a:tcPr>
                </a:tc>
                <a:tc>
                  <a:txBody>
                    <a:bodyPr/>
                    <a:lstStyle/>
                    <a:p>
                      <a:r>
                        <a:rPr sz="900" b="0">
                          <a:solidFill>
                            <a:srgbClr val="1B1812"/>
                          </a:solidFill>
                          <a:latin typeface="Archivo"/>
                        </a:rPr>
                        <a:t>R9,500 per project stage-gate cleared</a:t>
                      </a:r>
                    </a:p>
                  </a:txBody>
                  <a:tcPr anchor="ctr" marT="25400" marB="25400">
                    <a:solidFill>
                      <a:srgbClr val="FFFFFF"/>
                    </a:solidFill>
                  </a:tcPr>
                </a:tc>
                <a:tc>
                  <a:txBody>
                    <a:bodyPr/>
                    <a:lstStyle/>
                    <a:p>
                      <a:r>
                        <a:rPr sz="900" b="0">
                          <a:solidFill>
                            <a:srgbClr val="1B1812"/>
                          </a:solidFill>
                          <a:latin typeface="Archivo"/>
                        </a:rPr>
                        <a:t>R0.9m–R3.5m/yr</a:t>
                      </a:r>
                    </a:p>
                  </a:txBody>
                  <a:tcPr anchor="ctr" marT="25400" marB="25400">
                    <a:solidFill>
                      <a:srgbClr val="FFFFFF"/>
                    </a:solidFill>
                  </a:tcPr>
                </a:tc>
              </a:tr>
              <a:tr h="381000">
                <a:tc>
                  <a:txBody>
                    <a:bodyPr/>
                    <a:lstStyle/>
                    <a:p>
                      <a:r>
                        <a:rPr sz="900" b="1">
                          <a:solidFill>
                            <a:srgbClr val="005358"/>
                          </a:solidFill>
                          <a:latin typeface="Archivo"/>
                        </a:rPr>
                        <a:t>Trader</a:t>
                      </a:r>
                    </a:p>
                  </a:txBody>
                  <a:tcPr anchor="ctr" marT="25400" marB="25400">
                    <a:solidFill>
                      <a:srgbClr val="F5F3EF"/>
                    </a:solidFill>
                  </a:tcPr>
                </a:tc>
                <a:tc>
                  <a:txBody>
                    <a:bodyPr/>
                    <a:lstStyle/>
                    <a:p>
                      <a:r>
                        <a:rPr sz="900" b="0">
                          <a:solidFill>
                            <a:srgbClr val="1B1812"/>
                          </a:solidFill>
                          <a:latin typeface="Archivo"/>
                        </a:rPr>
                        <a:t>Transaction</a:t>
                      </a:r>
                    </a:p>
                  </a:txBody>
                  <a:tcPr anchor="ctr" marT="25400" marB="25400">
                    <a:solidFill>
                      <a:srgbClr val="F5F3EF"/>
                    </a:solidFill>
                  </a:tcPr>
                </a:tc>
                <a:tc>
                  <a:txBody>
                    <a:bodyPr/>
                    <a:lstStyle/>
                    <a:p>
                      <a:r>
                        <a:rPr sz="900" b="0">
                          <a:solidFill>
                            <a:srgbClr val="1B1812"/>
                          </a:solidFill>
                          <a:latin typeface="Archivo"/>
                        </a:rPr>
                        <a:t>1.5 bps on notional traded</a:t>
                      </a:r>
                    </a:p>
                  </a:txBody>
                  <a:tcPr anchor="ctr" marT="25400" marB="25400">
                    <a:solidFill>
                      <a:srgbClr val="F5F3EF"/>
                    </a:solidFill>
                  </a:tcPr>
                </a:tc>
                <a:tc>
                  <a:txBody>
                    <a:bodyPr/>
                    <a:lstStyle/>
                    <a:p>
                      <a:r>
                        <a:rPr sz="900" b="0">
                          <a:solidFill>
                            <a:srgbClr val="1B1812"/>
                          </a:solidFill>
                          <a:latin typeface="Archivo"/>
                        </a:rPr>
                        <a:t>R1.5m–R8m/yr</a:t>
                      </a:r>
                    </a:p>
                  </a:txBody>
                  <a:tcPr anchor="ctr" marT="25400" marB="25400">
                    <a:solidFill>
                      <a:srgbClr val="F5F3EF"/>
                    </a:solidFill>
                  </a:tcPr>
                </a:tc>
              </a:tr>
              <a:tr h="381000">
                <a:tc>
                  <a:txBody>
                    <a:bodyPr/>
                    <a:lstStyle/>
                    <a:p>
                      <a:r>
                        <a:rPr sz="900" b="1">
                          <a:solidFill>
                            <a:srgbClr val="005358"/>
                          </a:solidFill>
                          <a:latin typeface="Archivo"/>
                        </a:rPr>
                        <a:t>Lender</a:t>
                      </a:r>
                    </a:p>
                  </a:txBody>
                  <a:tcPr anchor="ctr" marT="25400" marB="25400">
                    <a:solidFill>
                      <a:srgbClr val="FFFFFF"/>
                    </a:solidFill>
                  </a:tcPr>
                </a:tc>
                <a:tc>
                  <a:txBody>
                    <a:bodyPr/>
                    <a:lstStyle/>
                    <a:p>
                      <a:r>
                        <a:rPr sz="900" b="0">
                          <a:solidFill>
                            <a:srgbClr val="1B1812"/>
                          </a:solidFill>
                          <a:latin typeface="Archivo"/>
                        </a:rPr>
                        <a:t>Transaction</a:t>
                      </a:r>
                    </a:p>
                  </a:txBody>
                  <a:tcPr anchor="ctr" marT="25400" marB="25400">
                    <a:solidFill>
                      <a:srgbClr val="FFFFFF"/>
                    </a:solidFill>
                  </a:tcPr>
                </a:tc>
                <a:tc>
                  <a:txBody>
                    <a:bodyPr/>
                    <a:lstStyle/>
                    <a:p>
                      <a:r>
                        <a:rPr sz="900" b="0">
                          <a:solidFill>
                            <a:srgbClr val="1B1812"/>
                          </a:solidFill>
                          <a:latin typeface="Archivo"/>
                        </a:rPr>
                        <a:t>R45,000 per drawdown + 5 bps on facility/yr</a:t>
                      </a:r>
                    </a:p>
                  </a:txBody>
                  <a:tcPr anchor="ctr" marT="25400" marB="25400">
                    <a:solidFill>
                      <a:srgbClr val="FFFFFF"/>
                    </a:solidFill>
                  </a:tcPr>
                </a:tc>
                <a:tc>
                  <a:txBody>
                    <a:bodyPr/>
                    <a:lstStyle/>
                    <a:p>
                      <a:r>
                        <a:rPr sz="900" b="0">
                          <a:solidFill>
                            <a:srgbClr val="1B1812"/>
                          </a:solidFill>
                          <a:latin typeface="Archivo"/>
                        </a:rPr>
                        <a:t>R1.2m–R6m/yr</a:t>
                      </a:r>
                    </a:p>
                  </a:txBody>
                  <a:tcPr anchor="ctr" marT="25400" marB="25400">
                    <a:solidFill>
                      <a:srgbClr val="FFFFFF"/>
                    </a:solidFill>
                  </a:tcPr>
                </a:tc>
              </a:tr>
              <a:tr h="381000">
                <a:tc>
                  <a:txBody>
                    <a:bodyPr/>
                    <a:lstStyle/>
                    <a:p>
                      <a:r>
                        <a:rPr sz="900" b="1">
                          <a:solidFill>
                            <a:srgbClr val="005358"/>
                          </a:solidFill>
                          <a:latin typeface="Archivo"/>
                        </a:rPr>
                        <a:t>Offtaker</a:t>
                      </a:r>
                    </a:p>
                  </a:txBody>
                  <a:tcPr anchor="ctr" marT="25400" marB="25400">
                    <a:solidFill>
                      <a:srgbClr val="F5F3EF"/>
                    </a:solidFill>
                  </a:tcPr>
                </a:tc>
                <a:tc>
                  <a:txBody>
                    <a:bodyPr/>
                    <a:lstStyle/>
                    <a:p>
                      <a:r>
                        <a:rPr sz="900" b="0">
                          <a:solidFill>
                            <a:srgbClr val="1B1812"/>
                          </a:solidFill>
                          <a:latin typeface="Archivo"/>
                        </a:rPr>
                        <a:t>Transaction</a:t>
                      </a:r>
                    </a:p>
                  </a:txBody>
                  <a:tcPr anchor="ctr" marT="25400" marB="25400">
                    <a:solidFill>
                      <a:srgbClr val="F5F3EF"/>
                    </a:solidFill>
                  </a:tcPr>
                </a:tc>
                <a:tc>
                  <a:txBody>
                    <a:bodyPr/>
                    <a:lstStyle/>
                    <a:p>
                      <a:r>
                        <a:rPr sz="900" b="0">
                          <a:solidFill>
                            <a:srgbClr val="1B1812"/>
                          </a:solidFill>
                          <a:latin typeface="Archivo"/>
                        </a:rPr>
                        <a:t>R0.012 per MWh settled (per PPA)</a:t>
                      </a:r>
                    </a:p>
                  </a:txBody>
                  <a:tcPr anchor="ctr" marT="25400" marB="25400">
                    <a:solidFill>
                      <a:srgbClr val="F5F3EF"/>
                    </a:solidFill>
                  </a:tcPr>
                </a:tc>
                <a:tc>
                  <a:txBody>
                    <a:bodyPr/>
                    <a:lstStyle/>
                    <a:p>
                      <a:r>
                        <a:rPr sz="900" b="0">
                          <a:solidFill>
                            <a:srgbClr val="1B1812"/>
                          </a:solidFill>
                          <a:latin typeface="Archivo"/>
                        </a:rPr>
                        <a:t>R0.6m–R3m/yr</a:t>
                      </a:r>
                    </a:p>
                  </a:txBody>
                  <a:tcPr anchor="ctr" marT="25400" marB="25400">
                    <a:solidFill>
                      <a:srgbClr val="F5F3EF"/>
                    </a:solidFill>
                  </a:tcPr>
                </a:tc>
              </a:tr>
              <a:tr h="381000">
                <a:tc>
                  <a:txBody>
                    <a:bodyPr/>
                    <a:lstStyle/>
                    <a:p>
                      <a:r>
                        <a:rPr sz="900" b="1">
                          <a:solidFill>
                            <a:srgbClr val="005358"/>
                          </a:solidFill>
                          <a:latin typeface="Archivo"/>
                        </a:rPr>
                        <a:t>Carbon Fund</a:t>
                      </a:r>
                    </a:p>
                  </a:txBody>
                  <a:tcPr anchor="ctr" marT="25400" marB="25400">
                    <a:solidFill>
                      <a:srgbClr val="FFFFFF"/>
                    </a:solidFill>
                  </a:tcPr>
                </a:tc>
                <a:tc>
                  <a:txBody>
                    <a:bodyPr/>
                    <a:lstStyle/>
                    <a:p>
                      <a:r>
                        <a:rPr sz="900" b="0">
                          <a:solidFill>
                            <a:srgbClr val="1B1812"/>
                          </a:solidFill>
                          <a:latin typeface="Archivo"/>
                        </a:rPr>
                        <a:t>Transaction</a:t>
                      </a:r>
                    </a:p>
                  </a:txBody>
                  <a:tcPr anchor="ctr" marT="25400" marB="25400">
                    <a:solidFill>
                      <a:srgbClr val="FFFFFF"/>
                    </a:solidFill>
                  </a:tcPr>
                </a:tc>
                <a:tc>
                  <a:txBody>
                    <a:bodyPr/>
                    <a:lstStyle/>
                    <a:p>
                      <a:r>
                        <a:rPr sz="900" b="0">
                          <a:solidFill>
                            <a:srgbClr val="1B1812"/>
                          </a:solidFill>
                          <a:latin typeface="Archivo"/>
                        </a:rPr>
                        <a:t>R3.50 per credit issued/retired</a:t>
                      </a:r>
                    </a:p>
                  </a:txBody>
                  <a:tcPr anchor="ctr" marT="25400" marB="25400">
                    <a:solidFill>
                      <a:srgbClr val="FFFFFF"/>
                    </a:solidFill>
                  </a:tcPr>
                </a:tc>
                <a:tc>
                  <a:txBody>
                    <a:bodyPr/>
                    <a:lstStyle/>
                    <a:p>
                      <a:r>
                        <a:rPr sz="900" b="0">
                          <a:solidFill>
                            <a:srgbClr val="1B1812"/>
                          </a:solidFill>
                          <a:latin typeface="Archivo"/>
                        </a:rPr>
                        <a:t>R0.5m–R2.5m/yr</a:t>
                      </a:r>
                    </a:p>
                  </a:txBody>
                  <a:tcPr anchor="ctr" marT="25400" marB="25400">
                    <a:solidFill>
                      <a:srgbClr val="FFFFFF"/>
                    </a:solidFill>
                  </a:tcPr>
                </a:tc>
              </a:tr>
              <a:tr h="381000">
                <a:tc>
                  <a:txBody>
                    <a:bodyPr/>
                    <a:lstStyle/>
                    <a:p>
                      <a:r>
                        <a:rPr sz="900" b="1">
                          <a:solidFill>
                            <a:srgbClr val="005358"/>
                          </a:solidFill>
                          <a:latin typeface="Archivo"/>
                        </a:rPr>
                        <a:t>Grid Operator</a:t>
                      </a:r>
                    </a:p>
                  </a:txBody>
                  <a:tcPr anchor="ctr" marT="25400" marB="25400">
                    <a:solidFill>
                      <a:srgbClr val="F5F3EF"/>
                    </a:solidFill>
                  </a:tcPr>
                </a:tc>
                <a:tc>
                  <a:txBody>
                    <a:bodyPr/>
                    <a:lstStyle/>
                    <a:p>
                      <a:r>
                        <a:rPr sz="900" b="0">
                          <a:solidFill>
                            <a:srgbClr val="1B1812"/>
                          </a:solidFill>
                          <a:latin typeface="Archivo"/>
                        </a:rPr>
                        <a:t>Transaction</a:t>
                      </a:r>
                    </a:p>
                  </a:txBody>
                  <a:tcPr anchor="ctr" marT="25400" marB="25400">
                    <a:solidFill>
                      <a:srgbClr val="F5F3EF"/>
                    </a:solidFill>
                  </a:tcPr>
                </a:tc>
                <a:tc>
                  <a:txBody>
                    <a:bodyPr/>
                    <a:lstStyle/>
                    <a:p>
                      <a:r>
                        <a:rPr sz="900" b="0">
                          <a:solidFill>
                            <a:srgbClr val="1B1812"/>
                          </a:solidFill>
                          <a:latin typeface="Archivo"/>
                        </a:rPr>
                        <a:t>R6,000 per connection + R8/MW dispatched</a:t>
                      </a:r>
                    </a:p>
                  </a:txBody>
                  <a:tcPr anchor="ctr" marT="25400" marB="25400">
                    <a:solidFill>
                      <a:srgbClr val="F5F3EF"/>
                    </a:solidFill>
                  </a:tcPr>
                </a:tc>
                <a:tc>
                  <a:txBody>
                    <a:bodyPr/>
                    <a:lstStyle/>
                    <a:p>
                      <a:r>
                        <a:rPr sz="900" b="0">
                          <a:solidFill>
                            <a:srgbClr val="1B1812"/>
                          </a:solidFill>
                          <a:latin typeface="Archivo"/>
                        </a:rPr>
                        <a:t>R1m–R5m/yr</a:t>
                      </a:r>
                    </a:p>
                  </a:txBody>
                  <a:tcPr anchor="ctr" marT="25400" marB="25400">
                    <a:solidFill>
                      <a:srgbClr val="F5F3EF"/>
                    </a:solidFill>
                  </a:tcPr>
                </a:tc>
              </a:tr>
              <a:tr h="381000">
                <a:tc>
                  <a:txBody>
                    <a:bodyPr/>
                    <a:lstStyle/>
                    <a:p>
                      <a:r>
                        <a:rPr sz="900" b="1">
                          <a:solidFill>
                            <a:srgbClr val="005358"/>
                          </a:solidFill>
                          <a:latin typeface="Archivo"/>
                        </a:rPr>
                        <a:t>Support/OEM</a:t>
                      </a:r>
                    </a:p>
                  </a:txBody>
                  <a:tcPr anchor="ctr" marT="25400" marB="25400">
                    <a:solidFill>
                      <a:srgbClr val="FFFFFF"/>
                    </a:solidFill>
                  </a:tcPr>
                </a:tc>
                <a:tc>
                  <a:txBody>
                    <a:bodyPr/>
                    <a:lstStyle/>
                    <a:p>
                      <a:r>
                        <a:rPr sz="900" b="0">
                          <a:solidFill>
                            <a:srgbClr val="1B1812"/>
                          </a:solidFill>
                          <a:latin typeface="Archivo"/>
                        </a:rPr>
                        <a:t>Seat</a:t>
                      </a:r>
                    </a:p>
                  </a:txBody>
                  <a:tcPr anchor="ctr" marT="25400" marB="25400">
                    <a:solidFill>
                      <a:srgbClr val="FFFFFF"/>
                    </a:solidFill>
                  </a:tcPr>
                </a:tc>
                <a:tc>
                  <a:txBody>
                    <a:bodyPr/>
                    <a:lstStyle/>
                    <a:p>
                      <a:r>
                        <a:rPr sz="900" b="0">
                          <a:solidFill>
                            <a:srgbClr val="1B1812"/>
                          </a:solidFill>
                          <a:latin typeface="Archivo"/>
                        </a:rPr>
                        <a:t>R3,000/seat/mo + R120 per work order</a:t>
                      </a:r>
                    </a:p>
                  </a:txBody>
                  <a:tcPr anchor="ctr" marT="25400" marB="25400">
                    <a:solidFill>
                      <a:srgbClr val="FFFFFF"/>
                    </a:solidFill>
                  </a:tcPr>
                </a:tc>
                <a:tc>
                  <a:txBody>
                    <a:bodyPr/>
                    <a:lstStyle/>
                    <a:p>
                      <a:r>
                        <a:rPr sz="900" b="0">
                          <a:solidFill>
                            <a:srgbClr val="1B1812"/>
                          </a:solidFill>
                          <a:latin typeface="Archivo"/>
                        </a:rPr>
                        <a:t>R0.3m–R1.5m/yr</a:t>
                      </a:r>
                    </a:p>
                  </a:txBody>
                  <a:tcPr anchor="ctr" marT="25400" marB="25400">
                    <a:solidFill>
                      <a:srgbClr val="FFFFFF"/>
                    </a:solidFill>
                  </a:tcPr>
                </a:tc>
              </a:tr>
              <a:tr h="381000">
                <a:tc>
                  <a:txBody>
                    <a:bodyPr/>
                    <a:lstStyle/>
                    <a:p>
                      <a:r>
                        <a:rPr sz="900" b="1">
                          <a:solidFill>
                            <a:srgbClr val="005358"/>
                          </a:solidFill>
                          <a:latin typeface="Archivo"/>
                        </a:rPr>
                        <a:t>Regulator</a:t>
                      </a:r>
                    </a:p>
                  </a:txBody>
                  <a:tcPr anchor="ctr" marT="25400" marB="25400">
                    <a:solidFill>
                      <a:srgbClr val="F5F3EF"/>
                    </a:solidFill>
                  </a:tcPr>
                </a:tc>
                <a:tc>
                  <a:txBody>
                    <a:bodyPr/>
                    <a:lstStyle/>
                    <a:p>
                      <a:r>
                        <a:rPr sz="900" b="0">
                          <a:solidFill>
                            <a:srgbClr val="1B1812"/>
                          </a:solidFill>
                          <a:latin typeface="Archivo"/>
                        </a:rPr>
                        <a:t>Value</a:t>
                      </a:r>
                    </a:p>
                  </a:txBody>
                  <a:tcPr anchor="ctr" marT="25400" marB="25400">
                    <a:solidFill>
                      <a:srgbClr val="F5F3EF"/>
                    </a:solidFill>
                  </a:tcPr>
                </a:tc>
                <a:tc>
                  <a:txBody>
                    <a:bodyPr/>
                    <a:lstStyle/>
                    <a:p>
                      <a:r>
                        <a:rPr sz="900" b="0">
                          <a:solidFill>
                            <a:srgbClr val="1B1812"/>
                          </a:solidFill>
                          <a:latin typeface="Archivo"/>
                        </a:rPr>
                        <a:t>R18,000 per certified export + R6,000/seat/mo</a:t>
                      </a:r>
                    </a:p>
                  </a:txBody>
                  <a:tcPr anchor="ctr" marT="25400" marB="25400">
                    <a:solidFill>
                      <a:srgbClr val="F5F3EF"/>
                    </a:solidFill>
                  </a:tcPr>
                </a:tc>
                <a:tc>
                  <a:txBody>
                    <a:bodyPr/>
                    <a:lstStyle/>
                    <a:p>
                      <a:r>
                        <a:rPr sz="900" b="0">
                          <a:solidFill>
                            <a:srgbClr val="1B1812"/>
                          </a:solidFill>
                          <a:latin typeface="Archivo"/>
                        </a:rPr>
                        <a:t>R2m–R9m/yr</a:t>
                      </a:r>
                    </a:p>
                  </a:txBody>
                  <a:tcPr anchor="ctr" marT="25400" marB="25400">
                    <a:solidFill>
                      <a:srgbClr val="F5F3EF"/>
                    </a:solidFill>
                  </a:tcPr>
                </a:tc>
              </a:tr>
              <a:tr h="381000">
                <a:tc>
                  <a:txBody>
                    <a:bodyPr/>
                    <a:lstStyle/>
                    <a:p>
                      <a:r>
                        <a:rPr sz="900" b="1">
                          <a:solidFill>
                            <a:srgbClr val="005358"/>
                          </a:solidFill>
                          <a:latin typeface="Archivo"/>
                        </a:rPr>
                        <a:t>Platform Admin</a:t>
                      </a:r>
                    </a:p>
                  </a:txBody>
                  <a:tcPr anchor="ctr" marT="25400" marB="25400">
                    <a:solidFill>
                      <a:srgbClr val="FFFFFF"/>
                    </a:solidFill>
                  </a:tcPr>
                </a:tc>
                <a:tc>
                  <a:txBody>
                    <a:bodyPr/>
                    <a:lstStyle/>
                    <a:p>
                      <a:r>
                        <a:rPr sz="900" b="0">
                          <a:solidFill>
                            <a:srgbClr val="1B1812"/>
                          </a:solidFill>
                          <a:latin typeface="Archivo"/>
                        </a:rPr>
                        <a:t>Seat</a:t>
                      </a:r>
                    </a:p>
                  </a:txBody>
                  <a:tcPr anchor="ctr" marT="25400" marB="25400">
                    <a:solidFill>
                      <a:srgbClr val="FFFFFF"/>
                    </a:solidFill>
                  </a:tcPr>
                </a:tc>
                <a:tc>
                  <a:txBody>
                    <a:bodyPr/>
                    <a:lstStyle/>
                    <a:p>
                      <a:r>
                        <a:rPr sz="900" b="0">
                          <a:solidFill>
                            <a:srgbClr val="1B1812"/>
                          </a:solidFill>
                          <a:latin typeface="Archivo"/>
                        </a:rPr>
                        <a:t>R3,500/seat/mo (bundled in account base fee)</a:t>
                      </a:r>
                    </a:p>
                  </a:txBody>
                  <a:tcPr anchor="ctr" marT="25400" marB="25400">
                    <a:solidFill>
                      <a:srgbClr val="FFFFFF"/>
                    </a:solidFill>
                  </a:tcPr>
                </a:tc>
                <a:tc>
                  <a:txBody>
                    <a:bodyPr/>
                    <a:lstStyle/>
                    <a:p>
                      <a:r>
                        <a:rPr sz="900" b="0">
                          <a:solidFill>
                            <a:srgbClr val="1B1812"/>
                          </a:solidFill>
                          <a:latin typeface="Archivo"/>
                        </a:rPr>
                        <a:t>R0.2m–R0.6m/yr</a:t>
                      </a:r>
                    </a:p>
                  </a:txBody>
                  <a:tcPr anchor="ctr" marT="25400" marB="25400">
                    <a:solidFill>
                      <a:srgbClr val="FFFFFF"/>
                    </a:solidFill>
                  </a:tcPr>
                </a:tc>
              </a:tr>
              <a:tr h="381000">
                <a:tc>
                  <a:txBody>
                    <a:bodyPr/>
                    <a:lstStyle/>
                    <a:p>
                      <a:r>
                        <a:rPr sz="900" b="1">
                          <a:solidFill>
                            <a:srgbClr val="005358"/>
                          </a:solidFill>
                          <a:latin typeface="Archivo"/>
                        </a:rPr>
                        <a:t>ESCO/O&amp;M</a:t>
                      </a:r>
                    </a:p>
                  </a:txBody>
                  <a:tcPr anchor="ctr" marT="25400" marB="25400">
                    <a:solidFill>
                      <a:srgbClr val="F5F3EF"/>
                    </a:solidFill>
                  </a:tcPr>
                </a:tc>
                <a:tc>
                  <a:txBody>
                    <a:bodyPr/>
                    <a:lstStyle/>
                    <a:p>
                      <a:r>
                        <a:rPr sz="900" b="0">
                          <a:solidFill>
                            <a:srgbClr val="1B1812"/>
                          </a:solidFill>
                          <a:latin typeface="Archivo"/>
                        </a:rPr>
                        <a:t>Transaction</a:t>
                      </a:r>
                    </a:p>
                  </a:txBody>
                  <a:tcPr anchor="ctr" marT="25400" marB="25400">
                    <a:solidFill>
                      <a:srgbClr val="F5F3EF"/>
                    </a:solidFill>
                  </a:tcPr>
                </a:tc>
                <a:tc>
                  <a:txBody>
                    <a:bodyPr/>
                    <a:lstStyle/>
                    <a:p>
                      <a:r>
                        <a:rPr sz="900" b="0">
                          <a:solidFill>
                            <a:srgbClr val="1B1812"/>
                          </a:solidFill>
                          <a:latin typeface="Archivo"/>
                        </a:rPr>
                        <a:t>R2,200 per active facility/mo</a:t>
                      </a:r>
                    </a:p>
                  </a:txBody>
                  <a:tcPr anchor="ctr" marT="25400" marB="25400">
                    <a:solidFill>
                      <a:srgbClr val="F5F3EF"/>
                    </a:solidFill>
                  </a:tcPr>
                </a:tc>
                <a:tc>
                  <a:txBody>
                    <a:bodyPr/>
                    <a:lstStyle/>
                    <a:p>
                      <a:r>
                        <a:rPr sz="900" b="0">
                          <a:solidFill>
                            <a:srgbClr val="1B1812"/>
                          </a:solidFill>
                          <a:latin typeface="Archivo"/>
                        </a:rPr>
                        <a:t>R0.4m–R2m/yr</a:t>
                      </a:r>
                    </a:p>
                  </a:txBody>
                  <a:tcPr anchor="ctr" marT="25400" marB="25400">
                    <a:solidFill>
                      <a:srgbClr val="F5F3EF"/>
                    </a:solidFill>
                  </a:tcPr>
                </a:tc>
              </a:tr>
              <a:tr h="381000">
                <a:tc>
                  <a:txBody>
                    <a:bodyPr/>
                    <a:lstStyle/>
                    <a:p>
                      <a:r>
                        <a:rPr sz="900" b="1">
                          <a:solidFill>
                            <a:srgbClr val="005358"/>
                          </a:solidFill>
                          <a:latin typeface="Archivo"/>
                        </a:rPr>
                        <a:t>EPC Contractor</a:t>
                      </a:r>
                    </a:p>
                  </a:txBody>
                  <a:tcPr anchor="ctr" marT="25400" marB="25400">
                    <a:solidFill>
                      <a:srgbClr val="FFFFFF"/>
                    </a:solidFill>
                  </a:tcPr>
                </a:tc>
                <a:tc>
                  <a:txBody>
                    <a:bodyPr/>
                    <a:lstStyle/>
                    <a:p>
                      <a:r>
                        <a:rPr sz="900" b="0">
                          <a:solidFill>
                            <a:srgbClr val="1B1812"/>
                          </a:solidFill>
                          <a:latin typeface="Archivo"/>
                        </a:rPr>
                        <a:t>Seat</a:t>
                      </a:r>
                    </a:p>
                  </a:txBody>
                  <a:tcPr anchor="ctr" marT="25400" marB="25400">
                    <a:solidFill>
                      <a:srgbClr val="FFFFFF"/>
                    </a:solidFill>
                  </a:tcPr>
                </a:tc>
                <a:tc>
                  <a:txBody>
                    <a:bodyPr/>
                    <a:lstStyle/>
                    <a:p>
                      <a:r>
                        <a:rPr sz="900" b="0">
                          <a:solidFill>
                            <a:srgbClr val="1B1812"/>
                          </a:solidFill>
                          <a:latin typeface="Archivo"/>
                        </a:rPr>
                        <a:t>R3,000/seat/mo + R9,500 per COD milestone</a:t>
                      </a:r>
                    </a:p>
                  </a:txBody>
                  <a:tcPr anchor="ctr" marT="25400" marB="25400">
                    <a:solidFill>
                      <a:srgbClr val="FFFFFF"/>
                    </a:solidFill>
                  </a:tcPr>
                </a:tc>
                <a:tc>
                  <a:txBody>
                    <a:bodyPr/>
                    <a:lstStyle/>
                    <a:p>
                      <a:r>
                        <a:rPr sz="900" b="0">
                          <a:solidFill>
                            <a:srgbClr val="1B1812"/>
                          </a:solidFill>
                          <a:latin typeface="Archivo"/>
                        </a:rPr>
                        <a:t>R0.3m–R1.2m/yr</a:t>
                      </a:r>
                    </a:p>
                  </a:txBody>
                  <a:tcPr anchor="ctr" marT="25400" marB="25400">
                    <a:solidFill>
                      <a:srgbClr val="FFFF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HOW BIG IS THIS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Market sizing — TAM / SAM / SOM</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548640" y="1554480"/>
            <a:ext cx="3566160" cy="100584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R6.8bn/yr (~US$370m)</a:t>
            </a:r>
          </a:p>
          <a:p>
            <a:pPr algn="ctr">
              <a:spcBef>
                <a:spcPts val="0"/>
              </a:spcBef>
              <a:spcAft>
                <a:spcPts val="0"/>
              </a:spcAft>
            </a:pPr>
            <a:r>
              <a:rPr sz="850" b="0">
                <a:solidFill>
                  <a:srgbClr val="504D46"/>
                </a:solidFill>
                <a:latin typeface="Archivo"/>
              </a:rPr>
              <a:t>TAM</a:t>
            </a:r>
          </a:p>
        </p:txBody>
      </p:sp>
      <p:sp>
        <p:nvSpPr>
          <p:cNvPr id="10" name="Rounded Rectangle 9"/>
          <p:cNvSpPr/>
          <p:nvPr/>
        </p:nvSpPr>
        <p:spPr>
          <a:xfrm>
            <a:off x="4343400" y="1554480"/>
            <a:ext cx="3566160" cy="100584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R1.9bn/yr (~US$105m)</a:t>
            </a:r>
          </a:p>
          <a:p>
            <a:pPr algn="ctr">
              <a:spcBef>
                <a:spcPts val="0"/>
              </a:spcBef>
              <a:spcAft>
                <a:spcPts val="0"/>
              </a:spcAft>
            </a:pPr>
            <a:r>
              <a:rPr sz="850" b="0">
                <a:solidFill>
                  <a:srgbClr val="504D46"/>
                </a:solidFill>
                <a:latin typeface="Archivo"/>
              </a:rPr>
              <a:t>SAM</a:t>
            </a:r>
          </a:p>
        </p:txBody>
      </p:sp>
      <p:sp>
        <p:nvSpPr>
          <p:cNvPr id="11" name="Rounded Rectangle 10"/>
          <p:cNvSpPr/>
          <p:nvPr/>
        </p:nvSpPr>
        <p:spPr>
          <a:xfrm>
            <a:off x="8138160" y="1554480"/>
            <a:ext cx="3566160" cy="100584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R310m/yr</a:t>
            </a:r>
          </a:p>
          <a:p>
            <a:pPr algn="ctr">
              <a:spcBef>
                <a:spcPts val="0"/>
              </a:spcBef>
              <a:spcAft>
                <a:spcPts val="0"/>
              </a:spcAft>
            </a:pPr>
            <a:r>
              <a:rPr sz="850" b="0">
                <a:solidFill>
                  <a:srgbClr val="504D46"/>
                </a:solidFill>
                <a:latin typeface="Archivo"/>
              </a:rPr>
              <a:t>SOM (Yr-3)</a:t>
            </a:r>
          </a:p>
        </p:txBody>
      </p:sp>
      <p:sp>
        <p:nvSpPr>
          <p:cNvPr id="12" name="TextBox 11"/>
          <p:cNvSpPr txBox="1"/>
          <p:nvPr/>
        </p:nvSpPr>
        <p:spPr>
          <a:xfrm>
            <a:off x="548640" y="2834640"/>
            <a:ext cx="11064240" cy="1005840"/>
          </a:xfrm>
          <a:prstGeom prst="rect">
            <a:avLst/>
          </a:prstGeom>
          <a:noFill/>
        </p:spPr>
        <p:txBody>
          <a:bodyPr wrap="square" anchor="t" lIns="25400" rIns="25400" tIns="25400" bIns="25400">
            <a:spAutoFit/>
          </a:bodyPr>
          <a:lstStyle/>
          <a:p>
            <a:pPr algn="l">
              <a:spcBef>
                <a:spcPts val="0"/>
              </a:spcBef>
              <a:spcAft>
                <a:spcPts val="300"/>
              </a:spcAft>
            </a:pPr>
            <a:r>
              <a:rPr sz="1150" b="1">
                <a:solidFill>
                  <a:srgbClr val="D18E35"/>
                </a:solidFill>
                <a:latin typeface="Archivo"/>
              </a:rPr>
              <a:t>TAM — </a:t>
            </a:r>
            <a:r>
              <a:rPr sz="1150" b="1">
                <a:solidFill>
                  <a:srgbClr val="005358"/>
                </a:solidFill>
                <a:latin typeface="Archivo"/>
              </a:rPr>
              <a:t>R6.8bn/yr (~US$370m):  </a:t>
            </a:r>
            <a:r>
              <a:rPr sz="1050" b="0">
                <a:solidFill>
                  <a:srgbClr val="1B1812"/>
                </a:solidFill>
                <a:latin typeface="Archivo"/>
              </a:rPr>
              <a:t>SA power sector software/transaction-services wallet: ~50–60 GW installed + rapidly growing private/embedded generation; addressable digital spend across trading, settlement, carbon, IPP lifecycle, grid, lending and O&amp;M estimated at ~0.4–0.6% of the ~R1.1–1.4tn/yr energy transaction value plus assurance/compliance spend.</a:t>
            </a:r>
          </a:p>
        </p:txBody>
      </p:sp>
      <p:sp>
        <p:nvSpPr>
          <p:cNvPr id="13" name="TextBox 12"/>
          <p:cNvSpPr txBox="1"/>
          <p:nvPr/>
        </p:nvSpPr>
        <p:spPr>
          <a:xfrm>
            <a:off x="548640" y="3977640"/>
            <a:ext cx="11064240" cy="1005840"/>
          </a:xfrm>
          <a:prstGeom prst="rect">
            <a:avLst/>
          </a:prstGeom>
          <a:noFill/>
        </p:spPr>
        <p:txBody>
          <a:bodyPr wrap="square" anchor="t" lIns="25400" rIns="25400" tIns="25400" bIns="25400">
            <a:spAutoFit/>
          </a:bodyPr>
          <a:lstStyle/>
          <a:p>
            <a:pPr algn="l">
              <a:spcBef>
                <a:spcPts val="0"/>
              </a:spcBef>
              <a:spcAft>
                <a:spcPts val="300"/>
              </a:spcAft>
            </a:pPr>
            <a:r>
              <a:rPr sz="1150" b="1">
                <a:solidFill>
                  <a:srgbClr val="D18E35"/>
                </a:solidFill>
                <a:latin typeface="Archivo"/>
              </a:rPr>
              <a:t>SAM — </a:t>
            </a:r>
            <a:r>
              <a:rPr sz="1150" b="1">
                <a:solidFill>
                  <a:srgbClr val="005358"/>
                </a:solidFill>
                <a:latin typeface="Archivo"/>
              </a:rPr>
              <a:t>R1.9bn/yr (~US$105m):  </a:t>
            </a:r>
            <a:r>
              <a:rPr sz="1050" b="0">
                <a:solidFill>
                  <a:srgbClr val="1B1812"/>
                </a:solidFill>
                <a:latin typeface="Archivo"/>
              </a:rPr>
              <a:t>The slice CEC can serve today: ~250 active IPPs/traders/funds, ~50 lenders/offtakers of scale, NERSA + grid operators, and the emerging 100MW-threshold C&amp;I generator cohort transacting on wheeling/PPA/carbon — i.e. the multi-role transacting population, excluding sub-scale generators and non-digitising incumbents.</a:t>
            </a:r>
          </a:p>
        </p:txBody>
      </p:sp>
      <p:sp>
        <p:nvSpPr>
          <p:cNvPr id="14" name="TextBox 13"/>
          <p:cNvSpPr txBox="1"/>
          <p:nvPr/>
        </p:nvSpPr>
        <p:spPr>
          <a:xfrm>
            <a:off x="548640" y="5120640"/>
            <a:ext cx="11064240" cy="1005840"/>
          </a:xfrm>
          <a:prstGeom prst="rect">
            <a:avLst/>
          </a:prstGeom>
          <a:noFill/>
        </p:spPr>
        <p:txBody>
          <a:bodyPr wrap="square" anchor="t" lIns="25400" rIns="25400" tIns="25400" bIns="25400">
            <a:spAutoFit/>
          </a:bodyPr>
          <a:lstStyle/>
          <a:p>
            <a:pPr algn="l">
              <a:spcBef>
                <a:spcPts val="0"/>
              </a:spcBef>
              <a:spcAft>
                <a:spcPts val="300"/>
              </a:spcAft>
            </a:pPr>
            <a:r>
              <a:rPr sz="1150" b="1">
                <a:solidFill>
                  <a:srgbClr val="D18E35"/>
                </a:solidFill>
                <a:latin typeface="Archivo"/>
              </a:rPr>
              <a:t>SOM (Yr-3) — </a:t>
            </a:r>
            <a:r>
              <a:rPr sz="1150" b="1">
                <a:solidFill>
                  <a:srgbClr val="005358"/>
                </a:solidFill>
                <a:latin typeface="Archivo"/>
              </a:rPr>
              <a:t>R310m/yr:  </a:t>
            </a:r>
            <a:r>
              <a:rPr sz="1050" b="0">
                <a:solidFill>
                  <a:srgbClr val="1B1812"/>
                </a:solidFill>
                <a:latin typeface="Archivo"/>
              </a:rPr>
              <a:t>Bottom-up: ~330 accounts × ~R0.94m blended ACV by Y3 — roughly 16% of SAM, consistent with a 3-year land-and-expand motion anchored on trading + settlement + IPP families first.</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ILLUSTRATIVE — MODEL ASSUMPTIONS</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3-year revenue projection</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0881360" cy="1719072"/>
        </p:xfrm>
        <a:graphic>
          <a:graphicData uri="http://schemas.openxmlformats.org/drawingml/2006/table">
            <a:tbl>
              <a:tblPr firstRow="1" bandRow="1">
                <a:tableStyleId>{5C22544A-7EE6-4342-B048-85BDC9FD1C3A}</a:tableStyleId>
              </a:tblPr>
              <a:tblGrid>
                <a:gridCol w="1097280"/>
                <a:gridCol w="1188720"/>
                <a:gridCol w="1280160"/>
                <a:gridCol w="1828800"/>
                <a:gridCol w="1828800"/>
                <a:gridCol w="1828800"/>
                <a:gridCol w="1828800"/>
              </a:tblGrid>
              <a:tr h="429768">
                <a:tc>
                  <a:txBody>
                    <a:bodyPr/>
                    <a:lstStyle/>
                    <a:p>
                      <a:r>
                        <a:rPr sz="1050" b="1">
                          <a:solidFill>
                            <a:srgbClr val="FFFFFF"/>
                          </a:solidFill>
                          <a:latin typeface="Archivo"/>
                        </a:rPr>
                        <a:t>Year</a:t>
                      </a:r>
                    </a:p>
                  </a:txBody>
                  <a:tcPr anchor="ctr">
                    <a:solidFill>
                      <a:srgbClr val="005358"/>
                    </a:solidFill>
                  </a:tcPr>
                </a:tc>
                <a:tc>
                  <a:txBody>
                    <a:bodyPr/>
                    <a:lstStyle/>
                    <a:p>
                      <a:r>
                        <a:rPr sz="1050" b="1">
                          <a:solidFill>
                            <a:srgbClr val="FFFFFF"/>
                          </a:solidFill>
                          <a:latin typeface="Archivo"/>
                        </a:rPr>
                        <a:t>Accts</a:t>
                      </a:r>
                    </a:p>
                  </a:txBody>
                  <a:tcPr anchor="ctr">
                    <a:solidFill>
                      <a:srgbClr val="005358"/>
                    </a:solidFill>
                  </a:tcPr>
                </a:tc>
                <a:tc>
                  <a:txBody>
                    <a:bodyPr/>
                    <a:lstStyle/>
                    <a:p>
                      <a:r>
                        <a:rPr sz="1050" b="1">
                          <a:solidFill>
                            <a:srgbClr val="FFFFFF"/>
                          </a:solidFill>
                          <a:latin typeface="Archivo"/>
                        </a:rPr>
                        <a:t>Seats</a:t>
                      </a:r>
                    </a:p>
                  </a:txBody>
                  <a:tcPr anchor="ctr">
                    <a:solidFill>
                      <a:srgbClr val="005358"/>
                    </a:solidFill>
                  </a:tcPr>
                </a:tc>
                <a:tc>
                  <a:txBody>
                    <a:bodyPr/>
                    <a:lstStyle/>
                    <a:p>
                      <a:r>
                        <a:rPr sz="1050" b="1">
                          <a:solidFill>
                            <a:srgbClr val="FFFFFF"/>
                          </a:solidFill>
                          <a:latin typeface="Archivo"/>
                        </a:rPr>
                        <a:t>Seat rev</a:t>
                      </a:r>
                    </a:p>
                  </a:txBody>
                  <a:tcPr anchor="ctr">
                    <a:solidFill>
                      <a:srgbClr val="005358"/>
                    </a:solidFill>
                  </a:tcPr>
                </a:tc>
                <a:tc>
                  <a:txBody>
                    <a:bodyPr/>
                    <a:lstStyle/>
                    <a:p>
                      <a:r>
                        <a:rPr sz="1050" b="1">
                          <a:solidFill>
                            <a:srgbClr val="FFFFFF"/>
                          </a:solidFill>
                          <a:latin typeface="Archivo"/>
                        </a:rPr>
                        <a:t>Txn rev</a:t>
                      </a:r>
                    </a:p>
                  </a:txBody>
                  <a:tcPr anchor="ctr">
                    <a:solidFill>
                      <a:srgbClr val="005358"/>
                    </a:solidFill>
                  </a:tcPr>
                </a:tc>
                <a:tc>
                  <a:txBody>
                    <a:bodyPr/>
                    <a:lstStyle/>
                    <a:p>
                      <a:r>
                        <a:rPr sz="1050" b="1">
                          <a:solidFill>
                            <a:srgbClr val="FFFFFF"/>
                          </a:solidFill>
                          <a:latin typeface="Archivo"/>
                        </a:rPr>
                        <a:t>Value rev</a:t>
                      </a:r>
                    </a:p>
                  </a:txBody>
                  <a:tcPr anchor="ctr">
                    <a:solidFill>
                      <a:srgbClr val="005358"/>
                    </a:solidFill>
                  </a:tcPr>
                </a:tc>
                <a:tc>
                  <a:txBody>
                    <a:bodyPr/>
                    <a:lstStyle/>
                    <a:p>
                      <a:r>
                        <a:rPr sz="1050" b="1">
                          <a:solidFill>
                            <a:srgbClr val="FFFFFF"/>
                          </a:solidFill>
                          <a:latin typeface="Archivo"/>
                        </a:rPr>
                        <a:t>Total</a:t>
                      </a:r>
                    </a:p>
                  </a:txBody>
                  <a:tcPr anchor="ctr">
                    <a:solidFill>
                      <a:srgbClr val="005358"/>
                    </a:solidFill>
                  </a:tcPr>
                </a:tc>
              </a:tr>
              <a:tr h="429768">
                <a:tc>
                  <a:txBody>
                    <a:bodyPr/>
                    <a:lstStyle/>
                    <a:p>
                      <a:r>
                        <a:rPr sz="1000" b="1">
                          <a:solidFill>
                            <a:srgbClr val="005358"/>
                          </a:solidFill>
                          <a:latin typeface="Archivo"/>
                        </a:rPr>
                        <a:t>Y1</a:t>
                      </a:r>
                    </a:p>
                  </a:txBody>
                  <a:tcPr anchor="ctr" marT="25400" marB="25400">
                    <a:solidFill>
                      <a:srgbClr val="FFFFFF"/>
                    </a:solidFill>
                  </a:tcPr>
                </a:tc>
                <a:tc>
                  <a:txBody>
                    <a:bodyPr/>
                    <a:lstStyle/>
                    <a:p>
                      <a:r>
                        <a:rPr sz="1000" b="0">
                          <a:solidFill>
                            <a:srgbClr val="1B1812"/>
                          </a:solidFill>
                          <a:latin typeface="Archivo"/>
                        </a:rPr>
                        <a:t>55</a:t>
                      </a:r>
                    </a:p>
                  </a:txBody>
                  <a:tcPr anchor="ctr" marT="25400" marB="25400">
                    <a:solidFill>
                      <a:srgbClr val="FFFFFF"/>
                    </a:solidFill>
                  </a:tcPr>
                </a:tc>
                <a:tc>
                  <a:txBody>
                    <a:bodyPr/>
                    <a:lstStyle/>
                    <a:p>
                      <a:r>
                        <a:rPr sz="1000" b="0">
                          <a:solidFill>
                            <a:srgbClr val="1B1812"/>
                          </a:solidFill>
                          <a:latin typeface="Archivo"/>
                        </a:rPr>
                        <a:t>620</a:t>
                      </a:r>
                    </a:p>
                  </a:txBody>
                  <a:tcPr anchor="ctr" marT="25400" marB="25400">
                    <a:solidFill>
                      <a:srgbClr val="FFFFFF"/>
                    </a:solidFill>
                  </a:tcPr>
                </a:tc>
                <a:tc>
                  <a:txBody>
                    <a:bodyPr/>
                    <a:lstStyle/>
                    <a:p>
                      <a:r>
                        <a:rPr sz="1000" b="0">
                          <a:solidFill>
                            <a:srgbClr val="1B1812"/>
                          </a:solidFill>
                          <a:latin typeface="Archivo"/>
                        </a:rPr>
                        <a:t>R26.0m</a:t>
                      </a:r>
                    </a:p>
                  </a:txBody>
                  <a:tcPr anchor="ctr" marT="25400" marB="25400">
                    <a:solidFill>
                      <a:srgbClr val="FFFFFF"/>
                    </a:solidFill>
                  </a:tcPr>
                </a:tc>
                <a:tc>
                  <a:txBody>
                    <a:bodyPr/>
                    <a:lstStyle/>
                    <a:p>
                      <a:r>
                        <a:rPr sz="1000" b="0">
                          <a:solidFill>
                            <a:srgbClr val="1B1812"/>
                          </a:solidFill>
                          <a:latin typeface="Archivo"/>
                        </a:rPr>
                        <a:t>R28.0m</a:t>
                      </a:r>
                    </a:p>
                  </a:txBody>
                  <a:tcPr anchor="ctr" marT="25400" marB="25400">
                    <a:solidFill>
                      <a:srgbClr val="FFFFFF"/>
                    </a:solidFill>
                  </a:tcPr>
                </a:tc>
                <a:tc>
                  <a:txBody>
                    <a:bodyPr/>
                    <a:lstStyle/>
                    <a:p>
                      <a:r>
                        <a:rPr sz="1000" b="0">
                          <a:solidFill>
                            <a:srgbClr val="1B1812"/>
                          </a:solidFill>
                          <a:latin typeface="Archivo"/>
                        </a:rPr>
                        <a:t>R9.0m</a:t>
                      </a:r>
                    </a:p>
                  </a:txBody>
                  <a:tcPr anchor="ctr" marT="25400" marB="25400">
                    <a:solidFill>
                      <a:srgbClr val="FFFFFF"/>
                    </a:solidFill>
                  </a:tcPr>
                </a:tc>
                <a:tc>
                  <a:txBody>
                    <a:bodyPr/>
                    <a:lstStyle/>
                    <a:p>
                      <a:r>
                        <a:rPr sz="1000" b="0">
                          <a:solidFill>
                            <a:srgbClr val="1B1812"/>
                          </a:solidFill>
                          <a:latin typeface="Archivo"/>
                        </a:rPr>
                        <a:t>R63.0m</a:t>
                      </a:r>
                    </a:p>
                  </a:txBody>
                  <a:tcPr anchor="ctr" marT="25400" marB="25400">
                    <a:solidFill>
                      <a:srgbClr val="FFFFFF"/>
                    </a:solidFill>
                  </a:tcPr>
                </a:tc>
              </a:tr>
              <a:tr h="429768">
                <a:tc>
                  <a:txBody>
                    <a:bodyPr/>
                    <a:lstStyle/>
                    <a:p>
                      <a:r>
                        <a:rPr sz="1000" b="1">
                          <a:solidFill>
                            <a:srgbClr val="005358"/>
                          </a:solidFill>
                          <a:latin typeface="Archivo"/>
                        </a:rPr>
                        <a:t>Y2</a:t>
                      </a:r>
                    </a:p>
                  </a:txBody>
                  <a:tcPr anchor="ctr" marT="25400" marB="25400">
                    <a:solidFill>
                      <a:srgbClr val="F5F3EF"/>
                    </a:solidFill>
                  </a:tcPr>
                </a:tc>
                <a:tc>
                  <a:txBody>
                    <a:bodyPr/>
                    <a:lstStyle/>
                    <a:p>
                      <a:r>
                        <a:rPr sz="1000" b="0">
                          <a:solidFill>
                            <a:srgbClr val="1B1812"/>
                          </a:solidFill>
                          <a:latin typeface="Archivo"/>
                        </a:rPr>
                        <a:t>170</a:t>
                      </a:r>
                    </a:p>
                  </a:txBody>
                  <a:tcPr anchor="ctr" marT="25400" marB="25400">
                    <a:solidFill>
                      <a:srgbClr val="F5F3EF"/>
                    </a:solidFill>
                  </a:tcPr>
                </a:tc>
                <a:tc>
                  <a:txBody>
                    <a:bodyPr/>
                    <a:lstStyle/>
                    <a:p>
                      <a:r>
                        <a:rPr sz="1000" b="0">
                          <a:solidFill>
                            <a:srgbClr val="1B1812"/>
                          </a:solidFill>
                          <a:latin typeface="Archivo"/>
                        </a:rPr>
                        <a:t>2,300</a:t>
                      </a:r>
                    </a:p>
                  </a:txBody>
                  <a:tcPr anchor="ctr" marT="25400" marB="25400">
                    <a:solidFill>
                      <a:srgbClr val="F5F3EF"/>
                    </a:solidFill>
                  </a:tcPr>
                </a:tc>
                <a:tc>
                  <a:txBody>
                    <a:bodyPr/>
                    <a:lstStyle/>
                    <a:p>
                      <a:r>
                        <a:rPr sz="1000" b="0">
                          <a:solidFill>
                            <a:srgbClr val="1B1812"/>
                          </a:solidFill>
                          <a:latin typeface="Archivo"/>
                        </a:rPr>
                        <a:t>R56.0m</a:t>
                      </a:r>
                    </a:p>
                  </a:txBody>
                  <a:tcPr anchor="ctr" marT="25400" marB="25400">
                    <a:solidFill>
                      <a:srgbClr val="F5F3EF"/>
                    </a:solidFill>
                  </a:tcPr>
                </a:tc>
                <a:tc>
                  <a:txBody>
                    <a:bodyPr/>
                    <a:lstStyle/>
                    <a:p>
                      <a:r>
                        <a:rPr sz="1000" b="0">
                          <a:solidFill>
                            <a:srgbClr val="1B1812"/>
                          </a:solidFill>
                          <a:latin typeface="Archivo"/>
                        </a:rPr>
                        <a:t>R84.0m</a:t>
                      </a:r>
                    </a:p>
                  </a:txBody>
                  <a:tcPr anchor="ctr" marT="25400" marB="25400">
                    <a:solidFill>
                      <a:srgbClr val="F5F3EF"/>
                    </a:solidFill>
                  </a:tcPr>
                </a:tc>
                <a:tc>
                  <a:txBody>
                    <a:bodyPr/>
                    <a:lstStyle/>
                    <a:p>
                      <a:r>
                        <a:rPr sz="1000" b="0">
                          <a:solidFill>
                            <a:srgbClr val="1B1812"/>
                          </a:solidFill>
                          <a:latin typeface="Archivo"/>
                        </a:rPr>
                        <a:t>R32.0m</a:t>
                      </a:r>
                    </a:p>
                  </a:txBody>
                  <a:tcPr anchor="ctr" marT="25400" marB="25400">
                    <a:solidFill>
                      <a:srgbClr val="F5F3EF"/>
                    </a:solidFill>
                  </a:tcPr>
                </a:tc>
                <a:tc>
                  <a:txBody>
                    <a:bodyPr/>
                    <a:lstStyle/>
                    <a:p>
                      <a:r>
                        <a:rPr sz="1000" b="0">
                          <a:solidFill>
                            <a:srgbClr val="1B1812"/>
                          </a:solidFill>
                          <a:latin typeface="Archivo"/>
                        </a:rPr>
                        <a:t>R172.0m</a:t>
                      </a:r>
                    </a:p>
                  </a:txBody>
                  <a:tcPr anchor="ctr" marT="25400" marB="25400">
                    <a:solidFill>
                      <a:srgbClr val="F5F3EF"/>
                    </a:solidFill>
                  </a:tcPr>
                </a:tc>
              </a:tr>
              <a:tr h="429768">
                <a:tc>
                  <a:txBody>
                    <a:bodyPr/>
                    <a:lstStyle/>
                    <a:p>
                      <a:r>
                        <a:rPr sz="1000" b="1">
                          <a:solidFill>
                            <a:srgbClr val="005358"/>
                          </a:solidFill>
                          <a:latin typeface="Archivo"/>
                        </a:rPr>
                        <a:t>Y3</a:t>
                      </a:r>
                    </a:p>
                  </a:txBody>
                  <a:tcPr anchor="ctr" marT="25400" marB="25400">
                    <a:solidFill>
                      <a:srgbClr val="FFFFFF"/>
                    </a:solidFill>
                  </a:tcPr>
                </a:tc>
                <a:tc>
                  <a:txBody>
                    <a:bodyPr/>
                    <a:lstStyle/>
                    <a:p>
                      <a:r>
                        <a:rPr sz="1000" b="0">
                          <a:solidFill>
                            <a:srgbClr val="1B1812"/>
                          </a:solidFill>
                          <a:latin typeface="Archivo"/>
                        </a:rPr>
                        <a:t>330</a:t>
                      </a:r>
                    </a:p>
                  </a:txBody>
                  <a:tcPr anchor="ctr" marT="25400" marB="25400">
                    <a:solidFill>
                      <a:srgbClr val="FFFFFF"/>
                    </a:solidFill>
                  </a:tcPr>
                </a:tc>
                <a:tc>
                  <a:txBody>
                    <a:bodyPr/>
                    <a:lstStyle/>
                    <a:p>
                      <a:r>
                        <a:rPr sz="1000" b="0">
                          <a:solidFill>
                            <a:srgbClr val="1B1812"/>
                          </a:solidFill>
                          <a:latin typeface="Archivo"/>
                        </a:rPr>
                        <a:t>4,400</a:t>
                      </a:r>
                    </a:p>
                  </a:txBody>
                  <a:tcPr anchor="ctr" marT="25400" marB="25400">
                    <a:solidFill>
                      <a:srgbClr val="FFFFFF"/>
                    </a:solidFill>
                  </a:tcPr>
                </a:tc>
                <a:tc>
                  <a:txBody>
                    <a:bodyPr/>
                    <a:lstStyle/>
                    <a:p>
                      <a:r>
                        <a:rPr sz="1000" b="0">
                          <a:solidFill>
                            <a:srgbClr val="1B1812"/>
                          </a:solidFill>
                          <a:latin typeface="Archivo"/>
                        </a:rPr>
                        <a:t>R99.2m</a:t>
                      </a:r>
                    </a:p>
                  </a:txBody>
                  <a:tcPr anchor="ctr" marT="25400" marB="25400">
                    <a:solidFill>
                      <a:srgbClr val="FFFFFF"/>
                    </a:solidFill>
                  </a:tcPr>
                </a:tc>
                <a:tc>
                  <a:txBody>
                    <a:bodyPr/>
                    <a:lstStyle/>
                    <a:p>
                      <a:r>
                        <a:rPr sz="1000" b="0">
                          <a:solidFill>
                            <a:srgbClr val="1B1812"/>
                          </a:solidFill>
                          <a:latin typeface="Archivo"/>
                        </a:rPr>
                        <a:t>R148.8m</a:t>
                      </a:r>
                    </a:p>
                  </a:txBody>
                  <a:tcPr anchor="ctr" marT="25400" marB="25400">
                    <a:solidFill>
                      <a:srgbClr val="FFFFFF"/>
                    </a:solidFill>
                  </a:tcPr>
                </a:tc>
                <a:tc>
                  <a:txBody>
                    <a:bodyPr/>
                    <a:lstStyle/>
                    <a:p>
                      <a:r>
                        <a:rPr sz="1000" b="0">
                          <a:solidFill>
                            <a:srgbClr val="1B1812"/>
                          </a:solidFill>
                          <a:latin typeface="Archivo"/>
                        </a:rPr>
                        <a:t>R62.0m</a:t>
                      </a:r>
                    </a:p>
                  </a:txBody>
                  <a:tcPr anchor="ctr" marT="25400" marB="25400">
                    <a:solidFill>
                      <a:srgbClr val="FFFFFF"/>
                    </a:solidFill>
                  </a:tcPr>
                </a:tc>
                <a:tc>
                  <a:txBody>
                    <a:bodyPr/>
                    <a:lstStyle/>
                    <a:p>
                      <a:r>
                        <a:rPr sz="1000" b="0">
                          <a:solidFill>
                            <a:srgbClr val="1B1812"/>
                          </a:solidFill>
                          <a:latin typeface="Archivo"/>
                        </a:rPr>
                        <a:t>R310.0m</a:t>
                      </a:r>
                    </a:p>
                  </a:txBody>
                  <a:tcPr anchor="ctr" marT="25400" marB="25400">
                    <a:solidFill>
                      <a:srgbClr val="FFFFFF"/>
                    </a:solidFill>
                  </a:tcPr>
                </a:tc>
              </a:tr>
            </a:tbl>
          </a:graphicData>
        </a:graphic>
      </p:graphicFrame>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PER-ACCOUNT EFFICIENCY</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Unit economics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Rounded Rectangle 8"/>
          <p:cNvSpPr/>
          <p:nvPr/>
        </p:nvSpPr>
        <p:spPr>
          <a:xfrm>
            <a:off x="548640" y="1645920"/>
            <a:ext cx="2103120" cy="109728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R940,000</a:t>
            </a:r>
          </a:p>
          <a:p>
            <a:pPr algn="ctr">
              <a:spcBef>
                <a:spcPts val="0"/>
              </a:spcBef>
              <a:spcAft>
                <a:spcPts val="0"/>
              </a:spcAft>
            </a:pPr>
            <a:r>
              <a:rPr sz="850" b="0">
                <a:solidFill>
                  <a:srgbClr val="504D46"/>
                </a:solidFill>
                <a:latin typeface="Archivo"/>
              </a:rPr>
              <a:t>Avg ACV</a:t>
            </a:r>
          </a:p>
        </p:txBody>
      </p:sp>
      <p:sp>
        <p:nvSpPr>
          <p:cNvPr id="10" name="Rounded Rectangle 9"/>
          <p:cNvSpPr/>
          <p:nvPr/>
        </p:nvSpPr>
        <p:spPr>
          <a:xfrm>
            <a:off x="2788920" y="1645920"/>
            <a:ext cx="2103120" cy="109728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R420,000</a:t>
            </a:r>
          </a:p>
          <a:p>
            <a:pPr algn="ctr">
              <a:spcBef>
                <a:spcPts val="0"/>
              </a:spcBef>
              <a:spcAft>
                <a:spcPts val="0"/>
              </a:spcAft>
            </a:pPr>
            <a:r>
              <a:rPr sz="850" b="0">
                <a:solidFill>
                  <a:srgbClr val="504D46"/>
                </a:solidFill>
                <a:latin typeface="Archivo"/>
              </a:rPr>
              <a:t>CAC</a:t>
            </a:r>
          </a:p>
        </p:txBody>
      </p:sp>
      <p:sp>
        <p:nvSpPr>
          <p:cNvPr id="11" name="Rounded Rectangle 10"/>
          <p:cNvSpPr/>
          <p:nvPr/>
        </p:nvSpPr>
        <p:spPr>
          <a:xfrm>
            <a:off x="5029200" y="1645920"/>
            <a:ext cx="2103120" cy="109728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11 mo</a:t>
            </a:r>
          </a:p>
          <a:p>
            <a:pPr algn="ctr">
              <a:spcBef>
                <a:spcPts val="0"/>
              </a:spcBef>
              <a:spcAft>
                <a:spcPts val="0"/>
              </a:spcAft>
            </a:pPr>
            <a:r>
              <a:rPr sz="850" b="0">
                <a:solidFill>
                  <a:srgbClr val="504D46"/>
                </a:solidFill>
                <a:latin typeface="Archivo"/>
              </a:rPr>
              <a:t>CAC payback</a:t>
            </a:r>
          </a:p>
        </p:txBody>
      </p:sp>
      <p:sp>
        <p:nvSpPr>
          <p:cNvPr id="12" name="Rounded Rectangle 11"/>
          <p:cNvSpPr/>
          <p:nvPr/>
        </p:nvSpPr>
        <p:spPr>
          <a:xfrm>
            <a:off x="7269480" y="1645920"/>
            <a:ext cx="2103120" cy="1097280"/>
          </a:xfrm>
          <a:prstGeom prst="roundRect">
            <a:avLst/>
          </a:prstGeom>
          <a:solidFill>
            <a:srgbClr val="D18E35"/>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005358"/>
                </a:solidFill>
                <a:latin typeface="Archivo"/>
              </a:rPr>
              <a:t>5.8x</a:t>
            </a:r>
          </a:p>
          <a:p>
            <a:pPr algn="ctr">
              <a:spcBef>
                <a:spcPts val="0"/>
              </a:spcBef>
              <a:spcAft>
                <a:spcPts val="0"/>
              </a:spcAft>
            </a:pPr>
            <a:r>
              <a:rPr sz="850" b="0">
                <a:solidFill>
                  <a:srgbClr val="504D46"/>
                </a:solidFill>
                <a:latin typeface="Archivo"/>
              </a:rPr>
              <a:t>LTV : CAC</a:t>
            </a:r>
          </a:p>
        </p:txBody>
      </p:sp>
      <p:sp>
        <p:nvSpPr>
          <p:cNvPr id="13" name="Rounded Rectangle 12"/>
          <p:cNvSpPr/>
          <p:nvPr/>
        </p:nvSpPr>
        <p:spPr>
          <a:xfrm>
            <a:off x="9509760" y="1645920"/>
            <a:ext cx="2103120" cy="1097280"/>
          </a:xfrm>
          <a:prstGeom prst="roundRect">
            <a:avLst/>
          </a:prstGeom>
          <a:solidFill>
            <a:srgbClr val="005358"/>
          </a:solidFill>
          <a:ln w="12700">
            <a:solidFill>
              <a:srgbClr val="D18E35"/>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150" b="1">
                <a:solidFill>
                  <a:srgbClr val="FFFFFF"/>
                </a:solidFill>
                <a:latin typeface="Archivo"/>
              </a:rPr>
              <a:t>128% net revenue retention (seat expansion + rising metered journey volume + L5 upsell, net of churn)</a:t>
            </a:r>
          </a:p>
          <a:p>
            <a:pPr algn="ctr">
              <a:spcBef>
                <a:spcPts val="0"/>
              </a:spcBef>
              <a:spcAft>
                <a:spcPts val="0"/>
              </a:spcAft>
            </a:pPr>
            <a:r>
              <a:rPr sz="850" b="0">
                <a:solidFill>
                  <a:srgbClr val="504D46"/>
                </a:solidFill>
                <a:latin typeface="Archivo"/>
              </a:rPr>
              <a:t>Net rev retention</a:t>
            </a:r>
          </a:p>
        </p:txBody>
      </p:sp>
      <p:sp>
        <p:nvSpPr>
          <p:cNvPr id="14" name="TextBox 13"/>
          <p:cNvSpPr txBox="1"/>
          <p:nvPr/>
        </p:nvSpPr>
        <p:spPr>
          <a:xfrm>
            <a:off x="548640" y="3108960"/>
            <a:ext cx="1106424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GROSS MARGIN</a:t>
            </a:r>
          </a:p>
        </p:txBody>
      </p:sp>
      <p:sp>
        <p:nvSpPr>
          <p:cNvPr id="15" name="TextBox 14"/>
          <p:cNvSpPr txBox="1"/>
          <p:nvPr/>
        </p:nvSpPr>
        <p:spPr>
          <a:xfrm>
            <a:off x="548640" y="3429000"/>
            <a:ext cx="11064240" cy="822960"/>
          </a:xfrm>
          <a:prstGeom prst="rect">
            <a:avLst/>
          </a:prstGeom>
          <a:noFill/>
        </p:spPr>
        <p:txBody>
          <a:bodyPr wrap="square" anchor="t" lIns="25400" rIns="25400" tIns="25400" bIns="25400">
            <a:spAutoFit/>
          </a:bodyPr>
          <a:lstStyle/>
          <a:p>
            <a:pPr algn="l">
              <a:spcBef>
                <a:spcPts val="0"/>
              </a:spcBef>
              <a:spcAft>
                <a:spcPts val="400"/>
              </a:spcAft>
            </a:pPr>
            <a:r>
              <a:rPr sz="1250" b="0">
                <a:solidFill>
                  <a:srgbClr val="1B1812"/>
                </a:solidFill>
                <a:latin typeface="Archivo"/>
              </a:rPr>
              <a:t>84% (cloud-native single Cloudflare Worker + D1/DO; near-zero marginal infra per journey; assumption excludes Workers AI inference at scale)</a:t>
            </a:r>
          </a:p>
        </p:txBody>
      </p:sp>
      <p:sp>
        <p:nvSpPr>
          <p:cNvPr id="16" name="TextBox 15"/>
          <p:cNvSpPr txBox="1"/>
          <p:nvPr/>
        </p:nvSpPr>
        <p:spPr>
          <a:xfrm>
            <a:off x="548640" y="4389120"/>
            <a:ext cx="11064240" cy="27432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EXPANSION LEVERS</a:t>
            </a:r>
          </a:p>
        </p:txBody>
      </p:sp>
      <p:sp>
        <p:nvSpPr>
          <p:cNvPr id="17" name="TextBox 16"/>
          <p:cNvSpPr txBox="1"/>
          <p:nvPr/>
        </p:nvSpPr>
        <p:spPr>
          <a:xfrm>
            <a:off x="548640" y="4663440"/>
            <a:ext cx="11064240" cy="4480560"/>
          </a:xfrm>
          <a:prstGeom prst="rect">
            <a:avLst/>
          </a:prstGeom>
          <a:noFill/>
        </p:spPr>
        <p:txBody>
          <a:bodyPr wrap="square" anchor="t" lIns="25400" rIns="25400" tIns="25400" bIns="25400">
            <a:spAutoFit/>
          </a:bodyPr>
          <a:lstStyle/>
          <a:p>
            <a:pPr algn="l">
              <a:spcBef>
                <a:spcPts val="0"/>
              </a:spcBef>
              <a:spcAft>
                <a:spcPts val="500"/>
              </a:spcAft>
            </a:pPr>
            <a:r>
              <a:rPr sz="1050" b="1">
                <a:solidFill>
                  <a:srgbClr val="D18E35"/>
                </a:solidFill>
                <a:latin typeface="Archivo"/>
              </a:rPr>
              <a:t>●  </a:t>
            </a:r>
            <a:r>
              <a:rPr sz="1050" b="0">
                <a:solidFill>
                  <a:srgbClr val="1B1812"/>
                </a:solidFill>
                <a:latin typeface="Archivo"/>
              </a:rPr>
              <a:t>Role land-and-expand: start one role (e.g. Trader), then sell adjacent counterparties already on the shared transaction record (Offtaker, Lender, Grid) — the two-sided thread pulls in the other side at near-zero CAC.</a:t>
            </a:r>
          </a:p>
          <a:p>
            <a:pPr algn="l">
              <a:spcBef>
                <a:spcPts val="0"/>
              </a:spcBef>
              <a:spcAft>
                <a:spcPts val="500"/>
              </a:spcAft>
            </a:pPr>
            <a:r>
              <a:rPr sz="1050" b="1">
                <a:solidFill>
                  <a:srgbClr val="D18E35"/>
                </a:solidFill>
                <a:latin typeface="Archivo"/>
              </a:rPr>
              <a:t>●  </a:t>
            </a:r>
            <a:r>
              <a:rPr sz="1050" b="0">
                <a:solidFill>
                  <a:srgbClr val="1B1812"/>
                </a:solidFill>
                <a:latin typeface="Archivo"/>
              </a:rPr>
              <a:t>Tier upgrade L3→L4→L5: convert audited workflows into full-workflow then regulator-grade, lifting both seat price and unlocking the Value stream per account.</a:t>
            </a:r>
          </a:p>
          <a:p>
            <a:pPr algn="l">
              <a:spcBef>
                <a:spcPts val="0"/>
              </a:spcBef>
              <a:spcAft>
                <a:spcPts val="500"/>
              </a:spcAft>
            </a:pPr>
            <a:r>
              <a:rPr sz="1050" b="1">
                <a:solidFill>
                  <a:srgbClr val="D18E35"/>
                </a:solidFill>
                <a:latin typeface="Archivo"/>
              </a:rPr>
              <a:t>●  </a:t>
            </a:r>
            <a:r>
              <a:rPr sz="1050" b="0">
                <a:solidFill>
                  <a:srgbClr val="1B1812"/>
                </a:solidFill>
                <a:latin typeface="Archivo"/>
              </a:rPr>
              <a:t>Journey-family attach: each new chain family activated on an existing account adds metered volume with no new seat sale.</a:t>
            </a:r>
          </a:p>
          <a:p>
            <a:pPr algn="l">
              <a:spcBef>
                <a:spcPts val="0"/>
              </a:spcBef>
              <a:spcAft>
                <a:spcPts val="500"/>
              </a:spcAft>
            </a:pPr>
            <a:r>
              <a:rPr sz="1050" b="1">
                <a:solidFill>
                  <a:srgbClr val="D18E35"/>
                </a:solidFill>
                <a:latin typeface="Archivo"/>
              </a:rPr>
              <a:t>●  </a:t>
            </a:r>
            <a:r>
              <a:rPr sz="1050" b="0">
                <a:solidFill>
                  <a:srgbClr val="1B1812"/>
                </a:solidFill>
                <a:latin typeface="Archivo"/>
              </a:rPr>
              <a:t>Notional/volume compounding: transaction take grows automatically as SA private generation, wheeling and carbon-tax Phase-2 volumes escalate — ACV rises without re-selling.</a:t>
            </a:r>
          </a:p>
          <a:p>
            <a:pPr algn="l">
              <a:spcBef>
                <a:spcPts val="0"/>
              </a:spcBef>
              <a:spcAft>
                <a:spcPts val="500"/>
              </a:spcAft>
            </a:pPr>
            <a:r>
              <a:rPr sz="1050" b="1">
                <a:solidFill>
                  <a:srgbClr val="D18E35"/>
                </a:solidFill>
                <a:latin typeface="Archivo"/>
              </a:rPr>
              <a:t>●  </a:t>
            </a:r>
            <a:r>
              <a:rPr sz="1050" b="0">
                <a:solidFill>
                  <a:srgbClr val="1B1812"/>
                </a:solidFill>
                <a:latin typeface="Archivo"/>
              </a:rPr>
              <a:t>Value-stream attach: certified exports, tamper-evident audit packs and external reconciliation sold as recurring assurance retainers that displace manual legal/audit spend.</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WHERE YR-3 REVENUE COMES FROM</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Revenue per journey family</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graphicFrame>
        <p:nvGraphicFramePr>
          <p:cNvPr id="9" name="Table 8"/>
          <p:cNvGraphicFramePr>
            <a:graphicFrameLocks noGrp="1"/>
          </p:cNvGraphicFramePr>
          <p:nvPr/>
        </p:nvGraphicFramePr>
        <p:xfrm>
          <a:off x="548640" y="1645920"/>
          <a:ext cx="11064240" cy="3639312"/>
        </p:xfrm>
        <a:graphic>
          <a:graphicData uri="http://schemas.openxmlformats.org/drawingml/2006/table">
            <a:tbl>
              <a:tblPr firstRow="1" bandRow="1">
                <a:tableStyleId>{5C22544A-7EE6-4342-B048-85BDC9FD1C3A}</a:tableStyleId>
              </a:tblPr>
              <a:tblGrid>
                <a:gridCol w="3200400"/>
                <a:gridCol w="6035040"/>
                <a:gridCol w="1828800"/>
              </a:tblGrid>
              <a:tr h="404368">
                <a:tc>
                  <a:txBody>
                    <a:bodyPr/>
                    <a:lstStyle/>
                    <a:p>
                      <a:r>
                        <a:rPr sz="1100" b="1">
                          <a:solidFill>
                            <a:srgbClr val="FFFFFF"/>
                          </a:solidFill>
                          <a:latin typeface="Archivo"/>
                        </a:rPr>
                        <a:t>Journey family</a:t>
                      </a:r>
                    </a:p>
                  </a:txBody>
                  <a:tcPr anchor="ctr">
                    <a:solidFill>
                      <a:srgbClr val="005358"/>
                    </a:solidFill>
                  </a:tcPr>
                </a:tc>
                <a:tc>
                  <a:txBody>
                    <a:bodyPr/>
                    <a:lstStyle/>
                    <a:p>
                      <a:r>
                        <a:rPr sz="1100" b="1">
                          <a:solidFill>
                            <a:srgbClr val="FFFFFF"/>
                          </a:solidFill>
                          <a:latin typeface="Archivo"/>
                        </a:rPr>
                        <a:t>Metered unit</a:t>
                      </a:r>
                    </a:p>
                  </a:txBody>
                  <a:tcPr anchor="ctr">
                    <a:solidFill>
                      <a:srgbClr val="005358"/>
                    </a:solidFill>
                  </a:tcPr>
                </a:tc>
                <a:tc>
                  <a:txBody>
                    <a:bodyPr/>
                    <a:lstStyle/>
                    <a:p>
                      <a:r>
                        <a:rPr sz="1100" b="1">
                          <a:solidFill>
                            <a:srgbClr val="FFFFFF"/>
                          </a:solidFill>
                          <a:latin typeface="Archivo"/>
                        </a:rPr>
                        <a:t>Yr-3 share</a:t>
                      </a:r>
                    </a:p>
                  </a:txBody>
                  <a:tcPr anchor="ctr">
                    <a:solidFill>
                      <a:srgbClr val="005358"/>
                    </a:solidFill>
                  </a:tcPr>
                </a:tc>
              </a:tr>
              <a:tr h="404368">
                <a:tc>
                  <a:txBody>
                    <a:bodyPr/>
                    <a:lstStyle/>
                    <a:p>
                      <a:r>
                        <a:rPr sz="1050" b="1">
                          <a:solidFill>
                            <a:srgbClr val="005358"/>
                          </a:solidFill>
                          <a:latin typeface="Archivo"/>
                        </a:rPr>
                        <a:t>Trading &amp; settlement</a:t>
                      </a:r>
                    </a:p>
                  </a:txBody>
                  <a:tcPr anchor="ctr" marT="25400" marB="25400">
                    <a:solidFill>
                      <a:srgbClr val="FFFFFF"/>
                    </a:solidFill>
                  </a:tcPr>
                </a:tc>
                <a:tc>
                  <a:txBody>
                    <a:bodyPr/>
                    <a:lstStyle/>
                    <a:p>
                      <a:r>
                        <a:rPr sz="1050" b="0">
                          <a:solidFill>
                            <a:srgbClr val="1B1812"/>
                          </a:solidFill>
                          <a:latin typeface="Archivo"/>
                        </a:rPr>
                        <a:t>bps on notional traded / per settlement cycle</a:t>
                      </a:r>
                    </a:p>
                  </a:txBody>
                  <a:tcPr anchor="ctr" marT="25400" marB="25400">
                    <a:solidFill>
                      <a:srgbClr val="FFFFFF"/>
                    </a:solidFill>
                  </a:tcPr>
                </a:tc>
                <a:tc>
                  <a:txBody>
                    <a:bodyPr/>
                    <a:lstStyle/>
                    <a:p>
                      <a:r>
                        <a:rPr sz="1050" b="0">
                          <a:solidFill>
                            <a:srgbClr val="1B1812"/>
                          </a:solidFill>
                          <a:latin typeface="Archivo"/>
                        </a:rPr>
                        <a:t>26%</a:t>
                      </a:r>
                    </a:p>
                  </a:txBody>
                  <a:tcPr anchor="ctr" marT="25400" marB="25400">
                    <a:solidFill>
                      <a:srgbClr val="FFFFFF"/>
                    </a:solidFill>
                  </a:tcPr>
                </a:tc>
              </a:tr>
              <a:tr h="404368">
                <a:tc>
                  <a:txBody>
                    <a:bodyPr/>
                    <a:lstStyle/>
                    <a:p>
                      <a:r>
                        <a:rPr sz="1050" b="1">
                          <a:solidFill>
                            <a:srgbClr val="005358"/>
                          </a:solidFill>
                          <a:latin typeface="Archivo"/>
                        </a:rPr>
                        <a:t>Offtake &amp; PPA</a:t>
                      </a:r>
                    </a:p>
                  </a:txBody>
                  <a:tcPr anchor="ctr" marT="25400" marB="25400">
                    <a:solidFill>
                      <a:srgbClr val="F5F3EF"/>
                    </a:solidFill>
                  </a:tcPr>
                </a:tc>
                <a:tc>
                  <a:txBody>
                    <a:bodyPr/>
                    <a:lstStyle/>
                    <a:p>
                      <a:r>
                        <a:rPr sz="1050" b="0">
                          <a:solidFill>
                            <a:srgbClr val="1B1812"/>
                          </a:solidFill>
                          <a:latin typeface="Archivo"/>
                        </a:rPr>
                        <a:t>per MWh settled / per PPA</a:t>
                      </a:r>
                    </a:p>
                  </a:txBody>
                  <a:tcPr anchor="ctr" marT="25400" marB="25400">
                    <a:solidFill>
                      <a:srgbClr val="F5F3EF"/>
                    </a:solidFill>
                  </a:tcPr>
                </a:tc>
                <a:tc>
                  <a:txBody>
                    <a:bodyPr/>
                    <a:lstStyle/>
                    <a:p>
                      <a:r>
                        <a:rPr sz="1050" b="0">
                          <a:solidFill>
                            <a:srgbClr val="1B1812"/>
                          </a:solidFill>
                          <a:latin typeface="Archivo"/>
                        </a:rPr>
                        <a:t>16%</a:t>
                      </a:r>
                    </a:p>
                  </a:txBody>
                  <a:tcPr anchor="ctr" marT="25400" marB="25400">
                    <a:solidFill>
                      <a:srgbClr val="F5F3EF"/>
                    </a:solidFill>
                  </a:tcPr>
                </a:tc>
              </a:tr>
              <a:tr h="404368">
                <a:tc>
                  <a:txBody>
                    <a:bodyPr/>
                    <a:lstStyle/>
                    <a:p>
                      <a:r>
                        <a:rPr sz="1050" b="1">
                          <a:solidFill>
                            <a:srgbClr val="005358"/>
                          </a:solidFill>
                          <a:latin typeface="Archivo"/>
                        </a:rPr>
                        <a:t>IPP lifecycle</a:t>
                      </a:r>
                    </a:p>
                  </a:txBody>
                  <a:tcPr anchor="ctr" marT="25400" marB="25400">
                    <a:solidFill>
                      <a:srgbClr val="FFFFFF"/>
                    </a:solidFill>
                  </a:tcPr>
                </a:tc>
                <a:tc>
                  <a:txBody>
                    <a:bodyPr/>
                    <a:lstStyle/>
                    <a:p>
                      <a:r>
                        <a:rPr sz="1050" b="0">
                          <a:solidFill>
                            <a:srgbClr val="1B1812"/>
                          </a:solidFill>
                          <a:latin typeface="Archivo"/>
                        </a:rPr>
                        <a:t>per project / per stage-gate cleared</a:t>
                      </a:r>
                    </a:p>
                  </a:txBody>
                  <a:tcPr anchor="ctr" marT="25400" marB="25400">
                    <a:solidFill>
                      <a:srgbClr val="FFFFFF"/>
                    </a:solidFill>
                  </a:tcPr>
                </a:tc>
                <a:tc>
                  <a:txBody>
                    <a:bodyPr/>
                    <a:lstStyle/>
                    <a:p>
                      <a:r>
                        <a:rPr sz="1050" b="0">
                          <a:solidFill>
                            <a:srgbClr val="1B1812"/>
                          </a:solidFill>
                          <a:latin typeface="Archivo"/>
                        </a:rPr>
                        <a:t>15%</a:t>
                      </a:r>
                    </a:p>
                  </a:txBody>
                  <a:tcPr anchor="ctr" marT="25400" marB="25400">
                    <a:solidFill>
                      <a:srgbClr val="FFFFFF"/>
                    </a:solidFill>
                  </a:tcPr>
                </a:tc>
              </a:tr>
              <a:tr h="404368">
                <a:tc>
                  <a:txBody>
                    <a:bodyPr/>
                    <a:lstStyle/>
                    <a:p>
                      <a:r>
                        <a:rPr sz="1050" b="1">
                          <a:solidFill>
                            <a:srgbClr val="005358"/>
                          </a:solidFill>
                          <a:latin typeface="Archivo"/>
                        </a:rPr>
                        <a:t>Lending &amp; finance</a:t>
                      </a:r>
                    </a:p>
                  </a:txBody>
                  <a:tcPr anchor="ctr" marT="25400" marB="25400">
                    <a:solidFill>
                      <a:srgbClr val="F5F3EF"/>
                    </a:solidFill>
                  </a:tcPr>
                </a:tc>
                <a:tc>
                  <a:txBody>
                    <a:bodyPr/>
                    <a:lstStyle/>
                    <a:p>
                      <a:r>
                        <a:rPr sz="1050" b="0">
                          <a:solidFill>
                            <a:srgbClr val="1B1812"/>
                          </a:solidFill>
                          <a:latin typeface="Archivo"/>
                        </a:rPr>
                        <a:t>flat per drawdown / bps on facility</a:t>
                      </a:r>
                    </a:p>
                  </a:txBody>
                  <a:tcPr anchor="ctr" marT="25400" marB="25400">
                    <a:solidFill>
                      <a:srgbClr val="F5F3EF"/>
                    </a:solidFill>
                  </a:tcPr>
                </a:tc>
                <a:tc>
                  <a:txBody>
                    <a:bodyPr/>
                    <a:lstStyle/>
                    <a:p>
                      <a:r>
                        <a:rPr sz="1050" b="0">
                          <a:solidFill>
                            <a:srgbClr val="1B1812"/>
                          </a:solidFill>
                          <a:latin typeface="Archivo"/>
                        </a:rPr>
                        <a:t>13%</a:t>
                      </a:r>
                    </a:p>
                  </a:txBody>
                  <a:tcPr anchor="ctr" marT="25400" marB="25400">
                    <a:solidFill>
                      <a:srgbClr val="F5F3EF"/>
                    </a:solidFill>
                  </a:tcPr>
                </a:tc>
              </a:tr>
              <a:tr h="404368">
                <a:tc>
                  <a:txBody>
                    <a:bodyPr/>
                    <a:lstStyle/>
                    <a:p>
                      <a:r>
                        <a:rPr sz="1050" b="1">
                          <a:solidFill>
                            <a:srgbClr val="005358"/>
                          </a:solidFill>
                          <a:latin typeface="Archivo"/>
                        </a:rPr>
                        <a:t>Carbon</a:t>
                      </a:r>
                    </a:p>
                  </a:txBody>
                  <a:tcPr anchor="ctr" marT="25400" marB="25400">
                    <a:solidFill>
                      <a:srgbClr val="FFFFFF"/>
                    </a:solidFill>
                  </a:tcPr>
                </a:tc>
                <a:tc>
                  <a:txBody>
                    <a:bodyPr/>
                    <a:lstStyle/>
                    <a:p>
                      <a:r>
                        <a:rPr sz="1050" b="0">
                          <a:solidFill>
                            <a:srgbClr val="1B1812"/>
                          </a:solidFill>
                          <a:latin typeface="Archivo"/>
                        </a:rPr>
                        <a:t>per credit issued/retired</a:t>
                      </a:r>
                    </a:p>
                  </a:txBody>
                  <a:tcPr anchor="ctr" marT="25400" marB="25400">
                    <a:solidFill>
                      <a:srgbClr val="FFFFFF"/>
                    </a:solidFill>
                  </a:tcPr>
                </a:tc>
                <a:tc>
                  <a:txBody>
                    <a:bodyPr/>
                    <a:lstStyle/>
                    <a:p>
                      <a:r>
                        <a:rPr sz="1050" b="0">
                          <a:solidFill>
                            <a:srgbClr val="1B1812"/>
                          </a:solidFill>
                          <a:latin typeface="Archivo"/>
                        </a:rPr>
                        <a:t>10%</a:t>
                      </a:r>
                    </a:p>
                  </a:txBody>
                  <a:tcPr anchor="ctr" marT="25400" marB="25400">
                    <a:solidFill>
                      <a:srgbClr val="FFFFFF"/>
                    </a:solidFill>
                  </a:tcPr>
                </a:tc>
              </a:tr>
              <a:tr h="404368">
                <a:tc>
                  <a:txBody>
                    <a:bodyPr/>
                    <a:lstStyle/>
                    <a:p>
                      <a:r>
                        <a:rPr sz="1050" b="1">
                          <a:solidFill>
                            <a:srgbClr val="005358"/>
                          </a:solidFill>
                          <a:latin typeface="Archivo"/>
                        </a:rPr>
                        <a:t>Grid ops</a:t>
                      </a:r>
                    </a:p>
                  </a:txBody>
                  <a:tcPr anchor="ctr" marT="25400" marB="25400">
                    <a:solidFill>
                      <a:srgbClr val="F5F3EF"/>
                    </a:solidFill>
                  </a:tcPr>
                </a:tc>
                <a:tc>
                  <a:txBody>
                    <a:bodyPr/>
                    <a:lstStyle/>
                    <a:p>
                      <a:r>
                        <a:rPr sz="1050" b="0">
                          <a:solidFill>
                            <a:srgbClr val="1B1812"/>
                          </a:solidFill>
                          <a:latin typeface="Archivo"/>
                        </a:rPr>
                        <a:t>per connection / per MW dispatched</a:t>
                      </a:r>
                    </a:p>
                  </a:txBody>
                  <a:tcPr anchor="ctr" marT="25400" marB="25400">
                    <a:solidFill>
                      <a:srgbClr val="F5F3EF"/>
                    </a:solidFill>
                  </a:tcPr>
                </a:tc>
                <a:tc>
                  <a:txBody>
                    <a:bodyPr/>
                    <a:lstStyle/>
                    <a:p>
                      <a:r>
                        <a:rPr sz="1050" b="0">
                          <a:solidFill>
                            <a:srgbClr val="1B1812"/>
                          </a:solidFill>
                          <a:latin typeface="Archivo"/>
                        </a:rPr>
                        <a:t>8%</a:t>
                      </a:r>
                    </a:p>
                  </a:txBody>
                  <a:tcPr anchor="ctr" marT="25400" marB="25400">
                    <a:solidFill>
                      <a:srgbClr val="F5F3EF"/>
                    </a:solidFill>
                  </a:tcPr>
                </a:tc>
              </a:tr>
              <a:tr h="404368">
                <a:tc>
                  <a:txBody>
                    <a:bodyPr/>
                    <a:lstStyle/>
                    <a:p>
                      <a:r>
                        <a:rPr sz="1050" b="1">
                          <a:solidFill>
                            <a:srgbClr val="005358"/>
                          </a:solidFill>
                          <a:latin typeface="Archivo"/>
                        </a:rPr>
                        <a:t>Regulation</a:t>
                      </a:r>
                    </a:p>
                  </a:txBody>
                  <a:tcPr anchor="ctr" marT="25400" marB="25400">
                    <a:solidFill>
                      <a:srgbClr val="FFFFFF"/>
                    </a:solidFill>
                  </a:tcPr>
                </a:tc>
                <a:tc>
                  <a:txBody>
                    <a:bodyPr/>
                    <a:lstStyle/>
                    <a:p>
                      <a:r>
                        <a:rPr sz="1050" b="0">
                          <a:solidFill>
                            <a:srgbClr val="1B1812"/>
                          </a:solidFill>
                          <a:latin typeface="Archivo"/>
                        </a:rPr>
                        <a:t>per certified export / per case</a:t>
                      </a:r>
                    </a:p>
                  </a:txBody>
                  <a:tcPr anchor="ctr" marT="25400" marB="25400">
                    <a:solidFill>
                      <a:srgbClr val="FFFFFF"/>
                    </a:solidFill>
                  </a:tcPr>
                </a:tc>
                <a:tc>
                  <a:txBody>
                    <a:bodyPr/>
                    <a:lstStyle/>
                    <a:p>
                      <a:r>
                        <a:rPr sz="1050" b="0">
                          <a:solidFill>
                            <a:srgbClr val="1B1812"/>
                          </a:solidFill>
                          <a:latin typeface="Archivo"/>
                        </a:rPr>
                        <a:t>7%</a:t>
                      </a:r>
                    </a:p>
                  </a:txBody>
                  <a:tcPr anchor="ctr" marT="25400" marB="25400">
                    <a:solidFill>
                      <a:srgbClr val="FFFFFF"/>
                    </a:solidFill>
                  </a:tcPr>
                </a:tc>
              </a:tr>
              <a:tr h="404368">
                <a:tc>
                  <a:txBody>
                    <a:bodyPr/>
                    <a:lstStyle/>
                    <a:p>
                      <a:r>
                        <a:rPr sz="1050" b="1">
                          <a:solidFill>
                            <a:srgbClr val="005358"/>
                          </a:solidFill>
                          <a:latin typeface="Archivo"/>
                        </a:rPr>
                        <a:t>Asset O&amp;M</a:t>
                      </a:r>
                    </a:p>
                  </a:txBody>
                  <a:tcPr anchor="ctr" marT="25400" marB="25400">
                    <a:solidFill>
                      <a:srgbClr val="F5F3EF"/>
                    </a:solidFill>
                  </a:tcPr>
                </a:tc>
                <a:tc>
                  <a:txBody>
                    <a:bodyPr/>
                    <a:lstStyle/>
                    <a:p>
                      <a:r>
                        <a:rPr sz="1050" b="0">
                          <a:solidFill>
                            <a:srgbClr val="1B1812"/>
                          </a:solidFill>
                          <a:latin typeface="Archivo"/>
                        </a:rPr>
                        <a:t>per active facility / per work order</a:t>
                      </a:r>
                    </a:p>
                  </a:txBody>
                  <a:tcPr anchor="ctr" marT="25400" marB="25400">
                    <a:solidFill>
                      <a:srgbClr val="F5F3EF"/>
                    </a:solidFill>
                  </a:tcPr>
                </a:tc>
                <a:tc>
                  <a:txBody>
                    <a:bodyPr/>
                    <a:lstStyle/>
                    <a:p>
                      <a:r>
                        <a:rPr sz="1050" b="0">
                          <a:solidFill>
                            <a:srgbClr val="1B1812"/>
                          </a:solidFill>
                          <a:latin typeface="Archivo"/>
                        </a:rPr>
                        <a:t>5%</a:t>
                      </a:r>
                    </a:p>
                  </a:txBody>
                  <a:tcPr anchor="ctr" marT="25400" marB="25400">
                    <a:solidFill>
                      <a:srgbClr val="F5F3E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65760"/>
          </a:xfrm>
          <a:prstGeom prst="rect">
            <a:avLst/>
          </a:prstGeom>
          <a:noFill/>
        </p:spPr>
        <p:txBody>
          <a:bodyPr wrap="square" anchor="t" lIns="25400" rIns="25400" tIns="25400" bIns="25400">
            <a:spAutoFit/>
          </a:bodyPr>
          <a:lstStyle/>
          <a:p>
            <a:pPr algn="l">
              <a:spcBef>
                <a:spcPts val="0"/>
              </a:spcBef>
              <a:spcAft>
                <a:spcPts val="400"/>
              </a:spcAft>
            </a:pPr>
            <a:r>
              <a:rPr sz="1100" b="1">
                <a:solidFill>
                  <a:srgbClr val="D18E35"/>
                </a:solidFill>
                <a:latin typeface="Archivo"/>
              </a:rPr>
              <a:t>WHAT MOVES THE MODEL MOST</a:t>
            </a:r>
          </a:p>
        </p:txBody>
      </p:sp>
      <p:sp>
        <p:nvSpPr>
          <p:cNvPr id="5" name="TextBox 4"/>
          <p:cNvSpPr txBox="1"/>
          <p:nvPr/>
        </p:nvSpPr>
        <p:spPr>
          <a:xfrm>
            <a:off x="502920" y="685800"/>
            <a:ext cx="11247120" cy="82296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005358"/>
                </a:solidFill>
                <a:latin typeface="Archivo"/>
              </a:rPr>
              <a:t>Sensitivities</a:t>
            </a:r>
          </a:p>
        </p:txBody>
      </p:sp>
      <p:sp>
        <p:nvSpPr>
          <p:cNvPr id="6" name="Rectangle 5"/>
          <p:cNvSpPr/>
          <p:nvPr/>
        </p:nvSpPr>
        <p:spPr>
          <a:xfrm>
            <a:off x="502920" y="1371600"/>
            <a:ext cx="2011680" cy="381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8229600" cy="320040"/>
          </a:xfrm>
          <a:prstGeom prst="rect">
            <a:avLst/>
          </a:prstGeom>
          <a:noFill/>
        </p:spPr>
        <p:txBody>
          <a:bodyPr wrap="square" anchor="t" lIns="25400" rIns="25400" tIns="25400" bIns="25400">
            <a:spAutoFit/>
          </a:bodyPr>
          <a:lstStyle/>
          <a:p>
            <a:pPr algn="l">
              <a:spcBef>
                <a:spcPts val="0"/>
              </a:spcBef>
              <a:spcAft>
                <a:spcPts val="400"/>
              </a:spcAft>
            </a:pPr>
            <a:r>
              <a:rPr sz="800" b="0">
                <a:solidFill>
                  <a:srgbClr val="504D46"/>
                </a:solidFill>
                <a:latin typeface="Archivo"/>
              </a:rPr>
              <a:t>Consolidated Energy Cockpit  ·  A plain-language guide</a:t>
            </a:r>
          </a:p>
        </p:txBody>
      </p:sp>
      <p:sp>
        <p:nvSpPr>
          <p:cNvPr id="8" name="TextBox 7"/>
          <p:cNvSpPr txBox="1"/>
          <p:nvPr/>
        </p:nvSpPr>
        <p:spPr>
          <a:xfrm>
            <a:off x="9144000" y="6446520"/>
            <a:ext cx="2560320" cy="320040"/>
          </a:xfrm>
          <a:prstGeom prst="rect">
            <a:avLst/>
          </a:prstGeom>
          <a:noFill/>
        </p:spPr>
        <p:txBody>
          <a:bodyPr wrap="square" anchor="t" lIns="25400" rIns="25400" tIns="25400" bIns="25400">
            <a:spAutoFit/>
          </a:bodyPr>
          <a:lstStyle/>
          <a:p>
            <a:pPr algn="r">
              <a:spcBef>
                <a:spcPts val="0"/>
              </a:spcBef>
              <a:spcAft>
                <a:spcPts val="400"/>
              </a:spcAft>
            </a:pPr>
            <a:r>
              <a:rPr sz="800" b="1">
                <a:solidFill>
                  <a:srgbClr val="504D46"/>
                </a:solidFill>
                <a:latin typeface="Archivo"/>
              </a:rPr>
              <a:t>oe.vantax.co.za</a:t>
            </a:r>
          </a:p>
        </p:txBody>
      </p:sp>
      <p:sp>
        <p:nvSpPr>
          <p:cNvPr id="9" name="TextBox 8"/>
          <p:cNvSpPr txBox="1"/>
          <p:nvPr/>
        </p:nvSpPr>
        <p:spPr>
          <a:xfrm>
            <a:off x="548640" y="1737360"/>
            <a:ext cx="11064240" cy="4480560"/>
          </a:xfrm>
          <a:prstGeom prst="rect">
            <a:avLst/>
          </a:prstGeom>
          <a:noFill/>
        </p:spPr>
        <p:txBody>
          <a:bodyPr wrap="square" anchor="t" lIns="25400" rIns="25400" tIns="25400" bIns="25400">
            <a:spAutoFit/>
          </a:bodyPr>
          <a:lstStyle/>
          <a:p>
            <a:pPr algn="l">
              <a:spcBef>
                <a:spcPts val="0"/>
              </a:spcBef>
              <a:spcAft>
                <a:spcPts val="1300"/>
              </a:spcAft>
            </a:pPr>
            <a:r>
              <a:rPr sz="1300" b="1">
                <a:solidFill>
                  <a:srgbClr val="D18E35"/>
                </a:solidFill>
                <a:latin typeface="Archivo"/>
              </a:rPr>
              <a:t>●  </a:t>
            </a:r>
            <a:r>
              <a:rPr sz="1300" b="0">
                <a:solidFill>
                  <a:srgbClr val="1B1812"/>
                </a:solidFill>
                <a:latin typeface="Archivo"/>
              </a:rPr>
              <a:t>Transaction take rate (bps on notional / R per MWh) — the single largest driver of Y3 revenue; a 0.5 bps move on trading notional swings total rev materially.</a:t>
            </a:r>
          </a:p>
          <a:p>
            <a:pPr algn="l">
              <a:spcBef>
                <a:spcPts val="0"/>
              </a:spcBef>
              <a:spcAft>
                <a:spcPts val="1300"/>
              </a:spcAft>
            </a:pPr>
            <a:r>
              <a:rPr sz="1300" b="1">
                <a:solidFill>
                  <a:srgbClr val="D18E35"/>
                </a:solidFill>
                <a:latin typeface="Archivo"/>
              </a:rPr>
              <a:t>●  </a:t>
            </a:r>
            <a:r>
              <a:rPr sz="1300" b="0">
                <a:solidFill>
                  <a:srgbClr val="1B1812"/>
                </a:solidFill>
                <a:latin typeface="Archivo"/>
              </a:rPr>
              <a:t>Account count and pace of the 100MW-threshold C&amp;I generator cohort coming online — drives both seat and metered-volume base.</a:t>
            </a:r>
          </a:p>
          <a:p>
            <a:pPr algn="l">
              <a:spcBef>
                <a:spcPts val="0"/>
              </a:spcBef>
              <a:spcAft>
                <a:spcPts val="1300"/>
              </a:spcAft>
            </a:pPr>
            <a:r>
              <a:rPr sz="1300" b="1">
                <a:solidFill>
                  <a:srgbClr val="D18E35"/>
                </a:solidFill>
                <a:latin typeface="Archivo"/>
              </a:rPr>
              <a:t>●  </a:t>
            </a:r>
            <a:r>
              <a:rPr sz="1300" b="0">
                <a:solidFill>
                  <a:srgbClr val="1B1812"/>
                </a:solidFill>
                <a:latin typeface="Archivo"/>
              </a:rPr>
              <a:t>Net revenue retention (currently modelled 128%) — small changes compound heavily into Y3 given the expansion-led motion.</a:t>
            </a:r>
          </a:p>
          <a:p>
            <a:pPr algn="l">
              <a:spcBef>
                <a:spcPts val="0"/>
              </a:spcBef>
              <a:spcAft>
                <a:spcPts val="1300"/>
              </a:spcAft>
            </a:pPr>
            <a:r>
              <a:rPr sz="1300" b="1">
                <a:solidFill>
                  <a:srgbClr val="D18E35"/>
                </a:solidFill>
                <a:latin typeface="Archivo"/>
              </a:rPr>
              <a:t>●  </a:t>
            </a:r>
            <a:r>
              <a:rPr sz="1300" b="0">
                <a:solidFill>
                  <a:srgbClr val="1B1812"/>
                </a:solidFill>
                <a:latin typeface="Archivo"/>
              </a:rPr>
              <a:t>L5 Value-stream attach rate and per-artefact pricing — depends on NERSA/regulator adoption of certified exports as the accepted assurance standard.</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3810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57200"/>
            <a:ext cx="731520" cy="731520"/>
          </a:xfrm>
          <a:prstGeom prst="rect">
            <a:avLst/>
          </a:prstGeom>
          <a:solidFill>
            <a:srgbClr val="D18E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920" b="1">
                <a:solidFill>
                  <a:srgbClr val="005358"/>
                </a:solidFill>
                <a:latin typeface="Archivo"/>
              </a:rPr>
              <a:t>CEC</a:t>
            </a:r>
          </a:p>
        </p:txBody>
      </p:sp>
      <p:sp>
        <p:nvSpPr>
          <p:cNvPr id="5" name="TextBox 4"/>
          <p:cNvSpPr txBox="1"/>
          <p:nvPr/>
        </p:nvSpPr>
        <p:spPr>
          <a:xfrm>
            <a:off x="640080" y="1554480"/>
            <a:ext cx="10972800" cy="548640"/>
          </a:xfrm>
          <a:prstGeom prst="rect">
            <a:avLst/>
          </a:prstGeom>
          <a:noFill/>
        </p:spPr>
        <p:txBody>
          <a:bodyPr wrap="square" anchor="t" lIns="25400" rIns="25400" tIns="25400" bIns="25400">
            <a:spAutoFit/>
          </a:bodyPr>
          <a:lstStyle/>
          <a:p>
            <a:pPr algn="l">
              <a:spcBef>
                <a:spcPts val="0"/>
              </a:spcBef>
              <a:spcAft>
                <a:spcPts val="400"/>
              </a:spcAft>
            </a:pPr>
            <a:r>
              <a:rPr sz="2600" b="1">
                <a:solidFill>
                  <a:srgbClr val="FFFFFF"/>
                </a:solidFill>
                <a:latin typeface="Archivo"/>
              </a:rPr>
              <a:t>The whole product, in one line</a:t>
            </a:r>
          </a:p>
        </p:txBody>
      </p:sp>
      <p:sp>
        <p:nvSpPr>
          <p:cNvPr id="6" name="TextBox 5"/>
          <p:cNvSpPr txBox="1"/>
          <p:nvPr/>
        </p:nvSpPr>
        <p:spPr>
          <a:xfrm>
            <a:off x="640080" y="2331720"/>
            <a:ext cx="10972800" cy="3474720"/>
          </a:xfrm>
          <a:prstGeom prst="rect">
            <a:avLst/>
          </a:prstGeom>
          <a:noFill/>
        </p:spPr>
        <p:txBody>
          <a:bodyPr wrap="square" anchor="t" lIns="25400" rIns="25400" tIns="25400" bIns="25400">
            <a:spAutoFit/>
          </a:bodyPr>
          <a:lstStyle/>
          <a:p>
            <a:pPr algn="l">
              <a:spcBef>
                <a:spcPts val="0"/>
              </a:spcBef>
              <a:spcAft>
                <a:spcPts val="1200"/>
              </a:spcAft>
            </a:pPr>
            <a:r>
              <a:rPr sz="1300" b="1">
                <a:solidFill>
                  <a:srgbClr val="D18E35"/>
                </a:solidFill>
                <a:latin typeface="Archivo"/>
              </a:rPr>
              <a:t>●  </a:t>
            </a:r>
            <a:r>
              <a:rPr sz="1300" b="1">
                <a:solidFill>
                  <a:srgbClr val="D18E35"/>
                </a:solidFill>
                <a:latin typeface="Archivo"/>
              </a:rPr>
              <a:t>What  </a:t>
            </a:r>
            <a:r>
              <a:rPr sz="1300" b="0">
                <a:solidFill>
                  <a:srgbClr val="FFFFFF"/>
                </a:solidFill>
                <a:latin typeface="Archivo"/>
              </a:rPr>
              <a:t>One shared record the whole SA energy market transacts against — deal, settlement and proof are the same object.</a:t>
            </a:r>
          </a:p>
          <a:p>
            <a:pPr algn="l">
              <a:spcBef>
                <a:spcPts val="0"/>
              </a:spcBef>
              <a:spcAft>
                <a:spcPts val="1200"/>
              </a:spcAft>
            </a:pPr>
            <a:r>
              <a:rPr sz="1300" b="1">
                <a:solidFill>
                  <a:srgbClr val="D18E35"/>
                </a:solidFill>
                <a:latin typeface="Archivo"/>
              </a:rPr>
              <a:t>●  </a:t>
            </a:r>
            <a:r>
              <a:rPr sz="1300" b="1">
                <a:solidFill>
                  <a:srgbClr val="D18E35"/>
                </a:solidFill>
                <a:latin typeface="Archivo"/>
              </a:rPr>
              <a:t>Depth  </a:t>
            </a:r>
            <a:r>
              <a:rPr sz="1300" b="0">
                <a:solidFill>
                  <a:srgbClr val="FFFFFF"/>
                </a:solidFill>
                <a:latin typeface="Archivo"/>
              </a:rPr>
              <a:t>207 governed flows (78 cross-role) at L3–L5 — gating, cascades, dunning, tamper-evident audit.</a:t>
            </a:r>
          </a:p>
          <a:p>
            <a:pPr algn="l">
              <a:spcBef>
                <a:spcPts val="0"/>
              </a:spcBef>
              <a:spcAft>
                <a:spcPts val="1200"/>
              </a:spcAft>
            </a:pPr>
            <a:r>
              <a:rPr sz="1300" b="1">
                <a:solidFill>
                  <a:srgbClr val="D18E35"/>
                </a:solidFill>
                <a:latin typeface="Archivo"/>
              </a:rPr>
              <a:t>●  </a:t>
            </a:r>
            <a:r>
              <a:rPr sz="1300" b="1">
                <a:solidFill>
                  <a:srgbClr val="D18E35"/>
                </a:solidFill>
                <a:latin typeface="Archivo"/>
              </a:rPr>
              <a:t>Reach  </a:t>
            </a:r>
            <a:r>
              <a:rPr sz="1300" b="0">
                <a:solidFill>
                  <a:srgbClr val="FFFFFF"/>
                </a:solidFill>
                <a:latin typeface="Archivo"/>
              </a:rPr>
              <a:t>11 roles · 360 user journeys · 8 end-to-end families that chain the flows across roles automatically.</a:t>
            </a:r>
          </a:p>
          <a:p>
            <a:pPr algn="l">
              <a:spcBef>
                <a:spcPts val="0"/>
              </a:spcBef>
              <a:spcAft>
                <a:spcPts val="1200"/>
              </a:spcAft>
            </a:pPr>
            <a:r>
              <a:rPr sz="1300" b="1">
                <a:solidFill>
                  <a:srgbClr val="D18E35"/>
                </a:solidFill>
                <a:latin typeface="Archivo"/>
              </a:rPr>
              <a:t>●  </a:t>
            </a:r>
            <a:r>
              <a:rPr sz="1300" b="1">
                <a:solidFill>
                  <a:srgbClr val="D18E35"/>
                </a:solidFill>
                <a:latin typeface="Archivo"/>
              </a:rPr>
              <a:t>Go-to-market  </a:t>
            </a:r>
            <a:r>
              <a:rPr sz="1300" b="0">
                <a:solidFill>
                  <a:srgbClr val="FFFFFF"/>
                </a:solidFill>
                <a:latin typeface="Archivo"/>
              </a:rPr>
              <a:t>Land the wheeling-IPP wedge; each deal pulls its counterparties onto the same record at near-zero CAC.</a:t>
            </a:r>
          </a:p>
          <a:p>
            <a:pPr algn="l">
              <a:spcBef>
                <a:spcPts val="0"/>
              </a:spcBef>
              <a:spcAft>
                <a:spcPts val="1200"/>
              </a:spcAft>
            </a:pPr>
            <a:r>
              <a:rPr sz="1300" b="1">
                <a:solidFill>
                  <a:srgbClr val="D18E35"/>
                </a:solidFill>
                <a:latin typeface="Archivo"/>
              </a:rPr>
              <a:t>●  </a:t>
            </a:r>
            <a:r>
              <a:rPr sz="1300" b="1">
                <a:solidFill>
                  <a:srgbClr val="D18E35"/>
                </a:solidFill>
                <a:latin typeface="Archivo"/>
              </a:rPr>
              <a:t>Launch  </a:t>
            </a:r>
            <a:r>
              <a:rPr sz="1300" b="0">
                <a:solidFill>
                  <a:srgbClr val="FFFFFF"/>
                </a:solidFill>
                <a:latin typeface="Archivo"/>
              </a:rPr>
              <a:t>Design-partner triads solve cold-start deal-by-deal; wave-gated, reversible, regulator-grade by GA.</a:t>
            </a:r>
          </a:p>
          <a:p>
            <a:pPr algn="l">
              <a:spcBef>
                <a:spcPts val="0"/>
              </a:spcBef>
              <a:spcAft>
                <a:spcPts val="1200"/>
              </a:spcAft>
            </a:pPr>
            <a:r>
              <a:rPr sz="1300" b="1">
                <a:solidFill>
                  <a:srgbClr val="D18E35"/>
                </a:solidFill>
                <a:latin typeface="Archivo"/>
              </a:rPr>
              <a:t>●  </a:t>
            </a:r>
            <a:r>
              <a:rPr sz="1300" b="1">
                <a:solidFill>
                  <a:srgbClr val="D18E35"/>
                </a:solidFill>
                <a:latin typeface="Archivo"/>
              </a:rPr>
              <a:t>Revenue  </a:t>
            </a:r>
            <a:r>
              <a:rPr sz="1300" b="0">
                <a:solidFill>
                  <a:srgbClr val="FFFFFF"/>
                </a:solidFill>
                <a:latin typeface="Archivo"/>
              </a:rPr>
              <a:t>Seat + Transaction + Value — illustrative R63m → R310m over 3 yrs; 128% NDR; transaction stream dominant.</a:t>
            </a:r>
          </a:p>
        </p:txBody>
      </p:sp>
      <p:sp>
        <p:nvSpPr>
          <p:cNvPr id="7" name="TextBox 6"/>
          <p:cNvSpPr txBox="1"/>
          <p:nvPr/>
        </p:nvSpPr>
        <p:spPr>
          <a:xfrm>
            <a:off x="640080" y="5943600"/>
            <a:ext cx="10972800" cy="548640"/>
          </a:xfrm>
          <a:prstGeom prst="rect">
            <a:avLst/>
          </a:prstGeom>
          <a:noFill/>
        </p:spPr>
        <p:txBody>
          <a:bodyPr wrap="square" anchor="t" lIns="25400" rIns="25400" tIns="25400" bIns="25400">
            <a:spAutoFit/>
          </a:bodyPr>
          <a:lstStyle/>
          <a:p>
            <a:pPr algn="l">
              <a:spcBef>
                <a:spcPts val="0"/>
              </a:spcBef>
              <a:spcAft>
                <a:spcPts val="400"/>
              </a:spcAft>
            </a:pPr>
            <a:r>
              <a:rPr sz="1400" b="1">
                <a:solidFill>
                  <a:srgbClr val="FFFFFF"/>
                </a:solidFill>
                <a:latin typeface="Archivo"/>
              </a:rPr>
              <a:t>A platform that runs energy transactions, not one that merely records them.  </a:t>
            </a:r>
            <a:r>
              <a:rPr sz="1400" b="1">
                <a:solidFill>
                  <a:srgbClr val="D18E35"/>
                </a:solidFill>
                <a:latin typeface="Archivo"/>
              </a:rPr>
              <a:t>oe.vantax.co.za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