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828800"/>
            <a:ext cx="2377440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18E35"/>
                </a:solidFill>
                <a:latin typeface="Archivo"/>
              </a:rPr>
              <a:t>CEC ·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rchivo"/>
              </a:rPr>
              <a:t>The Cockpit Is the Kernel.</a:t>
            </a:r>
          </a:p>
          <a:p>
            <a:r>
              <a:rPr sz="4000" b="1" i="0">
                <a:solidFill>
                  <a:srgbClr val="D18E35"/>
                </a:solidFill>
                <a:latin typeface="Archivo"/>
              </a:rPr>
              <a:t>Products Are What We Sell On 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DFE8E6"/>
                </a:solidFill>
                <a:latin typeface="Archivo"/>
              </a:rPr>
              <a:t>A meta type-system for South Africa's unbundling energy market: the per-role cockpit becomes the shared kernel; cross-role journeys become priced products that wire roles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Expert panel synthesis · zero-base product thesis · roadmap · pricing options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PIVOT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From tools-per-role to journeys-as-products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Today CEC consolidates each role's tools. The next layer monetizes the flows that cross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402336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315468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TODAY — the cockpit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What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Per-role consolidation of that role's tools.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Shape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A system of RECORD, organized by role.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Sold as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Seats · transaction · value (depth-priced).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Limit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Each role pays for its own workspace. The value created BETWEEN roles is unpriced.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Status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Built: 207+ chains, 11 roles, 8 domains.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24528" y="3337560"/>
            <a:ext cx="868680" cy="822960"/>
          </a:xfrm>
          <a:prstGeom prst="rightArrow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41788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5358"/>
                </a:solidFill>
                <a:latin typeface="Archivo"/>
              </a:rPr>
              <a:t>wire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76088" y="178308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76088" y="1783080"/>
            <a:ext cx="64008" cy="402336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7256" y="1929384"/>
            <a:ext cx="315468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NEXT — cross-role products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What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Multi-sided journeys that wire 3–5 roles into one priced flow.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Shape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A system of TRANSACTION, organized by deal.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Sold as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Per deal · per MWh · bps · per facility — its OWN pricing.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Why now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Unbundling fragmented the counterparties; deals are the new bottleneck.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Built on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The same kernel — products inherit audit, cascade, tenancy free.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5248" y="1783080"/>
            <a:ext cx="1639519" cy="402336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5248" y="1783080"/>
            <a:ext cx="64008" cy="402336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86416" y="1929384"/>
            <a:ext cx="1273759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D18E35"/>
                </a:solidFill>
                <a:latin typeface="Archivo"/>
              </a:rPr>
              <a:t>THE BET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50" b="0" i="0">
                <a:solidFill>
                  <a:srgbClr val="FFFFFF"/>
                </a:solidFill>
                <a:latin typeface="Archivo"/>
              </a:rPr>
              <a:t>Seats get us in the room and fund the build.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50" b="0" i="0">
                <a:solidFill>
                  <a:srgbClr val="FFFFFF"/>
                </a:solidFill>
                <a:latin typeface="Archivo"/>
              </a:rPr>
              <a:t>Cross-role products turn each closed deal into a multi-year annuity on the same infrastructure.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50" b="0" i="0">
                <a:solidFill>
                  <a:srgbClr val="FFFFFF"/>
                </a:solidFill>
                <a:latin typeface="Archivo"/>
              </a:rPr>
              <a:t>The business compounds on the STOCK of deals closed on-platform.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Six advanced lenses, argued from a zero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We assembled a panel across strategy, product, pricing, architecture, design — and a CFO whose job was to attack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Market &amp; Strategy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Ex-McKinsey Power; REIPPPP/NERSA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Where value pools; why now; the beachhead; TAM→Africa.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64008" cy="1627632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29384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Product Architecture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Multi-sided marketplaces (Stripe/Plaid)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005358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The cross-role product catalog; the repeatable journey shape.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83080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9384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Business Model &amp; Pricing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B2B packaging economist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Pricing archetypes; who-pays; price bands; revenue mix.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93591"/>
            <a:ext cx="64008" cy="1627632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39896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Meta-Type-System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Platform architect (Foundry/Stripe)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005358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Cockpit-as-kernel; the 4 missing primitives; composition.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593591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739896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Product Design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Dense enterprise UX (Linear/Ramp)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The frontends each journey ships; the net-new shared surfaces.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3593591"/>
            <a:ext cx="64008" cy="1627632"/>
          </a:xfrm>
          <a:prstGeom prst="rect">
            <a:avLst/>
          </a:prstGeom>
          <a:solidFill>
            <a:srgbClr val="9B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39896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The Skeptic / CFO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Adversarial investor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9B3B2F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The bear case; kill-list; the go/no-go gates. Keeps it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META TYPE-SYSTEM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Cockpit as the middle — products are typed compositions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Primitives at the kernel. A composition runtime in the middle. Products above. Surfaces are just typed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7839" cy="676656"/>
          </a:xfrm>
          <a:prstGeom prst="roundRect">
            <a:avLst>
              <a:gd name="adj" fmla="val 4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67665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56231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L4  SURFACES — typed views</a:t>
            </a:r>
          </a:p>
          <a:p>
            <a:r>
              <a:rPr sz="919" b="0" i="0">
                <a:solidFill>
                  <a:srgbClr val="1B1812"/>
                </a:solidFill>
                <a:latin typeface="Archivo"/>
              </a:rPr>
              <a:t>Horizon · Atlas · Ledger · Thread · Deal Desk · /surface — render a product's lanes; hold no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28315"/>
            <a:ext cx="11057839" cy="713232"/>
          </a:xfrm>
          <a:prstGeom prst="roundRect">
            <a:avLst>
              <a:gd name="adj" fmla="val 4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28315"/>
            <a:ext cx="64008" cy="7132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01468"/>
            <a:ext cx="1060063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L3  PRODUCTS — cross-role journeys</a:t>
            </a:r>
          </a:p>
          <a:p>
            <a:r>
              <a:rPr sz="919" b="0" i="0">
                <a:solidFill>
                  <a:srgbClr val="1B1812"/>
                </a:solidFill>
                <a:latin typeface="Archivo"/>
              </a:rPr>
              <a:t>PPA-to-Cash · Financial Close · GreenLedger · Wheeling Gateway · Settlement Mesh — multi-sided priced 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10127"/>
            <a:ext cx="11057839" cy="786384"/>
          </a:xfrm>
          <a:prstGeom prst="roundRect">
            <a:avLst>
              <a:gd name="adj" fmla="val 4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310127"/>
            <a:ext cx="64008" cy="78638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383279"/>
            <a:ext cx="106006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chivo"/>
              </a:rPr>
              <a:t>L2  COMPOSITION RUNTIME  ◀ the cockpit, precisely</a:t>
            </a:r>
          </a:p>
          <a:p>
            <a:r>
              <a:rPr sz="919" b="0" i="0">
                <a:solidFill>
                  <a:srgbClr val="FFFFFF"/>
                </a:solidFill>
                <a:latin typeface="Archivo"/>
              </a:rPr>
              <a:t>Product registry (type-checked vs chain-registry) · cascade router · entitlement · deal-room binder · saga.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65091"/>
            <a:ext cx="11057839" cy="841248"/>
          </a:xfrm>
          <a:prstGeom prst="roundRect">
            <a:avLst>
              <a:gd name="adj" fmla="val 4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165091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238244"/>
            <a:ext cx="1060063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1B1812"/>
                </a:solidFill>
                <a:latin typeface="Archivo"/>
              </a:rPr>
              <a:t>L1  PRIMITIVE TYPES — the kernel</a:t>
            </a:r>
          </a:p>
          <a:p>
            <a:r>
              <a:rPr sz="919" b="0" i="0">
                <a:solidFill>
                  <a:srgbClr val="1B1812"/>
                </a:solidFill>
                <a:latin typeface="Archivo"/>
              </a:rPr>
              <a:t>Chain · Cascade · Audit-block · Identity · Tenancy · Guard · Lock · Connector · Ledger · Thread* · Entitlement* · Settlement* · Consent*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74920"/>
            <a:ext cx="11057839" cy="566928"/>
          </a:xfrm>
          <a:prstGeom prst="roundRect">
            <a:avLst>
              <a:gd name="adj" fmla="val 4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074920"/>
            <a:ext cx="64008" cy="5669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148072"/>
            <a:ext cx="106006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04D46"/>
                </a:solidFill>
                <a:latin typeface="Archivo"/>
              </a:rPr>
              <a:t>L0  SUBSTRATE</a:t>
            </a:r>
          </a:p>
          <a:p>
            <a:r>
              <a:rPr sz="919" b="0" i="0">
                <a:solidFill>
                  <a:srgbClr val="1B1812"/>
                </a:solidFill>
                <a:latin typeface="Archivo"/>
              </a:rPr>
              <a:t>Cloudflare Worker (Hono) · Durable Objects · D1 (sharded) · R2 ·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7104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504D46"/>
                </a:solidFill>
                <a:latin typeface="Archivo"/>
              </a:rPr>
              <a:t>★ = missing primitive (see next).  Every product is type-checked against L2 — so it inherits audit + cascade + tenancy + guards for 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WHAT THE KERNEL STILL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Four primitives turn compositions into priced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Most of the kernel is built. These four are the minimal set that lifts CEC from record-by-role to priced cross-role journeys.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173736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9384"/>
            <a:ext cx="4983480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005358"/>
                </a:solidFill>
                <a:latin typeface="Archivo"/>
              </a:rPr>
              <a:t>1 · Deal-Room (cross-tenant)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60" b="0" i="0">
                <a:solidFill>
                  <a:srgbClr val="1B1812"/>
                </a:solidFill>
                <a:latin typeface="Archivo"/>
              </a:rPr>
              <a:t>Generalise today's two-sided Thread to N tenants with field-level visibility ACLs over one shared timeline. The spine every product hangs on.</a:t>
            </a:r>
          </a:p>
          <a:p>
            <a:r>
              <a:rPr sz="900" b="1" i="0">
                <a:solidFill>
                  <a:srgbClr val="D18E35"/>
                </a:solidFill>
                <a:latin typeface="Archivo"/>
              </a:rPr>
              <a:t>Build/Buy:  </a:t>
            </a:r>
            <a:r>
              <a:rPr sz="900" b="1" i="0">
                <a:solidFill>
                  <a:srgbClr val="504D46"/>
                </a:solidFill>
                <a:latin typeface="Archivo"/>
              </a:rPr>
              <a:t>BUILD — core 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783080"/>
            <a:ext cx="64008" cy="173736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929384"/>
            <a:ext cx="4983480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005358"/>
                </a:solidFill>
                <a:latin typeface="Archivo"/>
              </a:rPr>
              <a:t>2 · Entitlement / Packaging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60" b="0" i="0">
                <a:solidFill>
                  <a:srgbClr val="1B1812"/>
                </a:solidFill>
                <a:latin typeface="Archivo"/>
              </a:rPr>
              <a:t>Turns a composition into a sellable bundle: which roles, chains, actions, surfaces a tenant has rights to — and who pays. Access today is role-gated, not product-gated.</a:t>
            </a:r>
          </a:p>
          <a:p>
            <a:r>
              <a:rPr sz="900" b="1" i="0">
                <a:solidFill>
                  <a:srgbClr val="D18E35"/>
                </a:solidFill>
                <a:latin typeface="Archivo"/>
              </a:rPr>
              <a:t>Build/Buy:  </a:t>
            </a:r>
            <a:r>
              <a:rPr sz="900" b="1" i="0">
                <a:solidFill>
                  <a:srgbClr val="504D46"/>
                </a:solidFill>
                <a:latin typeface="Archivo"/>
              </a:rPr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21608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21608"/>
            <a:ext cx="64008" cy="173736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867912"/>
            <a:ext cx="4983480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005358"/>
                </a:solidFill>
                <a:latin typeface="Archivo"/>
              </a:rPr>
              <a:t>3 · Settlement / Clearing Rail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60" b="0" i="0">
                <a:solidFill>
                  <a:srgbClr val="1B1812"/>
                </a:solidFill>
                <a:latin typeface="Archivo"/>
              </a:rPr>
              <a:t>A first-class primitive that takes a priced obligation to FINALITY: net → instruct → confirm → irrevocable. Fronts the STRATE/SWIFT + ERP connectors.</a:t>
            </a:r>
          </a:p>
          <a:p>
            <a:r>
              <a:rPr sz="900" b="1" i="0">
                <a:solidFill>
                  <a:srgbClr val="D18E35"/>
                </a:solidFill>
                <a:latin typeface="Archivo"/>
              </a:rPr>
              <a:t>Build/Buy:  </a:t>
            </a:r>
            <a:r>
              <a:rPr sz="900" b="1" i="0">
                <a:solidFill>
                  <a:srgbClr val="504D46"/>
                </a:solidFill>
                <a:latin typeface="Archivo"/>
              </a:rPr>
              <a:t>BUILD orchestration · BUY rails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721608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721608"/>
            <a:ext cx="64008" cy="173736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867912"/>
            <a:ext cx="4983480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005358"/>
                </a:solidFill>
                <a:latin typeface="Archivo"/>
              </a:rPr>
              <a:t>4 · Consent / Signature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60" b="0" i="0">
                <a:solidFill>
                  <a:srgbClr val="1B1812"/>
                </a:solidFill>
                <a:latin typeface="Archivo"/>
              </a:rPr>
              <a:t>N typed parties each sign a specific artefact; the obligation becomes enforceable only when the signature set is complete and audit-anchored.</a:t>
            </a:r>
          </a:p>
          <a:p>
            <a:r>
              <a:rPr sz="900" b="1" i="0">
                <a:solidFill>
                  <a:srgbClr val="D18E35"/>
                </a:solidFill>
                <a:latin typeface="Archivo"/>
              </a:rPr>
              <a:t>Build/Buy:  </a:t>
            </a:r>
            <a:r>
              <a:rPr sz="900" b="1" i="0">
                <a:solidFill>
                  <a:srgbClr val="504D46"/>
                </a:solidFill>
                <a:latin typeface="Archivo"/>
              </a:rPr>
              <a:t>BUILD semantics · BUY PKI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WHERE THE MONEY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Six friction pools — and the product that attacks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deepest pools are deal-assembly friction: the cost of wiring 4–5 counterparties into one bankable transaction.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2385024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19656"/>
            <a:ext cx="22570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Value pool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1952" y="1783080"/>
            <a:ext cx="2601844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5960" y="1819656"/>
            <a:ext cx="24738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Order of magnitude (SA)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3796" y="1783080"/>
            <a:ext cx="3469126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7804" y="1819656"/>
            <a:ext cx="33411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Where friction pools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2922" y="1783080"/>
            <a:ext cx="2601844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6930" y="1819656"/>
            <a:ext cx="24738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Cross-role product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264"/>
            <a:ext cx="23850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135124"/>
            <a:ext cx="22570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Private PPA + wheeling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51952" y="2112264"/>
            <a:ext cx="26018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5960" y="2135124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R150–250bn private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3796" y="2112264"/>
            <a:ext cx="346912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7804" y="2135124"/>
            <a:ext cx="334111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12–24mo assembly; R5–25m legal/deal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2922" y="2112264"/>
            <a:ext cx="26018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6930" y="2135124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PPA-to-Cash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7752"/>
            <a:ext cx="238502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610612"/>
            <a:ext cx="22570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Grid access / queue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1952" y="2587752"/>
            <a:ext cx="260184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5960" y="2610612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70+ GW applied, single-GW/yr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3796" y="2587752"/>
            <a:ext cx="3469126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7804" y="2610612"/>
            <a:ext cx="334111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Queue position worth R10s of 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2922" y="2587752"/>
            <a:ext cx="260184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6930" y="2610612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Grid Access Manager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063240"/>
            <a:ext cx="23850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086100"/>
            <a:ext cx="22570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Carbon tax escalation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1952" y="3063240"/>
            <a:ext cx="26018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5960" y="3086100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R236→~R495/t by 2030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53796" y="3063240"/>
            <a:ext cx="346912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17804" y="3086100"/>
            <a:ext cx="334111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Verified-offset scramble; SARS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2922" y="3063240"/>
            <a:ext cx="26018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6930" y="3086100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Carbon Compliance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538728"/>
            <a:ext cx="238502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561588"/>
            <a:ext cx="22570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Project finance / DSCR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1952" y="3538728"/>
            <a:ext cx="260184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5960" y="3561588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R100bn+ debt deployed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53796" y="3538728"/>
            <a:ext cx="3469126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17804" y="3561588"/>
            <a:ext cx="334111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Covenants in spreadsheets; step-in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2922" y="3538728"/>
            <a:ext cx="260184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86930" y="3561588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Covenant Vault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014216"/>
            <a:ext cx="23850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4037076"/>
            <a:ext cx="22570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Settlement &amp; trading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1952" y="4014216"/>
            <a:ext cx="26018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5960" y="4037076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Wholesale Market Code emerging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53796" y="4014216"/>
            <a:ext cx="346912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17804" y="4037076"/>
            <a:ext cx="334111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No neutral clearing utility exists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2922" y="4014216"/>
            <a:ext cx="26018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6930" y="4037076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Trade-to-Settle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489704"/>
            <a:ext cx="238502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" y="4512564"/>
            <a:ext cx="225700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SSEG / C&amp;I rooftop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51952" y="4489704"/>
            <a:ext cx="260184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5960" y="4512564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5.4+ GW embedded, mandatory reg.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53796" y="4489704"/>
            <a:ext cx="3469126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17804" y="4512564"/>
            <a:ext cx="334111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Registration backlog; no aggregation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2922" y="4489704"/>
            <a:ext cx="2601844" cy="47548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86930" y="4512564"/>
            <a:ext cx="24738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SSEG Aggregation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507492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504D46"/>
                </a:solidFill>
                <a:latin typeface="Archivo"/>
              </a:rPr>
              <a:t>Monetizable layer = transaction friction + compliance, not the underlying capex. SA TAM ~R8–15bn/yr · SAM ~R2–4bn/yr · 3-yr SOM ~R150–400m/yr.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Four structural shifts force roles into the same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Each shift is a forcing function — it puts multiple roles into one deal, which is the precondition for a priced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Eskom unbundling → ISMO + Market Code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Gen/Transmission(NTCSA)/Distribution split. A multi-party market with distinct Grid, Trader and settlement counterparties — no incumbent neutral operator owns the seam.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783080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929384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100MW threshold removal + wheeling live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Schedule-2 exemption + wheeling framework unlocked a R150bn+ private PPA pipeline. Every PPA now wires Offtaker+IPP+Grid+Lender+NERSA.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67328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67328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913632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Carbon tax escalation cliff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Phase-2 rate toward R495/t, free allowances phasing down, 5–10% offset cap. Real escalating liability → WTP for audit-grade provenance.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767328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767328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3913632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Grid-access queue is the binding constraint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70+ GW queued vs single-GW/yr connectable. Queue position + curtailment modeling become tradeable, monetizable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PRODUCT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Eleven cross-role products, sequenced across three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Each composes REAL chains, owns none of them, gates one terminal transition, and carries one metered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1663568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19656"/>
            <a:ext cx="1535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0496" y="1783080"/>
            <a:ext cx="2446424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4504" y="1819656"/>
            <a:ext cx="23184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Roles wired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6921" y="1783080"/>
            <a:ext cx="3424994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0929" y="1819656"/>
            <a:ext cx="329697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Multi-role journey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915" y="1783080"/>
            <a:ext cx="2642138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923" y="1819656"/>
            <a:ext cx="25141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Metered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44054" y="1783080"/>
            <a:ext cx="880712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8062" y="1819656"/>
            <a:ext cx="7526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Horizon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112264"/>
            <a:ext cx="166356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135124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Financial Close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0496" y="2112264"/>
            <a:ext cx="244642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94504" y="2135124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IPP·Lender·Offtaker·Regulator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6921" y="2112264"/>
            <a:ext cx="342499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0929" y="2135124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Term-sheet → first drawdown, CP-gated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915" y="2112264"/>
            <a:ext cx="264213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923" y="2135124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bps on facility + per drawdown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44054" y="2112264"/>
            <a:ext cx="8807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8062" y="2135124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Short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436876"/>
            <a:ext cx="166356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2459736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PowerMatch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30496" y="2436876"/>
            <a:ext cx="244642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94504" y="2459736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Offtaker·IPP·Grid·Regulator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76921" y="2436876"/>
            <a:ext cx="342499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0929" y="2459736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Match load to generation → live PPA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01915" y="2436876"/>
            <a:ext cx="264213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923" y="2459736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deal + per MWh settled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44054" y="2436876"/>
            <a:ext cx="880712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8062" y="2459736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Short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2761488"/>
            <a:ext cx="166356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2784348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Covenant Watch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0496" y="2761488"/>
            <a:ext cx="244642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94504" y="2784348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Lender·IPP·ESCO·Regulator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76921" y="2761488"/>
            <a:ext cx="342499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40929" y="2784348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Live DSCR/covenant monitor + escalation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01915" y="2761488"/>
            <a:ext cx="264213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923" y="2784348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active facility / month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44054" y="2761488"/>
            <a:ext cx="8807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8062" y="2784348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Short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086100"/>
            <a:ext cx="166356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108960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Wheeling Gateway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30496" y="3086100"/>
            <a:ext cx="244642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94504" y="3108960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Grid·IPP·Offtaker·Regulator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76921" y="3086100"/>
            <a:ext cx="342499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40929" y="3108960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One door: request → allocate → settle path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01915" y="3086100"/>
            <a:ext cx="264213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65923" y="3108960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MWh wheeled + per request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44054" y="3086100"/>
            <a:ext cx="880712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08062" y="3108960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Medium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3410712"/>
            <a:ext cx="166356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" y="3433572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Settlement Mesh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30496" y="3410712"/>
            <a:ext cx="244642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94504" y="3433572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Trader·Grid·Lender·Regulator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76921" y="3410712"/>
            <a:ext cx="342499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40929" y="3433572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Net, clear &amp; DvP-settle obligations daily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915" y="3410712"/>
            <a:ext cx="264213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65923" y="3433572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bps on value settled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44054" y="3410712"/>
            <a:ext cx="8807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08062" y="3433572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Medium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3735324"/>
            <a:ext cx="166356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" y="3758184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GreenLedger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30496" y="3735324"/>
            <a:ext cx="244642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94504" y="3758184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ESCO·Carbon·Offtaker·Regulator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76921" y="3735324"/>
            <a:ext cx="342499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40929" y="3758184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Metered MWh → issued, rated, retired credit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01915" y="3735324"/>
            <a:ext cx="264213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65923" y="3758184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credit + per certified export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44054" y="3735324"/>
            <a:ext cx="880712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08062" y="3758184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Medium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4059935"/>
            <a:ext cx="166356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" y="4082796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Asset Uptime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30496" y="4059935"/>
            <a:ext cx="244642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94504" y="4082796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ESCO·IPP·OEM·Lender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76921" y="4059935"/>
            <a:ext cx="342499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40929" y="4082796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Health → work → parts → warranty recovery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01915" y="4059935"/>
            <a:ext cx="264213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65923" y="4082796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facility/mo + per work order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44054" y="4059935"/>
            <a:ext cx="8807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08062" y="4082796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Medium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" y="4384548"/>
            <a:ext cx="166356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" y="4407408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Regulator Rail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30496" y="4384548"/>
            <a:ext cx="244642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94504" y="4407408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Regulator + all applicant roles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76921" y="4384548"/>
            <a:ext cx="342499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40929" y="4407408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One certified pipe: file → levy → export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01915" y="4384548"/>
            <a:ext cx="264213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65923" y="4407408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certified export + per filing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744054" y="4384548"/>
            <a:ext cx="880712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808062" y="4407408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Medium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" y="4709160"/>
            <a:ext cx="166356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0936" y="4732020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Origination Desk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30496" y="4709160"/>
            <a:ext cx="244642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94504" y="4732020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Regulator·Offtaker·IPP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76921" y="4709160"/>
            <a:ext cx="342499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40929" y="4732020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Run an RFP round: notice → award → mandate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01915" y="4709160"/>
            <a:ext cx="264213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65923" y="4732020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award (success fee)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744054" y="4709160"/>
            <a:ext cx="8807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808062" y="4732020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End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6928" y="5033772"/>
            <a:ext cx="166356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0936" y="5056632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Treasury Layer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30496" y="5033772"/>
            <a:ext cx="244642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294504" y="5056632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Lender·IPP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76921" y="5033772"/>
            <a:ext cx="3424994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40929" y="5056632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Manage DSRA/MRA reserve + liquidity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01915" y="5033772"/>
            <a:ext cx="2642138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65923" y="5056632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% of reserve AUM + per top-up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744054" y="5033772"/>
            <a:ext cx="880712" cy="324612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808062" y="5056632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End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6928" y="5358384"/>
            <a:ext cx="166356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0936" y="5381244"/>
            <a:ext cx="153555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Continuity Shield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30496" y="5358384"/>
            <a:ext cx="244642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294504" y="5381244"/>
            <a:ext cx="231840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Detector role + Regulator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676921" y="5358384"/>
            <a:ext cx="3424994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40929" y="5381244"/>
            <a:ext cx="3296978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One incident spine: HSE·cyber·outage·curtail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101915" y="5358384"/>
            <a:ext cx="264213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165923" y="5381244"/>
            <a:ext cx="2514122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Per active facility / month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744054" y="5358384"/>
            <a:ext cx="8807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808062" y="5381244"/>
            <a:ext cx="752696" cy="2788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BEACHHEAD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Land Financial Close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Highest WTP per transaction · composes only already-built chains · needs no liquidity · forces the architecture on the hardest 4-role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1050" b="1" i="0">
                <a:solidFill>
                  <a:srgbClr val="005358"/>
                </a:solidFill>
                <a:latin typeface="Archivo"/>
              </a:rPr>
              <a:t>Why this one  </a:t>
            </a:r>
            <a:r>
              <a:rPr sz="1050" b="0" i="0">
                <a:solidFill>
                  <a:srgbClr val="1B1812"/>
                </a:solidFill>
                <a:latin typeface="Archivo"/>
              </a:rPr>
              <a:t>Buyers already spend R5–25m in legal/advisory per close and carry 12–24 months of opportunity cost. WTP is deal-sized, not seat-sized.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1050" b="1" i="0">
                <a:solidFill>
                  <a:srgbClr val="005358"/>
                </a:solidFill>
                <a:latin typeface="Archivo"/>
              </a:rPr>
              <a:t>The wedge  </a:t>
            </a:r>
            <a:r>
              <a:rPr sz="1050" b="0" i="0">
                <a:solidFill>
                  <a:srgbClr val="1B1812"/>
                </a:solidFill>
                <a:latin typeface="Archivo"/>
              </a:rPr>
              <a:t>Bankability. What kills PPAs is lender comfort on offtaker credit + grid certainty. Financial Close produces the bankable evidence chain lenders pay for.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1050" b="1" i="0">
                <a:solidFill>
                  <a:srgbClr val="005358"/>
                </a:solidFill>
                <a:latin typeface="Archivo"/>
              </a:rPr>
              <a:t>No cold-start  </a:t>
            </a:r>
            <a:r>
              <a:rPr sz="1050" b="0" i="0">
                <a:solidFill>
                  <a:srgbClr val="1B1812"/>
                </a:solidFill>
                <a:latin typeface="Archivo"/>
              </a:rPr>
              <a:t>Not liquidity-dependent — needs one IPP + one Lender mid-deal, not a populated market. Both are already tenants. Bring the Lender first; they pull their IPPs 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1050" b="1" i="0">
                <a:solidFill>
                  <a:srgbClr val="005358"/>
                </a:solidFill>
                <a:latin typeface="Archivo"/>
              </a:rPr>
              <a:t>Pre-wires expansion  </a:t>
            </a:r>
            <a:r>
              <a:rPr sz="1050" b="0" i="0">
                <a:solidFill>
                  <a:srgbClr val="1B1812"/>
                </a:solidFill>
                <a:latin typeface="Archivo"/>
              </a:rPr>
              <a:t>Grid Access Manager and Regulator Rail are forced consumers of its output — attach is structural, not sold cold.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783080"/>
            <a:ext cx="5205679" cy="4023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9088" y="1783080"/>
            <a:ext cx="64008" cy="402336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1965960"/>
            <a:ext cx="479419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Smallest wire-up that delivers value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Deal Room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one object owned jointly by IPP+Lender.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CP engine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each conditions-precedent line = a (chainKey, requiredState) predicate over the chain registry.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The gate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all-green → the existing drawdown chain's first transition unblocks. Nothing else.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It reads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chain state that already exists, and gates one chain on it. No new settlement, no new connectors.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Price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flat fee per close to prove WTP → bps on facility + per-drawdown at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REPEATABLE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Every product is the same four-phase flow over the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This is what makes the catalog a system, not a grab-bag. A proposed product that can't fit this shape is a feature, not a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627299" cy="2834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2316403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1 · INITIATION</a:t>
            </a:r>
          </a:p>
          <a:p>
            <a:pPr>
              <a:lnSpc>
                <a:spcPct val="105000"/>
              </a:lnSpc>
            </a:pPr>
            <a:r>
              <a:rPr sz="980" b="0" i="0">
                <a:solidFill>
                  <a:srgbClr val="1B1812"/>
                </a:solidFill>
                <a:latin typeface="Archivo"/>
              </a:rPr>
              <a:t>One anchor object, one initiating role. The ONLY new persistent entity. Carries the product's pricing meter + ID space.</a:t>
            </a:r>
          </a:p>
        </p:txBody>
      </p:sp>
      <p:sp>
        <p:nvSpPr>
          <p:cNvPr id="10" name="Chevron 9"/>
          <p:cNvSpPr/>
          <p:nvPr/>
        </p:nvSpPr>
        <p:spPr>
          <a:xfrm>
            <a:off x="3175939" y="2971800"/>
            <a:ext cx="219456" cy="457200"/>
          </a:xfrm>
          <a:prstGeom prst="chevron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7107" y="1783080"/>
            <a:ext cx="2627299" cy="2834640"/>
          </a:xfrm>
          <a:prstGeom prst="roundRect">
            <a:avLst>
              <a:gd name="adj" fmla="val 6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1699" y="1947672"/>
            <a:ext cx="2316403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2 · MULTI-PARTY STATE</a:t>
            </a:r>
          </a:p>
          <a:p>
            <a:pPr>
              <a:lnSpc>
                <a:spcPct val="105000"/>
              </a:lnSpc>
            </a:pPr>
            <a:r>
              <a:rPr sz="980" b="0" i="0">
                <a:solidFill>
                  <a:srgbClr val="1B1812"/>
                </a:solidFill>
                <a:latin typeface="Archivo"/>
              </a:rPr>
              <a:t>Predicates over (chainKey, requiredState). Each role advances its OWN chain in its OWN cockpit. Cross-role movement = existing cascade.</a:t>
            </a:r>
          </a:p>
        </p:txBody>
      </p:sp>
      <p:sp>
        <p:nvSpPr>
          <p:cNvPr id="13" name="Chevron 12"/>
          <p:cNvSpPr/>
          <p:nvPr/>
        </p:nvSpPr>
        <p:spPr>
          <a:xfrm>
            <a:off x="5986119" y="2971800"/>
            <a:ext cx="219456" cy="457200"/>
          </a:xfrm>
          <a:prstGeom prst="chevron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7" y="1783080"/>
            <a:ext cx="2627299" cy="2834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1879" y="1947672"/>
            <a:ext cx="2316403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3 · SETTLEMENT / CLOSEOUT</a:t>
            </a:r>
          </a:p>
          <a:p>
            <a:pPr>
              <a:lnSpc>
                <a:spcPct val="105000"/>
              </a:lnSpc>
            </a:pPr>
            <a:r>
              <a:rPr sz="980" b="0" i="0">
                <a:solidFill>
                  <a:srgbClr val="1B1812"/>
                </a:solidFill>
                <a:latin typeface="Archivo"/>
              </a:rPr>
              <a:t>Unblocks exactly ONE consequential terminal transition. This is where the metered unit fires — the billable event.</a:t>
            </a:r>
          </a:p>
        </p:txBody>
      </p:sp>
      <p:sp>
        <p:nvSpPr>
          <p:cNvPr id="16" name="Chevron 15"/>
          <p:cNvSpPr/>
          <p:nvPr/>
        </p:nvSpPr>
        <p:spPr>
          <a:xfrm>
            <a:off x="8796299" y="2971800"/>
            <a:ext cx="219456" cy="457200"/>
          </a:xfrm>
          <a:prstGeom prst="chevron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97467" y="1783080"/>
            <a:ext cx="2627299" cy="2834640"/>
          </a:xfrm>
          <a:prstGeom prst="roundRect">
            <a:avLst>
              <a:gd name="adj" fmla="val 6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059" y="1947672"/>
            <a:ext cx="2316403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4 · EVIDENCE</a:t>
            </a:r>
          </a:p>
          <a:p>
            <a:pPr>
              <a:lnSpc>
                <a:spcPct val="105000"/>
              </a:lnSpc>
            </a:pPr>
            <a:r>
              <a:rPr sz="980" b="0" i="0">
                <a:solidFill>
                  <a:srgbClr val="1B1812"/>
                </a:solidFill>
                <a:latin typeface="Archivo"/>
              </a:rPr>
              <a:t>Every predicate, waiver and the terminal transition write to the hash-chain audit → a tamper-evident binder + optional certified export.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46320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965192"/>
            <a:ext cx="106006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D18E35"/>
                </a:solidFill>
                <a:latin typeface="Archivo"/>
              </a:rPr>
              <a:t>Invariants every product honors:  </a:t>
            </a:r>
            <a:r>
              <a:rPr sz="1050" b="0" i="0">
                <a:solidFill>
                  <a:srgbClr val="FFFFFF"/>
                </a:solidFill>
                <a:latin typeface="Archivo"/>
              </a:rPr>
              <a:t>one anchor object · composes ≥3 real chains, owns none · gates one terminal transition · exactly one metered unit · SQL identifiers from the static registry only · writes evidence to the hash-chain.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FRONTENDS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Six net-new shared surfaces sit above the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cockpit stays the per-role kernel. Cross-role products ship these shared surfaces — every product is a Deal Room at its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11095"/>
            <a:ext cx="316382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S1 · Deal Room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Cross-tenant two-sided room: one priced flow, per-party visibility, redline, e-sign. The spine.</a:t>
            </a:r>
          </a:p>
          <a:p>
            <a:r>
              <a:rPr sz="850" b="1" i="0">
                <a:solidFill>
                  <a:srgbClr val="D18E35"/>
                </a:solidFill>
                <a:latin typeface="Archivo"/>
              </a:rPr>
              <a:t>Extend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11095"/>
            <a:ext cx="316382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S2 · Concierge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Plain-language front-door bound per journey — 'my bill is too high' instantiates a Deal Room.</a:t>
            </a:r>
          </a:p>
          <a:p>
            <a:r>
              <a:rPr sz="850" b="1" i="0">
                <a:solidFill>
                  <a:srgbClr val="D18E35"/>
                </a:solidFill>
                <a:latin typeface="Archivo"/>
              </a:rPr>
              <a:t>Extend prototype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83080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11095"/>
            <a:ext cx="316382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S3 · Counterparty Portal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Lightweight portal for parties with no seat (a bank's credit committee). The distribution surface.</a:t>
            </a:r>
          </a:p>
          <a:p>
            <a:r>
              <a:rPr sz="850" b="1" i="0">
                <a:solidFill>
                  <a:srgbClr val="D18E35"/>
                </a:solidFill>
                <a:latin typeface="Archivo"/>
              </a:rPr>
              <a:t>New shell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93591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21607"/>
            <a:ext cx="316382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S4 · Field Ops PWA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Offline-capable mobile: work orders, LOTO, daily reports, photo/geo evidence into chains.</a:t>
            </a:r>
          </a:p>
          <a:p>
            <a:r>
              <a:rPr sz="850" b="1" i="0">
                <a:solidFill>
                  <a:srgbClr val="D18E35"/>
                </a:solidFill>
                <a:latin typeface="Archivo"/>
              </a:rPr>
              <a:t>New · PWA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593591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721607"/>
            <a:ext cx="316382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S5 · Evidence &amp; Export Viewer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Renders the L5 hash-chain audit, certified XBRL packs, reconciliation. Forensic, verifiable.</a:t>
            </a:r>
          </a:p>
          <a:p>
            <a:r>
              <a:rPr sz="850" b="1" i="0">
                <a:solidFill>
                  <a:srgbClr val="D18E35"/>
                </a:solidFill>
                <a:latin typeface="Archivo"/>
              </a:rPr>
              <a:t>New viewer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3593591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21607"/>
            <a:ext cx="316382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S6 · Journey Catalog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The storefront: browse products, see tier + metered unit + price, START a journey.</a:t>
            </a:r>
          </a:p>
          <a:p>
            <a:r>
              <a:rPr sz="850" b="1" i="0">
                <a:solidFill>
                  <a:srgbClr val="D18E35"/>
                </a:solidFill>
                <a:latin typeface="Archivo"/>
              </a:rPr>
              <a:t>New · thin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MAKING MONETIZATION LEGIBLE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The UI shows you're buying a journey, not a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Tier badge, metered unit, and moment-of-value vs moment-of-charge — all on screen, all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749039" cy="3840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3840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338327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Tier badge — persistent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Foundation · L3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slate. State machine + audit.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Professional · L4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teal. Cascades, SLAs, dunning, evidence chain.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Regulator-grade · L5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gold-edge. Tamper-evident + certified export + reconciliation.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An L3 Deal Room shows the L5 evidence viewer as a locked upgrade — not hidden.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783080"/>
            <a:ext cx="3749039" cy="3840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1783080"/>
            <a:ext cx="64008" cy="384048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1929384"/>
            <a:ext cx="338327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Metered unit — in surface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PPA Origination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per executed PPA MWh-year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Drawdown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per tranche disbursed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Carbon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per tCO₂e issued / retired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Wheeling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per MW-month allocated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A live meter chip sits in the Deal Room header.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7" y="1783080"/>
            <a:ext cx="3102559" cy="384048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22207" y="1783080"/>
            <a:ext cx="64008" cy="3840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1929384"/>
            <a:ext cx="273679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D18E35"/>
                </a:solidFill>
                <a:latin typeface="Archivo"/>
              </a:rPr>
              <a:t>Value vs charge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Moment of value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state advance into a good terminal outcome — the UI celebrates: a confirmed timeline node, not a paywall.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Moment of charge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the meter ticks at the same node, a quiet receipt line in the ledger rail. Legible, adjacent, never a surprise modal.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Short → medium → end-state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Order = (build-risk ascending) × (liquidity-dependence ascending) × (reuse of prior scaffold).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33546" cy="411480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3533546" cy="676656"/>
          </a:xfrm>
          <a:prstGeom prst="roundRect">
            <a:avLst>
              <a:gd name="adj" fmla="val 6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31677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Archivo"/>
              </a:rPr>
              <a:t>SHORT · 0–6 mo</a:t>
            </a:r>
          </a:p>
          <a:p>
            <a:r>
              <a:rPr sz="900" b="0" i="0">
                <a:solidFill>
                  <a:srgbClr val="F2ECDE"/>
                </a:solidFill>
                <a:latin typeface="Archivo"/>
              </a:rPr>
              <a:t>Prove the spine on one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06040"/>
            <a:ext cx="316778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Platform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Deal Room (generalise Thread) · Product Registry + type-checker · Consent primitive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Products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Financial Close (beachhead) · PowerMatch · Covenant Watch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Surfaces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S1 Deal Room · S2 Concierge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Revenue mix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~85 seats : 15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9074" y="1783080"/>
            <a:ext cx="3533546" cy="411480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9074" y="1783080"/>
            <a:ext cx="3533546" cy="67665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1954" y="1874519"/>
            <a:ext cx="31677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Archivo"/>
              </a:rPr>
              <a:t>MEDIUM · 6–18 mo</a:t>
            </a:r>
          </a:p>
          <a:p>
            <a:r>
              <a:rPr sz="900" b="0" i="0">
                <a:solidFill>
                  <a:srgbClr val="F2ECDE"/>
                </a:solidFill>
                <a:latin typeface="Archivo"/>
              </a:rPr>
              <a:t>Productise + monetise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954" y="2606040"/>
            <a:ext cx="316778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Platform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Entitlement/Packaging · Settlement Rail v1 · saga hardening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Products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Wheeling Gateway · Settlement Mesh · GreenLedger · Asset Uptime · Regulator Rail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Surfaces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S3 Counterparty Portal · S5 Evidence Viewer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Revenue mix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~55 seats : 45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783080"/>
            <a:ext cx="3533546" cy="411480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1220" y="1783080"/>
            <a:ext cx="3533546" cy="676656"/>
          </a:xfrm>
          <a:prstGeom prst="roundRect">
            <a:avLst>
              <a:gd name="adj" fmla="val 6000"/>
            </a:avLst>
          </a:prstGeom>
          <a:solidFill>
            <a:srgbClr val="7A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4100" y="1874519"/>
            <a:ext cx="31677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Archivo"/>
              </a:rPr>
              <a:t>END · 18 mo+</a:t>
            </a:r>
          </a:p>
          <a:p>
            <a:r>
              <a:rPr sz="900" b="0" i="0">
                <a:solidFill>
                  <a:srgbClr val="F2ECDE"/>
                </a:solidFill>
                <a:latin typeface="Archivo"/>
              </a:rPr>
              <a:t>Become the clearing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606040"/>
            <a:ext cx="316778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Platform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Open Product SDK · multilateral netting · cert-export at product level · federated tenancy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Products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Origination Desk · Treasury Layer · Continuity Shield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Surfaces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S4 Field PWA · S6 Journey Catalog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Revenue mix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 i="0">
                <a:solidFill>
                  <a:srgbClr val="1B1812"/>
                </a:solidFill>
                <a:latin typeface="Archivo"/>
              </a:rPr>
              <a:t>~30 seats : 70 product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PRICING OPTIONS ·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Five archetypes — fit the model to the value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Value moves fast + per-deal → take-rate or success fee. Moves in units → metered. Is an obligation → subscription. Is capital → bps.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2249052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19656"/>
            <a:ext cx="21210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Archetype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5980" y="1783080"/>
            <a:ext cx="2623894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9988" y="1819656"/>
            <a:ext cx="249587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Metered 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9874" y="1783080"/>
            <a:ext cx="2998736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3882" y="1819656"/>
            <a:ext cx="287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8610" y="1783080"/>
            <a:ext cx="3186157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2618" y="1819656"/>
            <a:ext cx="305814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Anti-gaming guard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264"/>
            <a:ext cx="22490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135124"/>
            <a:ext cx="212103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A · Marketplace take-rate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5980" y="2112264"/>
            <a:ext cx="262389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9988" y="2135124"/>
            <a:ext cx="2495878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% of settled transaction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9874" y="2112264"/>
            <a:ext cx="29987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3882" y="2135124"/>
            <a:ext cx="2870720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Settlement · trading · carbon trades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8610" y="2112264"/>
            <a:ext cx="318615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2618" y="2135124"/>
            <a:ext cx="305814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Meter the settled leg only; bps taper above a notional band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60904"/>
            <a:ext cx="2249052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683764"/>
            <a:ext cx="212103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B · Success / closing fee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15980" y="2660904"/>
            <a:ext cx="2623894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9988" y="2683764"/>
            <a:ext cx="2495878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Per journey reaching a terminal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39874" y="2660904"/>
            <a:ext cx="2998736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3882" y="2683764"/>
            <a:ext cx="2870720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PPA origination · debt close · licence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8610" y="2660904"/>
            <a:ext cx="3186157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2618" y="2683764"/>
            <a:ext cx="305814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Bind to the CERTIFIED state + on-platform cascade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209544"/>
            <a:ext cx="22490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232404"/>
            <a:ext cx="212103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C · Per-unit metered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15980" y="3209544"/>
            <a:ext cx="262389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79988" y="3232404"/>
            <a:ext cx="2495878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Per MWh · per export · per tCO₂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9874" y="3209544"/>
            <a:ext cx="29987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3882" y="3232404"/>
            <a:ext cx="2870720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Settlement · carbon · regulator packs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8610" y="3209544"/>
            <a:ext cx="318615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2618" y="3232404"/>
            <a:ext cx="305814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Meter from the system-of-record event, not self-report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758184"/>
            <a:ext cx="2249052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781044"/>
            <a:ext cx="212103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D · Compliance-SaaS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15980" y="3758184"/>
            <a:ext cx="2623894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79988" y="3781044"/>
            <a:ext cx="2495878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Per regulated facility / year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39874" y="3758184"/>
            <a:ext cx="2998736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03882" y="3781044"/>
            <a:ext cx="2870720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Audit · grid-code · reconciliation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38610" y="3758184"/>
            <a:ext cx="3186157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2618" y="3781044"/>
            <a:ext cx="305814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Tie scope to the NERSA register, not customer election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06824"/>
            <a:ext cx="22490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4329684"/>
            <a:ext cx="212103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E · Financing-origination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15980" y="4306824"/>
            <a:ext cx="262389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9988" y="4329684"/>
            <a:ext cx="2495878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bps on capital arranged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9874" y="4306824"/>
            <a:ext cx="29987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3882" y="4329684"/>
            <a:ext cx="2870720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Drawdown · credit origination · DSCR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38610" y="4306824"/>
            <a:ext cx="318615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2618" y="4329684"/>
            <a:ext cx="305814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Price the persisting AGENCY function, not a one-shot fee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49469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04D46"/>
                </a:solidFill>
                <a:latin typeface="Archivo"/>
              </a:rPr>
              <a:t>Most products are a STACK: PPA Origination = B at close + C per MWh in delivery + D on the compliance wrapper.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PRICING OPTIONS ·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Who pays — the side that captures the value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Assign the fee to ONE side by value-capture; price the deal cheaper-than-status-quo for everyone else. Never split a single fee across sides.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1906523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19656"/>
            <a:ext cx="17785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3451" y="1783080"/>
            <a:ext cx="2764459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7459" y="1819656"/>
            <a:ext cx="26364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Roles wired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911" y="1783080"/>
            <a:ext cx="2573807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1919" y="1819656"/>
            <a:ext cx="24457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Pays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1719" y="1783080"/>
            <a:ext cx="3813047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1819656"/>
            <a:ext cx="3685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Why they pay (others tolerate 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264"/>
            <a:ext cx="190652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135124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PPA Origination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73451" y="2112264"/>
            <a:ext cx="276445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7459" y="2135124"/>
            <a:ext cx="263644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Offtaker·IPP·Lender·Reg·Grid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7911" y="2112264"/>
            <a:ext cx="257380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1919" y="2135124"/>
            <a:ext cx="244579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IPP (success @ signed)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1719" y="2112264"/>
            <a:ext cx="381304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5727" y="2135124"/>
            <a:ext cx="36850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Signed PPA unlocks debt + equity IRR — highest WTP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69464"/>
            <a:ext cx="1906523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592324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Financial Close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73451" y="2569464"/>
            <a:ext cx="2764459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7459" y="2592324"/>
            <a:ext cx="263644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Lender·IPP·Offtaker·Reg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7911" y="2569464"/>
            <a:ext cx="2573807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1919" y="2592324"/>
            <a:ext cx="244579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IPP (bps) + Lender (agency)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1719" y="2569464"/>
            <a:ext cx="3813047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75727" y="2592324"/>
            <a:ext cx="36850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Borrower internalises financing cost; lender pays to de-risk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026664"/>
            <a:ext cx="190652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049524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Settlement &amp; Clearing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73451" y="3026664"/>
            <a:ext cx="276445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37459" y="3049524"/>
            <a:ext cx="263644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Trader·Offtaker·Grid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7911" y="3026664"/>
            <a:ext cx="257380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1919" y="3049524"/>
            <a:ext cx="244579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Both sides (split / net-payer)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1719" y="3026664"/>
            <a:ext cx="381304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75727" y="3049524"/>
            <a:ext cx="36850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Symmetric value (DvP, netting) → symmetric fee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483864"/>
            <a:ext cx="1906523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506724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Carbon Issue→Retire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73451" y="3483864"/>
            <a:ext cx="2764459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37459" y="3506724"/>
            <a:ext cx="263644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Carbon·Reg·Offtaker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37911" y="3483864"/>
            <a:ext cx="2573807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1919" y="3506724"/>
            <a:ext cx="244579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Retiring party (per tCO₂)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1719" y="3483864"/>
            <a:ext cx="3813047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75727" y="3506724"/>
            <a:ext cx="36850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Retirement is the value-realization event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941064"/>
            <a:ext cx="190652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963924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Regulator Pack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73451" y="3941064"/>
            <a:ext cx="276445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37459" y="3963924"/>
            <a:ext cx="263644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Reg + every regulated role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37911" y="3941064"/>
            <a:ext cx="257380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1919" y="3963924"/>
            <a:ext cx="244579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Regulated entity (per facility)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1719" y="3941064"/>
            <a:ext cx="381304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75727" y="3963924"/>
            <a:ext cx="36850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Cheaper than building tamper-evident audit themselves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98264"/>
            <a:ext cx="1906523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" y="4421124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Grid Wheeling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73451" y="4398264"/>
            <a:ext cx="2764459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37459" y="4421124"/>
            <a:ext cx="263644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Grid·IPP·Offtaker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37911" y="4398264"/>
            <a:ext cx="2573807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1919" y="4421124"/>
            <a:ext cx="244579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IPP / Offtaker (per MWh)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11719" y="4398264"/>
            <a:ext cx="3813047" cy="45720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75727" y="4421124"/>
            <a:ext cx="36850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They need the capacity right + dispute rail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49469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04D46"/>
                </a:solidFill>
                <a:latin typeface="Archivo"/>
              </a:rPr>
              <a:t>Anchor strategy: Regulator and Grid (monopoly/public) are deliberately subsidized to zero — they are the demand-creators that make the priced sides willing to pay.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PRICING OPTIONS ·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Illustrative price bands — top five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ILLUSTRATIVE only · ZAR · 2026 SA mid-market (75–150 MW, 15–20yr PPA, 70–80% gearing). Value-capture = CEC fee ÷ value unlocked.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2101903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19656"/>
            <a:ext cx="197388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8831" y="1783080"/>
            <a:ext cx="4843516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2839" y="1819656"/>
            <a:ext cx="47155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Headline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2347" y="1783080"/>
            <a:ext cx="2010516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6355" y="1819656"/>
            <a:ext cx="18825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Account band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2863" y="1783080"/>
            <a:ext cx="2101903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6871" y="1819656"/>
            <a:ext cx="197388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Value-capture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264"/>
            <a:ext cx="210190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135124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1" i="0">
                <a:solidFill>
                  <a:srgbClr val="005358"/>
                </a:solidFill>
                <a:latin typeface="Archivo"/>
              </a:rPr>
              <a:t>PPA Origination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8831" y="2112264"/>
            <a:ext cx="4843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2839" y="2135124"/>
            <a:ext cx="4715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Close 8–15 bps of NPV (floor R750k, cap R4.5m) + R1.20–2.50/MWh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2347" y="2112264"/>
            <a:ext cx="2010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6355" y="2135124"/>
            <a:ext cx="1882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~R394m/yr deal rev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2863" y="2112264"/>
            <a:ext cx="210190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6871" y="2135124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~0.1–0.15% of NPV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79192"/>
            <a:ext cx="2101903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702052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1" i="0">
                <a:solidFill>
                  <a:srgbClr val="005358"/>
                </a:solidFill>
                <a:latin typeface="Archivo"/>
              </a:rPr>
              <a:t>Debt Arrange + Agency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8831" y="2679192"/>
            <a:ext cx="4843516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32839" y="2702052"/>
            <a:ext cx="4715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Arrange 25–50 bps (cap ~R6m) + agency 5–8 bps/yr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2347" y="2679192"/>
            <a:ext cx="2010516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6355" y="2702052"/>
            <a:ext cx="1882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R1.2–2.4bn debt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22863" y="2679192"/>
            <a:ext cx="2101903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86871" y="2702052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~0.25–0.5% of capital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246120"/>
            <a:ext cx="210190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268980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1" i="0">
                <a:solidFill>
                  <a:srgbClr val="005358"/>
                </a:solidFill>
                <a:latin typeface="Archivo"/>
              </a:rPr>
              <a:t>Settlement &amp; Clearing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68831" y="3246120"/>
            <a:ext cx="4843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32839" y="3268980"/>
            <a:ext cx="4715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0.8–2.0 bps of settled notional (min R25/trade)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12347" y="3246120"/>
            <a:ext cx="2010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6355" y="3268980"/>
            <a:ext cx="1882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R2–10bn cleared/yr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22863" y="3246120"/>
            <a:ext cx="210190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86871" y="3268980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~0.01–0.02% notional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813048"/>
            <a:ext cx="2101903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835908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1" i="0">
                <a:solidFill>
                  <a:srgbClr val="005358"/>
                </a:solidFill>
                <a:latin typeface="Archivo"/>
              </a:rPr>
              <a:t>Carbon Issue→Retire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68831" y="3813048"/>
            <a:ext cx="4843516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32839" y="3835908"/>
            <a:ext cx="4715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Issue R4–8/t · retire R6–12/t · CCP rating R90k/yr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2347" y="3813048"/>
            <a:ext cx="2010516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76355" y="3835908"/>
            <a:ext cx="1882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250–350k tCO₂/yr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22863" y="3813048"/>
            <a:ext cx="2101903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86871" y="3835908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~2.5–4% of credit value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79976"/>
            <a:ext cx="210190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4402836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1" i="0">
                <a:solidFill>
                  <a:srgbClr val="005358"/>
                </a:solidFill>
                <a:latin typeface="Archivo"/>
              </a:rPr>
              <a:t>Regulator Pack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68831" y="4379976"/>
            <a:ext cx="4843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32839" y="4402836"/>
            <a:ext cx="4715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R180k–420k per facility/yr · packs R12k each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12347" y="4379976"/>
            <a:ext cx="2010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6355" y="4402836"/>
            <a:ext cx="18825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8–20 facilities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22863" y="4379976"/>
            <a:ext cx="210190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86871" y="4402836"/>
            <a:ext cx="197388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50" b="0" i="0">
                <a:solidFill>
                  <a:srgbClr val="1B1812"/>
                </a:solidFill>
                <a:latin typeface="Archivo"/>
              </a:rPr>
              <a:t>priced vs avoidance cost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5056632"/>
            <a:ext cx="11057839" cy="60350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" y="5148072"/>
            <a:ext cx="106555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D18E35"/>
                </a:solidFill>
                <a:latin typeface="Archivo"/>
              </a:rPr>
              <a:t>The asymmetry IS the model:  </a:t>
            </a:r>
            <a:r>
              <a:rPr sz="1050" b="0" i="0">
                <a:solidFill>
                  <a:srgbClr val="FFFFFF"/>
                </a:solidFill>
                <a:latin typeface="Archivo"/>
              </a:rPr>
              <a:t>lifetime capture on one 150 MW project ≈ a single-digit-% slice of one year's PPA revenue, spread over 20 years — immaterial per-annum to the developer, ~R40–130m to CEC at &gt;90% gross margin.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PRICING OPTIONS ·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Packaging, land-and-expand, and the revenue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Two layers, never one line: seat = capacity to act in your role; product = the cross-role outcome the platform orchestrates.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1000" b="1" i="0">
                <a:solidFill>
                  <a:srgbClr val="005358"/>
                </a:solidFill>
                <a:latin typeface="Archivo"/>
              </a:rPr>
              <a:t>Clean boundary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The seat never meters the cross-role event; the product never charges for single-role workflow. Defensible in procurement.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1000" b="1" i="0">
                <a:solidFill>
                  <a:srgbClr val="005358"/>
                </a:solidFill>
                <a:latin typeface="Archivo"/>
              </a:rPr>
              <a:t>Anti-double-charge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Product fees credit back 10–20% against the participating seats' next renewal.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1000" b="1" i="0">
                <a:solidFill>
                  <a:srgbClr val="005358"/>
                </a:solidFill>
                <a:latin typeface="Archivo"/>
              </a:rPr>
              <a:t>Land → expand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One role buys a Professional seat → initiates one journey (counterparties pulled in on light seats) → multi-product mandate at near-zero CAC.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9088" y="1783080"/>
            <a:ext cx="968498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819656"/>
            <a:ext cx="84048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Horizon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87586" y="1783080"/>
            <a:ext cx="1573809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1594" y="1819656"/>
            <a:ext cx="14457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Posture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396" y="1783080"/>
            <a:ext cx="726373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404" y="1819656"/>
            <a:ext cx="59835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Mix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87770" y="1783080"/>
            <a:ext cx="1936996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1778" y="1819656"/>
            <a:ext cx="18089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Driver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2112264"/>
            <a:ext cx="96849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135124"/>
            <a:ext cx="84048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1" i="0">
                <a:solidFill>
                  <a:srgbClr val="005358"/>
                </a:solidFill>
                <a:latin typeface="Archivo"/>
              </a:rPr>
              <a:t>Short · 0–18mo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7586" y="2112264"/>
            <a:ext cx="157380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1594" y="2135124"/>
            <a:ext cx="144579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Seat-led; products in pilot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396" y="2112264"/>
            <a:ext cx="72637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404" y="2135124"/>
            <a:ext cx="59835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~85 :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87770" y="2112264"/>
            <a:ext cx="19369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1778" y="2135124"/>
            <a:ext cx="18089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Seat ARR + a few PPA close fees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2679192"/>
            <a:ext cx="968498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2702052"/>
            <a:ext cx="84048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1" i="0">
                <a:solidFill>
                  <a:srgbClr val="005358"/>
                </a:solidFill>
                <a:latin typeface="Archivo"/>
              </a:rPr>
              <a:t>Medium · 18–48mo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7586" y="2679192"/>
            <a:ext cx="1573809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1594" y="2702052"/>
            <a:ext cx="144579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Product attach; meters compound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396" y="2679192"/>
            <a:ext cx="726373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5404" y="2702052"/>
            <a:ext cx="59835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~55 : 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7770" y="2679192"/>
            <a:ext cx="1936996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1778" y="2702052"/>
            <a:ext cx="18089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Each closed PPA seeds a 20-yr delivery annuity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9088" y="3246120"/>
            <a:ext cx="96849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3268980"/>
            <a:ext cx="84048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1" i="0">
                <a:solidFill>
                  <a:srgbClr val="005358"/>
                </a:solidFill>
                <a:latin typeface="Archivo"/>
              </a:rPr>
              <a:t>End · 48mo+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7586" y="3246120"/>
            <a:ext cx="157380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1594" y="3268980"/>
            <a:ext cx="144579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Take-rate-led rail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396" y="3246120"/>
            <a:ext cx="72637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5404" y="3268980"/>
            <a:ext cx="598357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~30 : 70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87770" y="3246120"/>
            <a:ext cx="19369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1778" y="3268980"/>
            <a:ext cx="18089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Σ(deals) × (close + lifetime meter + agency + carbon)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088" y="3995928"/>
            <a:ext cx="5205679" cy="137160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19088" y="3995928"/>
            <a:ext cx="64008" cy="13716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38544" y="4123944"/>
            <a:ext cx="479419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05358"/>
                </a:solidFill>
                <a:latin typeface="Archivo"/>
              </a:rPr>
              <a:t>The 3 levers that move the mix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Product attach rate per transacting pair (target ≥3 by medium).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Installed deal base × lifetime value — end-state is dominated by the STOCK of closed deals.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●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Take-rate vs leakage — rails must be cheaper-than-bilateral or notional walks.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We made the CFO attack it — here is the debate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A strategy deck that only makes the bull case is a hype reel. The bear case is what keeps it credible.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532120" cy="4023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402336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47672"/>
            <a:ext cx="51206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05358"/>
                </a:solidFill>
                <a:latin typeface="Archivo"/>
              </a:rPr>
              <a:t>BULL — the panel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Moat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Bankable evidence chain — multi-party-attested, tamper-evident; compounds per deal.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Network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Each role added makes the platform more valuable to the others.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Neutrality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Every incumbent is conflicted (Eskom is a counterparty, ERPs single-tenant, banks single-lender).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Compounding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Each closed deal = a 20-yr annuity on the same infrastructure.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Built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Composes chains already at L4–L5; the kernel exists.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297119" cy="4023360"/>
          </a:xfrm>
          <a:prstGeom prst="roundRect">
            <a:avLst>
              <a:gd name="adj" fmla="val 6000"/>
            </a:avLst>
          </a:prstGeom>
          <a:solidFill>
            <a:srgbClr val="3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783080"/>
            <a:ext cx="64008" cy="4023360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947672"/>
            <a:ext cx="4885639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E8B4A6"/>
                </a:solidFill>
                <a:latin typeface="Archivo"/>
              </a:rPr>
              <a:t>BEAR — the skeptic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E8B4A6"/>
                </a:solidFill>
                <a:latin typeface="Archivo"/>
              </a:rPr>
              <a:t>Cold-start  </a:t>
            </a:r>
            <a:r>
              <a:rPr sz="1000" b="0" i="0">
                <a:solidFill>
                  <a:srgbClr val="F0E6E2"/>
                </a:solidFill>
                <a:latin typeface="Archivo"/>
              </a:rPr>
              <a:t>12 products = 12 independent cold-starts; worth zero until both sides transact.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E8B4A6"/>
                </a:solidFill>
                <a:latin typeface="Archivo"/>
              </a:rPr>
              <a:t>Who-pays  </a:t>
            </a:r>
            <a:r>
              <a:rPr sz="1000" b="0" i="0">
                <a:solidFill>
                  <a:srgbClr val="F0E6E2"/>
                </a:solidFill>
                <a:latin typeface="Archivo"/>
              </a:rPr>
              <a:t>The value-capturing side rarely holds budget authority — deals stall in 'who funds this'.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E8B4A6"/>
                </a:solidFill>
                <a:latin typeface="Archivo"/>
              </a:rPr>
              <a:t>Dilution  </a:t>
            </a:r>
            <a:r>
              <a:rPr sz="1000" b="0" i="0">
                <a:solidFill>
                  <a:srgbClr val="F0E6E2"/>
                </a:solidFill>
                <a:latin typeface="Archivo"/>
              </a:rPr>
              <a:t>132 role×product cells, finite eng — everything ships L2–L3, nothing best-in-class.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E8B4A6"/>
                </a:solidFill>
                <a:latin typeface="Archivo"/>
              </a:rPr>
              <a:t>Capture  </a:t>
            </a:r>
            <a:r>
              <a:rPr sz="1000" b="0" i="0">
                <a:solidFill>
                  <a:srgbClr val="F0E6E2"/>
                </a:solidFill>
                <a:latin typeface="Archivo"/>
              </a:rPr>
              <a:t>Richest flows (settlement, wheeling) sit on rails NERSA/Eskom can block or replicate.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1" i="0">
                <a:solidFill>
                  <a:srgbClr val="E8B4A6"/>
                </a:solidFill>
                <a:latin typeface="Archivo"/>
              </a:rPr>
              <a:t>Cannibalize  </a:t>
            </a:r>
            <a:r>
              <a:rPr sz="1000" b="0" i="0">
                <a:solidFill>
                  <a:srgbClr val="F0E6E2"/>
                </a:solidFill>
                <a:latin typeface="Archivo"/>
              </a:rPr>
              <a:t>Cross-role products compete with the seats you already monetize.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WHAT MUST BE 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Seven falsifiable go/no-go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synthesis: don't build 12. Back one beachhead, run compliance-SoR as the cash engine underneath, and gate everything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Cross-Role Products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4519"/>
            <a:ext cx="50292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005358"/>
                </a:solidFill>
                <a:latin typeface="Archivo"/>
              </a:rPr>
              <a:t>WTP proof: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≥3 signed contracts on ONE product where the payer is named and the fee survives procurement.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783080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874519"/>
            <a:ext cx="50292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005358"/>
                </a:solidFill>
                <a:latin typeface="Archivo"/>
              </a:rPr>
              <a:t>Beachhead liquidity: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Defined recurring two-sided volume within 2 quarters; no-go if usage stays single-sided.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70632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770632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62072"/>
            <a:ext cx="50292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005358"/>
                </a:solidFill>
                <a:latin typeface="Archivo"/>
              </a:rPr>
              <a:t>Gross-margin floor: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≥70% on the product alone (support+integration loaded), not blended with cockpit.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770632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2770632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862072"/>
            <a:ext cx="50292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005358"/>
                </a:solidFill>
                <a:latin typeface="Archivo"/>
              </a:rPr>
              <a:t>Regulatory cover: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NERSA/Eskom non-objection before scaling any money/regulated 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58184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758184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849624"/>
            <a:ext cx="50292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005358"/>
                </a:solidFill>
                <a:latin typeface="Archivo"/>
              </a:rPr>
              <a:t>No cannibalization: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Existing seat NRR stays ≥100% after products reach counterparties.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758184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758184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3849624"/>
            <a:ext cx="50292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005358"/>
                </a:solidFill>
                <a:latin typeface="Archivo"/>
              </a:rPr>
              <a:t>CAC payback: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≤18 months on the beachhead; no-go above 24.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45736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745736"/>
            <a:ext cx="64008" cy="84124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837176"/>
            <a:ext cx="10692079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D18E35"/>
                </a:solidFill>
                <a:latin typeface="Archivo"/>
              </a:rPr>
              <a:t>Repeatable motion:  </a:t>
            </a:r>
            <a:r>
              <a:rPr sz="960" b="0" i="0">
                <a:solidFill>
                  <a:srgbClr val="FFFFFF"/>
                </a:solidFill>
                <a:latin typeface="Archivo"/>
              </a:rPr>
              <a:t>3 closes via a documented, non-heroic motion someone other than the founder can run.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2194560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18E35"/>
                </a:solidFill>
                <a:latin typeface="Archivo"/>
              </a:rPr>
              <a:t>THE DISCIPLINED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chivo"/>
              </a:rPr>
              <a:t>Back one beachhead. Compound on the kernel.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77439"/>
            <a:ext cx="109728" cy="5669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317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D18E35"/>
                </a:solidFill>
                <a:latin typeface="Archivo"/>
              </a:rPr>
              <a:t>Build one product  —  </a:t>
            </a:r>
            <a:r>
              <a:rPr sz="1200" b="0" i="0">
                <a:solidFill>
                  <a:srgbClr val="E6EEEC"/>
                </a:solidFill>
                <a:latin typeface="Archivo"/>
              </a:rPr>
              <a:t>Financial Close — two strong sides already on seats, a clear payer with budget, zero dependency on an Eskom/NERSA 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127247"/>
            <a:ext cx="109728" cy="5669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7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D18E35"/>
                </a:solidFill>
                <a:latin typeface="Archivo"/>
              </a:rPr>
              <a:t>Run compliance-SoR underneath  —  </a:t>
            </a:r>
            <a:r>
              <a:rPr sz="1200" b="0" i="0">
                <a:solidFill>
                  <a:srgbClr val="E6EEEC"/>
                </a:solidFill>
                <a:latin typeface="Archivo"/>
              </a:rPr>
              <a:t>The single-sided, high-margin, recession-proof cash + retention engine. It gets stickier as the regulator tightens.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77055"/>
            <a:ext cx="109728" cy="5669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831335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D18E35"/>
                </a:solidFill>
                <a:latin typeface="Archivo"/>
              </a:rPr>
              <a:t>Cut now  —  </a:t>
            </a:r>
            <a:r>
              <a:rPr sz="1200" b="0" i="0">
                <a:solidFill>
                  <a:srgbClr val="E6EEEC"/>
                </a:solidFill>
                <a:latin typeface="Archivo"/>
              </a:rPr>
              <a:t>Kill settlement/money-movement, grid-operator and carbon cross-role products from the short-term sequence.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626864"/>
            <a:ext cx="109728" cy="5669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58114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D18E35"/>
                </a:solidFill>
                <a:latin typeface="Archivo"/>
              </a:rPr>
              <a:t>Gate the rest  —  </a:t>
            </a:r>
            <a:r>
              <a:rPr sz="1200" b="0" i="0">
                <a:solidFill>
                  <a:srgbClr val="E6EEEC"/>
                </a:solidFill>
                <a:latin typeface="Archivo"/>
              </a:rPr>
              <a:t>No second product funded until the first proves liquidity AND a repeatable sales motion. The gates are the steering wheel.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376672"/>
            <a:ext cx="109728" cy="5669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33095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D18E35"/>
                </a:solidFill>
                <a:latin typeface="Archivo"/>
              </a:rPr>
              <a:t>Protect neutrality above all  —  </a:t>
            </a:r>
            <a:r>
              <a:rPr sz="1200" b="0" i="0">
                <a:solidFill>
                  <a:srgbClr val="E6EEEC"/>
                </a:solidFill>
                <a:latin typeface="Archivo"/>
              </a:rPr>
              <a:t>It is the one asset every incumbent structurally cannot replicate — trusted by all roles precisely because it belongs to none.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Seats fund the build · products compound the deals · the kernel makes both inevitable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