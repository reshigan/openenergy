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828800"/>
            <a:ext cx="2377440" cy="548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18E35"/>
                </a:solidFill>
                <a:latin typeface="Archivo"/>
              </a:rPr>
              <a:t>CEC · PRODUCT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1168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Archivo"/>
              </a:rPr>
              <a:t>“I want to…”</a:t>
            </a:r>
          </a:p>
          <a:p>
            <a:r>
              <a:rPr sz="3400" b="1" i="0">
                <a:solidFill>
                  <a:srgbClr val="D18E35"/>
                </a:solidFill>
                <a:latin typeface="Archivo"/>
              </a:rPr>
              <a:t>The front door replaces the cockpit.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29768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DFE8E6"/>
                </a:solidFill>
                <a:latin typeface="Archivo"/>
              </a:rPr>
              <a:t>The cockpit has too many options. Replace the wall of tools with a role-aware intent prompt — an IPP signs in and is asked what they want to DO. Each intent opens one tailored journey, not a menu.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199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Six-lens panel · intent grammar · journey anatomy · the N×M answer · pricing · the skeptic's gates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From a wall of tools to one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The user's instinct is right: the cockpit is complex. The fix is not more navigation — it is a different question on arrival.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Intent-First Journeys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49240" cy="4069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4069080"/>
          </a:xfrm>
          <a:prstGeom prst="rect">
            <a:avLst/>
          </a:prstGeom>
          <a:solidFill>
            <a:srgbClr val="50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29384"/>
            <a:ext cx="4983479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TODAY — the cockpit asks you to navigate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504D46"/>
                </a:solidFill>
                <a:latin typeface="Archivo"/>
              </a:rPr>
              <a:t>Arrival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Horizon + Atlas: lanes, tiles, ⌘K library, 207 chains, 8 domains per role.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504D46"/>
                </a:solidFill>
                <a:latin typeface="Archivo"/>
              </a:rPr>
              <a:t>Cognitive load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The user must already know which tool maps to their goal. The map IS the product.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504D46"/>
                </a:solidFill>
                <a:latin typeface="Archivo"/>
              </a:rPr>
              <a:t>Who it serves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The expert who lives in it daily. Punishing for the once-a-quarter IPP.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504D46"/>
                </a:solidFill>
                <a:latin typeface="Archivo"/>
              </a:rPr>
              <a:t>Symptom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“Too many options.” Tools are exposed; intent is not.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504D46"/>
                </a:solidFill>
                <a:latin typeface="Archivo"/>
              </a:rPr>
              <a:t>Keep it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It is the right surface for power users — as a fallback, not the front door.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07608" y="3383280"/>
            <a:ext cx="777240" cy="822960"/>
          </a:xfrm>
          <a:prstGeom prst="rightArrow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22008" y="1783080"/>
            <a:ext cx="4702759" cy="4069080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22008" y="1783080"/>
            <a:ext cx="64008" cy="4069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23176" y="1929384"/>
            <a:ext cx="4336999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D18E35"/>
                </a:solidFill>
                <a:latin typeface="Archivo"/>
              </a:rPr>
              <a:t>NEXT — the journey asks your intent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Arrival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“I want to…” — 4–7 plain-language intents tailored to the role + the user's live state.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Cognitive load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The user states a GOAL. The platform picks the tools, the chain, the order.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Who it serves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First-timer and expert both — the launcher is state-aware (see slide 8).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Shape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Each intent → one single-purpose journey frontend, focused, guided, one job.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IPP example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create a project · fund a project · apply for carbon · sell my power.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Six lenses argued the per-journey-frontend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Strategy through architecture — plus a skeptic whose job was to stop us building 70 React apps.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Intent-First Journeys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16276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29384"/>
            <a:ext cx="3163824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Information Architecture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Intent taxonomy · enterprise IA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900" b="0" i="0">
                <a:solidFill>
                  <a:srgbClr val="1B1812"/>
                </a:solidFill>
                <a:latin typeface="Archivo"/>
              </a:rPr>
              <a:t>The intent grammar; per-role 'I want to…' lists; verbs not nouns.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8308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83080"/>
            <a:ext cx="64008" cy="1627632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929384"/>
            <a:ext cx="3163824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Product Design / UX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Dense enterprise UX (Linear/Ramp)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005358"/>
                </a:solidFill>
                <a:latin typeface="Archivo"/>
              </a:rPr>
              <a:t>  </a:t>
            </a:r>
            <a:r>
              <a:rPr sz="900" b="0" i="0">
                <a:solidFill>
                  <a:srgbClr val="1B1812"/>
                </a:solidFill>
                <a:latin typeface="Archivo"/>
              </a:rPr>
              <a:t>What each journey frontend looks like; the focus-pane anatomy.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8308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83080"/>
            <a:ext cx="64008" cy="16276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29384"/>
            <a:ext cx="3163824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Frontend Architecture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Design-systems / runtime engineer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900" b="0" i="0">
                <a:solidFill>
                  <a:srgbClr val="1B1812"/>
                </a:solidFill>
                <a:latin typeface="Archivo"/>
              </a:rPr>
              <a:t>The N×M answer: manifest-driven Journey Shell, ~12 panes — not 70 apps.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93591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593591"/>
            <a:ext cx="64008" cy="1627632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739896"/>
            <a:ext cx="3163824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Behavioral / Onboarding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Activation &amp; retention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005358"/>
                </a:solidFill>
                <a:latin typeface="Archivo"/>
              </a:rPr>
              <a:t>  </a:t>
            </a:r>
            <a:r>
              <a:rPr sz="900" b="0" i="0">
                <a:solidFill>
                  <a:srgbClr val="1B1812"/>
                </a:solidFill>
                <a:latin typeface="Archivo"/>
              </a:rPr>
              <a:t>First-run vs returning; the 3-band state-aware launcher.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593591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593591"/>
            <a:ext cx="64008" cy="16276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739896"/>
            <a:ext cx="3163824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Business &amp; Pricing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B2B packaging economist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900" b="0" i="0">
                <a:solidFill>
                  <a:srgbClr val="1B1812"/>
                </a:solidFill>
                <a:latin typeface="Archivo"/>
              </a:rPr>
              <a:t>Journey-as-SKU; terminal-state billing; L3/L4/L5 = price tiers.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3593591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1" y="3593591"/>
            <a:ext cx="64008" cy="1627632"/>
          </a:xfrm>
          <a:prstGeom prst="rect">
            <a:avLst/>
          </a:prstGeom>
          <a:solidFill>
            <a:srgbClr val="C2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739896"/>
            <a:ext cx="3163824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The Skeptic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Adversarial principal eng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C25B45"/>
                </a:solidFill>
                <a:latin typeface="Archivo"/>
              </a:rPr>
              <a:t>  </a:t>
            </a:r>
            <a:r>
              <a:rPr sz="900" b="0" i="0">
                <a:solidFill>
                  <a:srgbClr val="1B1812"/>
                </a:solidFill>
                <a:latin typeface="Archivo"/>
              </a:rPr>
              <a:t>Don't build 70 frontends. 11 homepages + 3–5 hero wizards. Gates.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INTENT GRAMMAR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An intent is a verb, a scope, and a terminal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Every intent maps to exactly one governed chain reaching one good terminal state. If it can't, it is a tool, not an intent.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Intent-First Journeys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402336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29384"/>
            <a:ext cx="329184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The shape of an intent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Verb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create · fund · sell · apply · operate · comply · resolve — the user's word.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Object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a project · my power · a carbon credit · a covenant.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→ Chain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resolves to ONE chainKey + initiating action in the static registry.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→ Terminal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ends at one good state: project live · debt drawn · credit issued.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Rule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no intent without a terminal. That is the test that keeps the list short.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1783080"/>
            <a:ext cx="2259437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19656"/>
            <a:ext cx="213142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Plain-language intent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8285" y="1783080"/>
            <a:ext cx="2607043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2293" y="1819656"/>
            <a:ext cx="247902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Resolves to (chain / action)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65329" y="1783080"/>
            <a:ext cx="2259437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29337" y="1819656"/>
            <a:ext cx="213142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Terminal outcome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8" y="2112264"/>
            <a:ext cx="2259437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2135124"/>
            <a:ext cx="213142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“create a project”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8285" y="2112264"/>
            <a:ext cx="2607043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2293" y="2135124"/>
            <a:ext cx="2479027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ipp_project / cod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65329" y="2112264"/>
            <a:ext cx="2259437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29337" y="2135124"/>
            <a:ext cx="213142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Project reaches COD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8848" y="2660904"/>
            <a:ext cx="2259437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6" y="2683764"/>
            <a:ext cx="213142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“fund a project”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8285" y="2660904"/>
            <a:ext cx="2607043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2293" y="2683764"/>
            <a:ext cx="2479027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financial_close / drawdown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65329" y="2660904"/>
            <a:ext cx="2259437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9337" y="2683764"/>
            <a:ext cx="213142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First drawdown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8848" y="3209544"/>
            <a:ext cx="2259437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6" y="3232404"/>
            <a:ext cx="213142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“apply for carbon”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58285" y="3209544"/>
            <a:ext cx="2607043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2293" y="3232404"/>
            <a:ext cx="2479027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vcm_project / register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65329" y="3209544"/>
            <a:ext cx="2259437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9337" y="3232404"/>
            <a:ext cx="213142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Credits issued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8848" y="3758184"/>
            <a:ext cx="2259437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2856" y="3781044"/>
            <a:ext cx="213142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“sell my power”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58285" y="3758184"/>
            <a:ext cx="2607043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22293" y="3781044"/>
            <a:ext cx="2479027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ppa_origination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65329" y="3758184"/>
            <a:ext cx="2259437" cy="54864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9337" y="3781044"/>
            <a:ext cx="213142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PPA executed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98848" y="4306824"/>
            <a:ext cx="2259437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62856" y="4329684"/>
            <a:ext cx="213142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“connect to grid”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58285" y="4306824"/>
            <a:ext cx="2607043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22293" y="4329684"/>
            <a:ext cx="2479027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gca / energization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65329" y="4306824"/>
            <a:ext cx="2259437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29337" y="4329684"/>
            <a:ext cx="2131421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Energized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8848" y="4983480"/>
            <a:ext cx="712591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504D46"/>
                </a:solidFill>
                <a:latin typeface="Archivo"/>
              </a:rPr>
              <a:t>The mapping is data, authored once per role. The journey runtime reads it — it is never the user's job to know the chain name.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WORKED EXAMPLE · THE IPP FRONT 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What an IPP sees on sign-in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Not Horizon's lanes. A short, plain-language menu of what this developer can actually do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Intent-First Journeys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2688336" cy="11704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54864" cy="11704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01952"/>
            <a:ext cx="237744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750" b="1" i="0">
                <a:solidFill>
                  <a:srgbClr val="D18E35"/>
                </a:solidFill>
                <a:latin typeface="Archivo"/>
              </a:rPr>
              <a:t>I want to…</a:t>
            </a:r>
          </a:p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Create a project</a:t>
            </a:r>
          </a:p>
          <a:p>
            <a:pPr>
              <a:lnSpc>
                <a:spcPct val="100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Greenfield: site → connection → COD roadmap.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1892807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504D46"/>
                </a:solidFill>
                <a:latin typeface="Archivo"/>
              </a:rPr>
              <a:t>L4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783080"/>
            <a:ext cx="2688336" cy="11704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9856" y="1783080"/>
            <a:ext cx="54864" cy="11704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901952"/>
            <a:ext cx="237744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750" b="1" i="0">
                <a:solidFill>
                  <a:srgbClr val="D18E35"/>
                </a:solidFill>
                <a:latin typeface="Archivo"/>
              </a:rPr>
              <a:t>I want to…</a:t>
            </a:r>
          </a:p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Fund a project</a:t>
            </a:r>
          </a:p>
          <a:p>
            <a:pPr>
              <a:lnSpc>
                <a:spcPct val="100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Term sheet → CP checklist → first drawdown.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1264" y="1892807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504D46"/>
                </a:solidFill>
                <a:latin typeface="Archivo"/>
              </a:rPr>
              <a:t>L4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783080"/>
            <a:ext cx="2688336" cy="11704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783080"/>
            <a:ext cx="54864" cy="11704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901952"/>
            <a:ext cx="237744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750" b="1" i="0">
                <a:solidFill>
                  <a:srgbClr val="D18E35"/>
                </a:solidFill>
                <a:latin typeface="Archivo"/>
              </a:rPr>
              <a:t>I want to…</a:t>
            </a:r>
          </a:p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Sell my power</a:t>
            </a:r>
          </a:p>
          <a:p>
            <a:pPr>
              <a:lnSpc>
                <a:spcPct val="100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Find an offtaker → negotiate → execute PPA.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892807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504D46"/>
                </a:solidFill>
                <a:latin typeface="Archivo"/>
              </a:rPr>
              <a:t>L4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5711" y="1783080"/>
            <a:ext cx="2688336" cy="11704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5711" y="1783080"/>
            <a:ext cx="54864" cy="11704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1" y="1901952"/>
            <a:ext cx="237744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750" b="1" i="0">
                <a:solidFill>
                  <a:srgbClr val="D18E35"/>
                </a:solidFill>
                <a:latin typeface="Archivo"/>
              </a:rPr>
              <a:t>I want to…</a:t>
            </a:r>
          </a:p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Apply for carbon</a:t>
            </a:r>
          </a:p>
          <a:p>
            <a:pPr>
              <a:lnSpc>
                <a:spcPct val="100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PDD → validation → registration → credits.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19" y="1892807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504D46"/>
                </a:solidFill>
                <a:latin typeface="Archivo"/>
              </a:rPr>
              <a:t>L5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136391"/>
            <a:ext cx="2688336" cy="11704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136391"/>
            <a:ext cx="54864" cy="11704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255263"/>
            <a:ext cx="237744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750" b="1" i="0">
                <a:solidFill>
                  <a:srgbClr val="D18E35"/>
                </a:solidFill>
                <a:latin typeface="Archivo"/>
              </a:rPr>
              <a:t>I want to…</a:t>
            </a:r>
          </a:p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Connect to grid</a:t>
            </a:r>
          </a:p>
          <a:p>
            <a:pPr>
              <a:lnSpc>
                <a:spcPct val="100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Application → cost estimate → energization.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88336" y="324612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504D46"/>
                </a:solidFill>
                <a:latin typeface="Archivo"/>
              </a:rPr>
              <a:t>L4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9856" y="3136391"/>
            <a:ext cx="2688336" cy="11704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19856" y="3136391"/>
            <a:ext cx="54864" cy="11704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2736" y="3255263"/>
            <a:ext cx="237744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750" b="1" i="0">
                <a:solidFill>
                  <a:srgbClr val="D18E35"/>
                </a:solidFill>
                <a:latin typeface="Archivo"/>
              </a:rPr>
              <a:t>I want to…</a:t>
            </a:r>
          </a:p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Operate &amp; maintain</a:t>
            </a:r>
          </a:p>
          <a:p>
            <a:pPr>
              <a:lnSpc>
                <a:spcPct val="100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Health → work orders → parts → uptime.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1264" y="324612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504D46"/>
                </a:solidFill>
                <a:latin typeface="Archivo"/>
              </a:rPr>
              <a:t>L4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2784" y="3136391"/>
            <a:ext cx="2688336" cy="11704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2784" y="3136391"/>
            <a:ext cx="54864" cy="11704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3255263"/>
            <a:ext cx="237744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750" b="1" i="0">
                <a:solidFill>
                  <a:srgbClr val="D18E35"/>
                </a:solidFill>
                <a:latin typeface="Archivo"/>
              </a:rPr>
              <a:t>I want to…</a:t>
            </a:r>
          </a:p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Stay compliant</a:t>
            </a:r>
          </a:p>
          <a:p>
            <a:pPr>
              <a:lnSpc>
                <a:spcPct val="100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Licences, levies, filings → certified packs.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324612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504D46"/>
                </a:solidFill>
                <a:latin typeface="Archivo"/>
              </a:rPr>
              <a:t>L5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25711" y="3136391"/>
            <a:ext cx="2688336" cy="117043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25711" y="3136391"/>
            <a:ext cx="54864" cy="117043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1" y="3255263"/>
            <a:ext cx="237744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750" b="1" i="0">
                <a:solidFill>
                  <a:srgbClr val="D18E35"/>
                </a:solidFill>
                <a:latin typeface="Archivo"/>
              </a:rPr>
              <a:t>I want to…</a:t>
            </a:r>
          </a:p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Raise / manage debt</a:t>
            </a:r>
          </a:p>
          <a:p>
            <a:pPr>
              <a:lnSpc>
                <a:spcPct val="100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Covenants, DSCR, reserves, restructures.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19" y="324612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504D46"/>
                </a:solidFill>
                <a:latin typeface="Archivo"/>
              </a:rPr>
              <a:t>L4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4165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504D46"/>
                </a:solidFill>
                <a:latin typeface="Archivo"/>
              </a:rPr>
              <a:t>Eight intents, each a single journey. Same pattern authored for all 11 roles → ~60–80 journeys total — as data, not as 80 codebases.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JOURNEY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One intent → one focused, three-zone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Every journey renders the same anatomy. 'Bespoke' is the content of the zones — authored per intent, never re-coded.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Intent-First Journeys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33546" cy="228600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3533546" cy="548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316778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005358"/>
                </a:solidFill>
                <a:latin typeface="Archivo"/>
              </a:rPr>
              <a:t>① STEPPER (left rail)</a:t>
            </a:r>
          </a:p>
          <a:p>
            <a:pPr>
              <a:lnSpc>
                <a:spcPct val="106000"/>
              </a:lnSpc>
            </a:pPr>
            <a:r>
              <a:rPr sz="1000" b="0" i="0">
                <a:solidFill>
                  <a:srgbClr val="1B1812"/>
                </a:solidFill>
                <a:latin typeface="Archivo"/>
              </a:rPr>
              <a:t>The chain's states as plain-language steps. Where am I, what's done, what's next. Replaces the tab 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9074" y="1783080"/>
            <a:ext cx="3533546" cy="2286000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9074" y="1783080"/>
            <a:ext cx="3533546" cy="548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954" y="1965960"/>
            <a:ext cx="316778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D18E35"/>
                </a:solidFill>
                <a:latin typeface="Archivo"/>
              </a:rPr>
              <a:t>② FOCUS PANE (center)</a:t>
            </a:r>
          </a:p>
          <a:p>
            <a:pPr>
              <a:lnSpc>
                <a:spcPct val="106000"/>
              </a:lnSpc>
            </a:pPr>
            <a:r>
              <a:rPr sz="1000" b="0" i="0">
                <a:solidFill>
                  <a:srgbClr val="FFFFFF"/>
                </a:solidFill>
                <a:latin typeface="Archivo"/>
              </a:rPr>
              <a:t>The ONE thing to do now — a schema form, a map site-picker, a Gantt, a doc checklist, the two-sided thread. Picked from a ~12-pane library.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1220" y="1783080"/>
            <a:ext cx="3533546" cy="228600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1220" y="1783080"/>
            <a:ext cx="3533546" cy="548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4100" y="1965960"/>
            <a:ext cx="316778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005358"/>
                </a:solidFill>
                <a:latin typeface="Archivo"/>
              </a:rPr>
              <a:t>③ CONTEXT RAIL (right)</a:t>
            </a:r>
          </a:p>
          <a:p>
            <a:pPr>
              <a:lnSpc>
                <a:spcPct val="106000"/>
              </a:lnSpc>
            </a:pPr>
            <a:r>
              <a:rPr sz="1000" b="0" i="0">
                <a:solidFill>
                  <a:srgbClr val="1B1812"/>
                </a:solidFill>
                <a:latin typeface="Archivo"/>
              </a:rPr>
              <a:t>Why this matters, the live data, the inline AI assist (with 'why' + 1-click accept), the meter chip. No navigation.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97680"/>
            <a:ext cx="11057839" cy="1417320"/>
          </a:xfrm>
          <a:prstGeom prst="roundRect">
            <a:avLst>
              <a:gd name="adj" fmla="val 6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443984"/>
            <a:ext cx="1060063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05358"/>
                </a:solidFill>
                <a:latin typeface="Archivo"/>
              </a:rPr>
              <a:t>The focus-pane library (~12 panes — this is the whole UI vocabulary):  </a:t>
            </a:r>
          </a:p>
          <a:p>
            <a:pPr>
              <a:lnSpc>
                <a:spcPct val="110000"/>
              </a:lnSpc>
            </a:pPr>
            <a:r>
              <a:rPr sz="1000" b="0" i="0">
                <a:solidFill>
                  <a:srgbClr val="1B1812"/>
                </a:solidFill>
                <a:latin typeface="Archivo"/>
              </a:rPr>
              <a:t>schema-form · map-site-picker · gantt-roadmap · doc-checklist · two-sided-thread · review-confirm · matrix-grid · money-waterfall · timeline-trace · curve-editor · comparison-cards · status-cockpit</a:t>
            </a:r>
          </a:p>
          <a:p>
            <a:pPr>
              <a:spcBef>
                <a:spcPts val="600"/>
              </a:spcBef>
            </a:pPr>
            <a:r>
              <a:rPr sz="950" b="0" i="1">
                <a:solidFill>
                  <a:srgbClr val="504D46"/>
                </a:solidFill>
                <a:latin typeface="Archivo"/>
              </a:rPr>
              <a:t>Build these 12 once. Every one of the ~80 journeys is then an ordered list of (pane, chain-state) — a manifest a designer authors.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ARCHITECTURE — THE N×M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Don't build 70 frontends. Build one runtime + 80 manifests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11 roles × ~7 intents = ~77 journeys. Hand-coding 77 React apps is the trap. A manifest-driven shell makes 'bespoke' into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Intent-First Journeys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4114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29384"/>
            <a:ext cx="51206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Journey Manifest (authored per intent)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intent / role 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'fund-project' / ipp — the registry key /journey/:role/:intent.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steps[ ] 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ordered: { chainKey, action, focus pane, fields, rail sources, guard, ai }.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focus 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names ONE pane from the 12-library; focusProps parametrize it.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completion 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where to route on terminal — receipt, next intent, deal room.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Invariant 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manifests REFERENCE registry keys only — chainKey/action/field must resolve. SQL identifiers stay in the static literal.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CI gate  </a:t>
            </a:r>
            <a:r>
              <a:rPr sz="930" b="0" i="0">
                <a:solidFill>
                  <a:srgbClr val="1B1812"/>
                </a:solidFill>
                <a:latin typeface="Archivo"/>
              </a:rPr>
              <a:t>build fails if any manifest key is unresolvable — no dead journeys 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783080"/>
            <a:ext cx="5297119" cy="4114800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783080"/>
            <a:ext cx="64008" cy="4114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929384"/>
            <a:ext cx="4931359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D18E35"/>
                </a:solidFill>
                <a:latin typeface="Archivo"/>
              </a:rPr>
              <a:t>Journey Shell (built once)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/journey/:role/:intent  </a:t>
            </a:r>
            <a:r>
              <a:rPr sz="930" b="0" i="0">
                <a:solidFill>
                  <a:srgbClr val="FFFFFF"/>
                </a:solidFill>
                <a:latin typeface="Archivo"/>
              </a:rPr>
              <a:t>one parametric route, mirrors today's /surface/:key.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Resolver  </a:t>
            </a:r>
            <a:r>
              <a:rPr sz="930" b="0" i="0">
                <a:solidFill>
                  <a:srgbClr val="FFFFFF"/>
                </a:solidFill>
                <a:latin typeface="Archivo"/>
              </a:rPr>
              <a:t>loads JOURNEY_REGISTRY['role:intent'] → walks steps.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Pane host  </a:t>
            </a:r>
            <a:r>
              <a:rPr sz="930" b="0" i="0">
                <a:solidFill>
                  <a:srgbClr val="FFFFFF"/>
                </a:solidFill>
                <a:latin typeface="Archivo"/>
              </a:rPr>
              <a:t>renders the named focus pane; binds values to ? placeholders.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Reuses kernel  </a:t>
            </a:r>
            <a:r>
              <a:rPr sz="930" b="0" i="0">
                <a:solidFill>
                  <a:srgbClr val="FFFFFF"/>
                </a:solidFill>
                <a:latin typeface="Archivo"/>
              </a:rPr>
              <a:t>auth, cascade, audit, tenancy, guards — inherited free.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930" b="0" i="0">
                <a:solidFill>
                  <a:srgbClr val="FFFFFF"/>
                </a:solidFill>
                <a:latin typeface="Archivo"/>
              </a:rPr>
              <a:t>——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The math  </a:t>
            </a:r>
            <a:r>
              <a:rPr sz="930" b="0" i="0">
                <a:solidFill>
                  <a:srgbClr val="FFFFFF"/>
                </a:solidFill>
                <a:latin typeface="Archivo"/>
              </a:rPr>
              <a:t>12 panes + 1 shell + 80 manifests  ≫  80 bespoke apps.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30" b="1" i="0">
                <a:solidFill>
                  <a:srgbClr val="D18E35"/>
                </a:solidFill>
                <a:latin typeface="Archivo"/>
              </a:rPr>
              <a:t>Designer-authored  </a:t>
            </a:r>
            <a:r>
              <a:rPr sz="930" b="0" i="0">
                <a:solidFill>
                  <a:srgbClr val="FFFFFF"/>
                </a:solidFill>
                <a:latin typeface="Archivo"/>
              </a:rPr>
              <a:t>a new journey = a new manifest file. No new React.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LAUNCHER IS STATE-AWARE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Three bands serve the first-timer and the returning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A pure 'I want to…' menu serves first-run but insults the daily user. The launcher reads live state and leads with what's urgent.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Intent-First Journeys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7839" cy="107899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078992"/>
          </a:xfrm>
          <a:prstGeom prst="rect">
            <a:avLst/>
          </a:prstGeom>
          <a:solidFill>
            <a:srgbClr val="C2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9384"/>
            <a:ext cx="10509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C25B45"/>
                </a:solidFill>
                <a:latin typeface="Archivo"/>
              </a:rPr>
              <a:t>① NEEDS YOU NOW</a:t>
            </a:r>
          </a:p>
          <a:p>
            <a:pPr>
              <a:lnSpc>
                <a:spcPct val="104000"/>
              </a:lnSpc>
            </a:pPr>
            <a:r>
              <a:rPr sz="1050" b="0" i="0">
                <a:solidFill>
                  <a:srgbClr val="1B1812"/>
                </a:solidFill>
                <a:latin typeface="Archivo"/>
              </a:rPr>
              <a:t>Open journeys with an SLA timer, your move in a deal, a breach to cure. Pulled from the role's live chains. Empty for a first-timer.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71800"/>
            <a:ext cx="11057839" cy="107899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971800"/>
            <a:ext cx="82296" cy="107899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18104"/>
            <a:ext cx="10509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005358"/>
                </a:solidFill>
                <a:latin typeface="Archivo"/>
              </a:rPr>
              <a:t>② CONTINUE</a:t>
            </a:r>
          </a:p>
          <a:p>
            <a:pPr>
              <a:lnSpc>
                <a:spcPct val="104000"/>
              </a:lnSpc>
            </a:pPr>
            <a:r>
              <a:rPr sz="1050" b="0" i="0">
                <a:solidFill>
                  <a:srgbClr val="1B1812"/>
                </a:solidFill>
                <a:latin typeface="Archivo"/>
              </a:rPr>
              <a:t>Journeys in flight — resume exactly where you left the focus pane. The 'returning user' band.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60520"/>
            <a:ext cx="11057839" cy="1078992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160520"/>
            <a:ext cx="82296" cy="1078992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06824"/>
            <a:ext cx="10509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005358"/>
                </a:solidFill>
                <a:latin typeface="Archivo"/>
              </a:rPr>
              <a:t>③ START SOMETHING</a:t>
            </a:r>
          </a:p>
          <a:p>
            <a:pPr>
              <a:lnSpc>
                <a:spcPct val="104000"/>
              </a:lnSpc>
            </a:pPr>
            <a:r>
              <a:rPr sz="1050" b="0" i="0">
                <a:solidFill>
                  <a:srgbClr val="1B1812"/>
                </a:solidFill>
                <a:latin typeface="Archivo"/>
              </a:rPr>
              <a:t>The 'I want to…' intent menu. The first-run hero; always present, never the only thing.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367527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504D46"/>
                </a:solidFill>
                <a:latin typeface="Archivo"/>
              </a:rPr>
              <a:t>First-run: bands 1–2 empty, band 3 is the whole screen — pure 'I want to…'. Power user: band 1 leads, band 3 collapses to a '+ Start' button. Same surface, weighted by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MAKE IT EASY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Easy is the architecture, not a coat of paint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The user never assembles a workflow. The manifest decides the single next step; the platform carries the burden the cockpit used to dump on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Intent-First Journeys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2688336" cy="15544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54864" cy="15544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237744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Plain language only</a:t>
            </a:r>
          </a:p>
          <a:p>
            <a:pPr>
              <a:lnSpc>
                <a:spcPct val="105000"/>
              </a:lnSpc>
            </a:pPr>
            <a:r>
              <a:rPr sz="869" b="0" i="0">
                <a:solidFill>
                  <a:srgbClr val="1B1812"/>
                </a:solidFill>
                <a:latin typeface="Archivo"/>
              </a:rPr>
              <a:t>Never a chain name or a state code. 'Fund a project' — not 'open the drawdown chain at cp_satisfied'.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783080"/>
            <a:ext cx="2688336" cy="15544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9856" y="1783080"/>
            <a:ext cx="54864" cy="15544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1920240"/>
            <a:ext cx="237744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One thing at a time</a:t>
            </a:r>
          </a:p>
          <a:p>
            <a:pPr>
              <a:lnSpc>
                <a:spcPct val="105000"/>
              </a:lnSpc>
            </a:pPr>
            <a:r>
              <a:rPr sz="869" b="0" i="0">
                <a:solidFill>
                  <a:srgbClr val="1B1812"/>
                </a:solidFill>
                <a:latin typeface="Archivo"/>
              </a:rPr>
              <a:t>The focus pane shows the single next action. No tab-hunting, no 'which of 8 domains'.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783080"/>
            <a:ext cx="2688336" cy="15544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1783080"/>
            <a:ext cx="54864" cy="15544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920240"/>
            <a:ext cx="237744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You can't get stuck</a:t>
            </a:r>
          </a:p>
          <a:p>
            <a:pPr>
              <a:lnSpc>
                <a:spcPct val="105000"/>
              </a:lnSpc>
            </a:pPr>
            <a:r>
              <a:rPr sz="869" b="0" i="0">
                <a:solidFill>
                  <a:srgbClr val="1B1812"/>
                </a:solidFill>
                <a:latin typeface="Archivo"/>
              </a:rPr>
              <a:t>A guard that blocks you explains WHY + the one step to clear it. No silent dead ends.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5711" y="1783080"/>
            <a:ext cx="2688336" cy="15544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25711" y="1783080"/>
            <a:ext cx="54864" cy="15544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1" y="1920240"/>
            <a:ext cx="237744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Pre-filled &amp; drafted</a:t>
            </a:r>
          </a:p>
          <a:p>
            <a:pPr>
              <a:lnSpc>
                <a:spcPct val="105000"/>
              </a:lnSpc>
            </a:pPr>
            <a:r>
              <a:rPr sz="869" b="0" i="0">
                <a:solidFill>
                  <a:srgbClr val="1B1812"/>
                </a:solidFill>
                <a:latin typeface="Archivo"/>
              </a:rPr>
              <a:t>Known data carries in; AI drafts the rest with a 'why' + 1-click accept. You confirm, you don't type.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520439"/>
            <a:ext cx="2688336" cy="15544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520439"/>
            <a:ext cx="54864" cy="15544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657599"/>
            <a:ext cx="237744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Save &amp; resume</a:t>
            </a:r>
          </a:p>
          <a:p>
            <a:pPr>
              <a:lnSpc>
                <a:spcPct val="105000"/>
              </a:lnSpc>
            </a:pPr>
            <a:r>
              <a:rPr sz="869" b="0" i="0">
                <a:solidFill>
                  <a:srgbClr val="1B1812"/>
                </a:solidFill>
                <a:latin typeface="Archivo"/>
              </a:rPr>
              <a:t>The Continue band drops you back exactly where you left the focus pane. Close the laptop mid-journey, fine.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9856" y="3520439"/>
            <a:ext cx="2688336" cy="15544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19856" y="3520439"/>
            <a:ext cx="54864" cy="15544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2736" y="3657599"/>
            <a:ext cx="237744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No training needed</a:t>
            </a:r>
          </a:p>
          <a:p>
            <a:pPr>
              <a:lnSpc>
                <a:spcPct val="105000"/>
              </a:lnSpc>
            </a:pPr>
            <a:r>
              <a:rPr sz="869" b="0" i="0">
                <a:solidFill>
                  <a:srgbClr val="1B1812"/>
                </a:solidFill>
                <a:latin typeface="Archivo"/>
              </a:rPr>
              <a:t>First run shows only 'I want to…'. The journey teaches itself as you walk it — no manual, no course.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4" y="3520439"/>
            <a:ext cx="2688336" cy="15544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4" y="3520439"/>
            <a:ext cx="54864" cy="15544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3657599"/>
            <a:ext cx="237744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Works in the field</a:t>
            </a:r>
          </a:p>
          <a:p>
            <a:pPr>
              <a:lnSpc>
                <a:spcPct val="105000"/>
              </a:lnSpc>
            </a:pPr>
            <a:r>
              <a:rPr sz="869" b="0" i="0">
                <a:solidFill>
                  <a:srgbClr val="1B1812"/>
                </a:solidFill>
                <a:latin typeface="Archivo"/>
              </a:rPr>
              <a:t>Focus panes are mobile/PWA. A site visit, a meter read, a punch item — done from a phone, not a desk.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1" y="3520439"/>
            <a:ext cx="2688336" cy="15544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25711" y="3520439"/>
            <a:ext cx="54864" cy="15544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08591" y="3657599"/>
            <a:ext cx="237744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Always a safe exit</a:t>
            </a:r>
          </a:p>
          <a:p>
            <a:pPr>
              <a:lnSpc>
                <a:spcPct val="105000"/>
              </a:lnSpc>
            </a:pPr>
            <a:r>
              <a:rPr sz="869" b="0" i="0">
                <a:solidFill>
                  <a:srgbClr val="1B1812"/>
                </a:solidFill>
                <a:latin typeface="Archivo"/>
              </a:rPr>
              <a:t>Confirm before anything irreversible; undo where safe; a plain-language receipt at every terminal.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166359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504D46"/>
                </a:solidFill>
                <a:latin typeface="Archivo"/>
              </a:rPr>
              <a:t>The hard test: a developer who signs in once a quarter completes 'fund a project' without calling support. If they can't, the journey isn't done.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HARD ONES CROSS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'Fund', 'sell', 'apply' are two-sided — route into a deal room, not a wizard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A linear wizard works for single-role intents. Cross-role intents need a 'your move / their move' room — the existing Thread, generalized.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Intent-First Journeys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49240" cy="4069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" cy="4069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29384"/>
            <a:ext cx="4983479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Single-role intent → linear journey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Examples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create a project · operate &amp; maintain · stay compliant.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Shape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stepper + focus pane + rail. You advance your own chain.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Done when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your chain hits its terminal. No one else gates you.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Pane mix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schema-form, gantt, doc-checklist, status-cockpit.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783080"/>
            <a:ext cx="5479999" cy="4069080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783080"/>
            <a:ext cx="64008" cy="4069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929384"/>
            <a:ext cx="5114239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D18E35"/>
                </a:solidFill>
                <a:latin typeface="Archivo"/>
              </a:rPr>
              <a:t>Cross-role intent → deal room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Examples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fund a project · sell my power · apply for carbon (large).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Shape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the two-sided-thread pane is the focus: YOUR MOVE / THEIR MOVE.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Per-party view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each side sees only its fields; one shared timeline; redline + e-sign.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Counterparties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pulled in on light seats — a lender's credit committee needs no full cockpit.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Done when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both chains reach the joint terminal — the billable moment.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This is the moat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multi-party attested, tamper-evident, on one neutral timeline.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A journey is the SKU — depth is the price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The intent is what the customer buys. The feature-depth rubric becomes the price ladder; billing fires at the terminal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Intent-First Journeys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2211567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819656"/>
            <a:ext cx="20835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Tier (= depth)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8495" y="1783080"/>
            <a:ext cx="4054541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2503" y="1819656"/>
            <a:ext cx="392652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What the journey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3036" y="1783080"/>
            <a:ext cx="2395865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7044" y="1819656"/>
            <a:ext cx="226784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Metered event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28902" y="1783080"/>
            <a:ext cx="2395865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2910" y="1819656"/>
            <a:ext cx="226784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80" b="1" i="0">
                <a:solidFill>
                  <a:srgbClr val="FFFFFF"/>
                </a:solidFill>
                <a:latin typeface="Archivo"/>
              </a:rPr>
              <a:t>Example intents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12264"/>
            <a:ext cx="22115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135124"/>
            <a:ext cx="2083551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Foundation · L3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8495" y="2112264"/>
            <a:ext cx="405454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42503" y="2135124"/>
            <a:ext cx="3926525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state machine + audit on transitions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33036" y="2112264"/>
            <a:ext cx="239586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7044" y="2135124"/>
            <a:ext cx="2267849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Per journey started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28902" y="2112264"/>
            <a:ext cx="239586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2910" y="2135124"/>
            <a:ext cx="2267849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create a project (basic)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679192"/>
            <a:ext cx="2211567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702052"/>
            <a:ext cx="2083551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Professional · L4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8495" y="2679192"/>
            <a:ext cx="4054541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42503" y="2702052"/>
            <a:ext cx="3926525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cascades, SLAs, dunning, evidence chain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33036" y="2679192"/>
            <a:ext cx="2395865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7044" y="2702052"/>
            <a:ext cx="2267849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Per terminal reached + meter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28902" y="2679192"/>
            <a:ext cx="2395865" cy="56692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2910" y="2702052"/>
            <a:ext cx="2267849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fund · sell · operate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246120"/>
            <a:ext cx="221156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268980"/>
            <a:ext cx="2083551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1" i="0">
                <a:solidFill>
                  <a:srgbClr val="005358"/>
                </a:solidFill>
                <a:latin typeface="Archivo"/>
              </a:rPr>
              <a:t>Regulator-grade · L5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78495" y="3246120"/>
            <a:ext cx="405454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42503" y="3268980"/>
            <a:ext cx="3926525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tamper-evident, certified export, recon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33036" y="3246120"/>
            <a:ext cx="239586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97044" y="3268980"/>
            <a:ext cx="2267849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Per certified export / facility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28902" y="3246120"/>
            <a:ext cx="239586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2910" y="3268980"/>
            <a:ext cx="2267849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860" b="0" i="0">
                <a:solidFill>
                  <a:srgbClr val="1B1812"/>
                </a:solidFill>
                <a:latin typeface="Archivo"/>
              </a:rPr>
              <a:t>apply for carbon · comply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3995928"/>
            <a:ext cx="5394960" cy="150876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3995928"/>
            <a:ext cx="64008" cy="150876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4142232"/>
            <a:ext cx="5029200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Bill at the terminal, not the click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100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1000" b="0" i="0">
                <a:solidFill>
                  <a:srgbClr val="1B1812"/>
                </a:solidFill>
                <a:latin typeface="Archivo"/>
              </a:rPr>
              <a:t>The meter fires when the journey reaches its good terminal state — PPA executed, drawdown released, credit issued. The moment of value IS the moment of charge.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6208" y="3995928"/>
            <a:ext cx="5388559" cy="1508760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995928"/>
            <a:ext cx="64008" cy="150876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4142232"/>
            <a:ext cx="5022799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D18E35"/>
                </a:solidFill>
                <a:latin typeface="Archivo"/>
              </a:rPr>
              <a:t>Hide the SKU sprawl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~80 journey SKUs sit behind 3 plans. The customer sees Foundation / Professional / Regulator-grade — not a price list of 80 intents. Cross-role journeys bill the value-capturing side; others tolerate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THE SKEPTIC PUSHED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Don't build 70 bespoke frontends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The most useful voice in the room. Three objections — and how the architecture already answers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Intent-First Journeys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3755492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819656"/>
            <a:ext cx="36274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19" b="1" i="0">
                <a:solidFill>
                  <a:srgbClr val="FFFFFF"/>
                </a:solidFill>
                <a:latin typeface="Archivo"/>
              </a:rPr>
              <a:t>The objection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420" y="1783080"/>
            <a:ext cx="7302346" cy="32918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6428" y="1819656"/>
            <a:ext cx="717433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19" b="1" i="0">
                <a:solidFill>
                  <a:srgbClr val="FFFFFF"/>
                </a:solidFill>
                <a:latin typeface="Archivo"/>
              </a:rPr>
              <a:t>How the design answers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112264"/>
            <a:ext cx="37554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135124"/>
            <a:ext cx="362747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919" b="1" i="0">
                <a:solidFill>
                  <a:srgbClr val="005358"/>
                </a:solidFill>
                <a:latin typeface="Archivo"/>
              </a:rPr>
              <a:t>“70 apps = 70 maintenance burdens”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420" y="2112264"/>
            <a:ext cx="730234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6428" y="2135124"/>
            <a:ext cx="717433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919" b="0" i="0">
                <a:solidFill>
                  <a:srgbClr val="1B1812"/>
                </a:solidFill>
                <a:latin typeface="Archivo"/>
              </a:rPr>
              <a:t>One shell + 12 panes + manifests. A journey is a data file, not a codebase. Bespoke feel, generic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843784"/>
            <a:ext cx="3755492" cy="73152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866644"/>
            <a:ext cx="362747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919" b="1" i="0">
                <a:solidFill>
                  <a:srgbClr val="005358"/>
                </a:solidFill>
                <a:latin typeface="Archivo"/>
              </a:rPr>
              <a:t>“You'll ship 80 shallow journeys”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2420" y="2843784"/>
            <a:ext cx="7302346" cy="73152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428" y="2866644"/>
            <a:ext cx="717433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919" b="0" i="0">
                <a:solidFill>
                  <a:srgbClr val="1B1812"/>
                </a:solidFill>
                <a:latin typeface="Archivo"/>
              </a:rPr>
              <a:t>Don't. Ship 11 smart homepages + 3–5 HERO journeys at L4/L5 first. Gate the rest on usage.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575304"/>
            <a:ext cx="37554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3598164"/>
            <a:ext cx="362747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919" b="1" i="0">
                <a:solidFill>
                  <a:srgbClr val="005358"/>
                </a:solidFill>
                <a:latin typeface="Archivo"/>
              </a:rPr>
              <a:t>“Cross-role journeys stall on who-pays”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2420" y="3575304"/>
            <a:ext cx="730234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6428" y="3598164"/>
            <a:ext cx="717433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919" b="0" i="0">
                <a:solidFill>
                  <a:srgbClr val="1B1812"/>
                </a:solidFill>
                <a:latin typeface="Archivo"/>
              </a:rPr>
              <a:t>Route to the deal room with the payer named up front; light seats for counterparties; bill the value side only.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306824"/>
            <a:ext cx="3755492" cy="73152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4329684"/>
            <a:ext cx="362747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919" b="1" i="0">
                <a:solidFill>
                  <a:srgbClr val="005358"/>
                </a:solidFill>
                <a:latin typeface="Archivo"/>
              </a:rPr>
              <a:t>“The cockpit still has the depth”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420" y="4306824"/>
            <a:ext cx="7302346" cy="731520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6428" y="4329684"/>
            <a:ext cx="717433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919" b="0" i="0">
                <a:solidFill>
                  <a:srgbClr val="1B1812"/>
                </a:solidFill>
                <a:latin typeface="Archivo"/>
              </a:rPr>
              <a:t>Keep it — as expert-mode fallback behind the journeys. Delete nothing; demote it from front door.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166359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504D46"/>
                </a:solidFill>
                <a:latin typeface="Archivo"/>
              </a:rPr>
              <a:t>Synthesis: the skeptic and the architect agree — the manifest runtime is exactly what lets you ship a few deep journeys now and the rest cheaply later.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WHAT TO BUILD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5358"/>
                </a:solidFill>
                <a:latin typeface="Archivo"/>
              </a:rPr>
              <a:t>Three hero journeys, gated — not a big-bang of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Prove the runtime on the highest-WTP IPP intents, then let manifests multiply across roles once the panes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Intent-First Journeys on the Cockpit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33546" cy="416052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3533546" cy="676656"/>
          </a:xfrm>
          <a:prstGeom prst="roundRect">
            <a:avLst>
              <a:gd name="adj" fmla="val 6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316778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chivo"/>
              </a:rPr>
              <a:t>PHASE 1 · prove the shell</a:t>
            </a:r>
          </a:p>
          <a:p>
            <a:r>
              <a:rPr sz="900" b="0" i="0">
                <a:solidFill>
                  <a:srgbClr val="F2ECDE"/>
                </a:solidFill>
                <a:latin typeface="Archivo"/>
              </a:rPr>
              <a:t>2–3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24328"/>
            <a:ext cx="316778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Build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Journey Shell + ~6 of the 12 panes (form, map, gantt, doc-checklist, thread, review)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Ship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State-aware launcher (3 bands) for IPP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Hero journeys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create a project · fund a project · sell my power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Gate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≥1 journey reaches terminal in real use before journey #4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9074" y="1783080"/>
            <a:ext cx="3533546" cy="416052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9074" y="1783080"/>
            <a:ext cx="3533546" cy="67665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1954" y="1874519"/>
            <a:ext cx="316778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chivo"/>
              </a:rPr>
              <a:t>PHASE 2 · widen panes + roles</a:t>
            </a:r>
          </a:p>
          <a:p>
            <a:r>
              <a:rPr sz="900" b="0" i="0">
                <a:solidFill>
                  <a:srgbClr val="F2ECDE"/>
                </a:solidFill>
                <a:latin typeface="Archivo"/>
              </a:rPr>
              <a:t>3–6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954" y="2624328"/>
            <a:ext cx="316778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Build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Remaining 6 panes; deal-room hardening; manifest CI gate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Ship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Launchers + intent menus for Lender, Offtaker, Carbon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Hero journeys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apply for carbon (L5) · connect to grid · raise debt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Gate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Cockpit demoted to /expert fallback only after parity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1783080"/>
            <a:ext cx="3533546" cy="416052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1220" y="1783080"/>
            <a:ext cx="3533546" cy="676656"/>
          </a:xfrm>
          <a:prstGeom prst="roundRect">
            <a:avLst>
              <a:gd name="adj" fmla="val 6000"/>
            </a:avLst>
          </a:prstGeom>
          <a:solidFill>
            <a:srgbClr val="7A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4100" y="1874519"/>
            <a:ext cx="316778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chivo"/>
              </a:rPr>
              <a:t>PHASE 3 · journeys as data</a:t>
            </a:r>
          </a:p>
          <a:p>
            <a:r>
              <a:rPr sz="900" b="0" i="0">
                <a:solidFill>
                  <a:srgbClr val="F2ECDE"/>
                </a:solidFill>
                <a:latin typeface="Archivo"/>
              </a:rPr>
              <a:t>6 mo+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100" y="2624328"/>
            <a:ext cx="316778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Build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Manifest authoring for non-eng; journey catalog storefront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Ship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Full ~80-journey coverage across 11 roles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Pricing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Foundation / Professional / Regulator-grade live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005358"/>
                </a:solidFill>
                <a:latin typeface="Archivo"/>
              </a:rPr>
              <a:t>Gate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00" b="0" i="0">
                <a:solidFill>
                  <a:srgbClr val="1B1812"/>
                </a:solidFill>
                <a:latin typeface="Archivo"/>
              </a:rPr>
              <a:t>New journey = new manifest, no React PR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0080"/>
            <a:ext cx="2194560" cy="548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18E35"/>
                </a:solidFill>
                <a:latin typeface="Archivo"/>
              </a:rPr>
              <a:t>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chivo"/>
              </a:rPr>
              <a:t>Ask the user what they want. Build the runtime, not 70 apps.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322576"/>
            <a:ext cx="10972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86000"/>
            <a:ext cx="106984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D18E35"/>
                </a:solidFill>
                <a:latin typeface="Archivo"/>
              </a:rPr>
              <a:t>Replace the front door  —  </a:t>
            </a:r>
            <a:r>
              <a:rPr sz="1100" b="0" i="0">
                <a:solidFill>
                  <a:srgbClr val="E6EEEC"/>
                </a:solidFill>
                <a:latin typeface="Archivo"/>
              </a:rPr>
              <a:t>A role-aware, state-aware 'I want to…' launcher — not Horizon's lanes — is the first thing every user sees.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80944"/>
            <a:ext cx="10972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106984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D18E35"/>
                </a:solidFill>
                <a:latin typeface="Archivo"/>
              </a:rPr>
              <a:t>One runtime, ~12 panes  —  </a:t>
            </a:r>
            <a:r>
              <a:rPr sz="1100" b="0" i="0">
                <a:solidFill>
                  <a:srgbClr val="E6EEEC"/>
                </a:solidFill>
                <a:latin typeface="Archivo"/>
              </a:rPr>
              <a:t>A manifest-driven Journey Shell turns 'one frontend per journey per role' into data a designer authors. The N×M trap is avoided.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639311"/>
            <a:ext cx="10972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602735"/>
            <a:ext cx="106984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D18E35"/>
                </a:solidFill>
                <a:latin typeface="Archivo"/>
              </a:rPr>
              <a:t>Single-role wizards, cross-role deal rooms  —  </a:t>
            </a:r>
            <a:r>
              <a:rPr sz="1100" b="0" i="0">
                <a:solidFill>
                  <a:srgbClr val="E6EEEC"/>
                </a:solidFill>
                <a:latin typeface="Archivo"/>
              </a:rPr>
              <a:t>Linear journeys for solo intents; the two-sided 'your move / their move' room for fund/sell/carbon.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297679"/>
            <a:ext cx="10972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261103"/>
            <a:ext cx="106984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D18E35"/>
                </a:solidFill>
                <a:latin typeface="Archivo"/>
              </a:rPr>
              <a:t>Ship 3 hero journeys first  —  </a:t>
            </a:r>
            <a:r>
              <a:rPr sz="1100" b="0" i="0">
                <a:solidFill>
                  <a:srgbClr val="E6EEEC"/>
                </a:solidFill>
                <a:latin typeface="Archivo"/>
              </a:rPr>
              <a:t>create · fund · sell for the IPP, deep (L4/L5). Gate the rest on real terminal usage. Don't big-bang 80.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956047"/>
            <a:ext cx="10972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919471"/>
            <a:ext cx="106984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D18E35"/>
                </a:solidFill>
                <a:latin typeface="Archivo"/>
              </a:rPr>
              <a:t>Demote the cockpit, don't delete it  —  </a:t>
            </a:r>
            <a:r>
              <a:rPr sz="1100" b="0" i="0">
                <a:solidFill>
                  <a:srgbClr val="E6EEEC"/>
                </a:solidFill>
                <a:latin typeface="Archivo"/>
              </a:rPr>
              <a:t>It stays as /expert fallback — depth for power users, hidden from the first-timer.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614415"/>
            <a:ext cx="10972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577839"/>
            <a:ext cx="106984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D18E35"/>
                </a:solidFill>
                <a:latin typeface="Archivo"/>
              </a:rPr>
              <a:t>Price the journey, meter the terminal  —  </a:t>
            </a:r>
            <a:r>
              <a:rPr sz="1100" b="0" i="0">
                <a:solidFill>
                  <a:srgbClr val="E6EEEC"/>
                </a:solidFill>
                <a:latin typeface="Archivo"/>
              </a:rPr>
              <a:t>Journey = SKU; L3/L4/L5 = the plan; the bill fires when value lands.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Intent is the product · the journey is the SKU · the cockpit is the fallback · the kernel makes all of it cheap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